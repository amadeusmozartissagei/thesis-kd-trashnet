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icker">
            <a:extLst>
              <a:ext uri="{FF2B5EF4-FFF2-40B4-BE49-F238E27FC236}">
                <a16:creationId xmlns:a16="http://schemas.microsoft.com/office/drawing/2014/main" id="{7A2F13A5-557E-4A0A-99ED-914945420A5D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6389" lnSpcReduction="20000"/>
          </a:bodyPr>
          <a:lstStyle/>
          <a:p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SEMINAR PROPOSAL SKRIPSI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9CB26A92-682F-4A31-A790-C26161260624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914400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0583" lnSpcReduction="20000"/>
          </a:bodyPr>
          <a:lstStyle/>
          <a:p>
            <a:pPr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Knowledge Distillation </a:t>
            </a:r>
            <a:r>
              <a:rPr sz="37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Berbasis</a:t>
            </a:r>
            <a:r>
              <a:rPr sz="37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Teacher-Assistant untuk Model </a:t>
            </a:r>
            <a:r>
              <a:rPr sz="37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Ringan</a:t>
            </a:r>
            <a:r>
              <a:rPr sz="37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37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WasteNet</a:t>
            </a:r>
            <a:r>
              <a:rPr sz="37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pada Klasifikasi Citra </a:t>
            </a:r>
            <a:r>
              <a:rPr sz="37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Sampah</a:t>
            </a:r>
            <a:r>
              <a:rPr sz="37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37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TrashNet</a:t>
            </a:r>
            <a:r>
              <a:rPr lang="en-US" sz="37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d</a:t>
            </a:r>
            <a:r>
              <a:rPr lang="en-US" sz="3750" b="1" dirty="0"/>
              <a:t>engan </a:t>
            </a:r>
            <a:r>
              <a:rPr lang="en-US" sz="3750" b="1" dirty="0" err="1"/>
              <a:t>Perbandingan</a:t>
            </a:r>
            <a:r>
              <a:rPr lang="en-US" sz="3750" b="1" dirty="0"/>
              <a:t> Large-teacher, Assistant</a:t>
            </a:r>
            <a:r>
              <a:rPr lang="en-US" sz="3750" b="1"/>
              <a:t>, dan </a:t>
            </a:r>
            <a:r>
              <a:rPr lang="en-US" sz="3750" b="1" dirty="0"/>
              <a:t>Self-distillation </a:t>
            </a:r>
            <a:endParaRPr lang="en-US" sz="3750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cover-band">
            <a:extLst>
              <a:ext uri="{FF2B5EF4-FFF2-40B4-BE49-F238E27FC236}">
                <a16:creationId xmlns:a16="http://schemas.microsoft.com/office/drawing/2014/main" id="{9CBDA3A1-F263-4B46-92FF-FE187F962C1B}"/>
              </a:ext>
            </a:extLst>
          </p:cNvPr>
          <p:cNvSpPr>
            <a:spLocks noGrp="1"/>
          </p:cNvSpPr>
          <p:nvPr/>
        </p:nvSpPr>
        <p:spPr>
          <a:xfrm>
            <a:off x="0" y="4171950"/>
            <a:ext cx="12192000" cy="2686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marker">
            <a:extLst>
              <a:ext uri="{FF2B5EF4-FFF2-40B4-BE49-F238E27FC236}">
                <a16:creationId xmlns:a16="http://schemas.microsoft.com/office/drawing/2014/main" id="{3C1D9953-80F7-4357-A7B5-8F75D94B95E8}"/>
              </a:ext>
            </a:extLst>
          </p:cNvPr>
          <p:cNvSpPr>
            <a:spLocks noGrp="1"/>
          </p:cNvSpPr>
          <p:nvPr/>
        </p:nvSpPr>
        <p:spPr>
          <a:xfrm>
            <a:off x="4324350" y="4657725"/>
            <a:ext cx="257175" cy="25717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marker">
            <a:extLst>
              <a:ext uri="{FF2B5EF4-FFF2-40B4-BE49-F238E27FC236}">
                <a16:creationId xmlns:a16="http://schemas.microsoft.com/office/drawing/2014/main" id="{6C0564C7-924F-4CB6-81D2-8D9DBDB65FED}"/>
              </a:ext>
            </a:extLst>
          </p:cNvPr>
          <p:cNvSpPr>
            <a:spLocks noGrp="1"/>
          </p:cNvSpPr>
          <p:nvPr/>
        </p:nvSpPr>
        <p:spPr>
          <a:xfrm>
            <a:off x="8239125" y="4657725"/>
            <a:ext cx="257175" cy="25717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6" name="author-label">
            <a:extLst>
              <a:ext uri="{FF2B5EF4-FFF2-40B4-BE49-F238E27FC236}">
                <a16:creationId xmlns:a16="http://schemas.microsoft.com/office/drawing/2014/main" id="{30BC7525-10EA-45F8-A674-886764865658}"/>
              </a:ext>
            </a:extLst>
          </p:cNvPr>
          <p:cNvSpPr>
            <a:spLocks noGrp="1"/>
          </p:cNvSpPr>
          <p:nvPr/>
        </p:nvSpPr>
        <p:spPr>
          <a:xfrm>
            <a:off x="4324350" y="5095875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Mahasiswa</a:t>
            </a:r>
          </a:p>
        </p:txBody>
      </p:sp>
      <p:sp>
        <p:nvSpPr>
          <p:cNvPr id="7" name="author">
            <a:extLst>
              <a:ext uri="{FF2B5EF4-FFF2-40B4-BE49-F238E27FC236}">
                <a16:creationId xmlns:a16="http://schemas.microsoft.com/office/drawing/2014/main" id="{425B0154-D782-4700-8038-202879265225}"/>
              </a:ext>
            </a:extLst>
          </p:cNvPr>
          <p:cNvSpPr>
            <a:spLocks noGrp="1"/>
          </p:cNvSpPr>
          <p:nvPr/>
        </p:nvSpPr>
        <p:spPr>
          <a:xfrm>
            <a:off x="4324350" y="5391150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795" lnSpcReduction="10000"/>
          </a:bodyPr>
          <a:lstStyle/>
          <a:p>
            <a:pPr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Hamza Pratama</a:t>
            </a:r>
          </a:p>
          <a:p>
            <a:pPr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4611422068</a:t>
            </a:r>
          </a:p>
        </p:txBody>
      </p:sp>
      <p:sp>
        <p:nvSpPr>
          <p:cNvPr id="8" name="program-label">
            <a:extLst>
              <a:ext uri="{FF2B5EF4-FFF2-40B4-BE49-F238E27FC236}">
                <a16:creationId xmlns:a16="http://schemas.microsoft.com/office/drawing/2014/main" id="{AEC30C02-65B8-48E6-B2F6-3EC2176AD50F}"/>
              </a:ext>
            </a:extLst>
          </p:cNvPr>
          <p:cNvSpPr>
            <a:spLocks noGrp="1"/>
          </p:cNvSpPr>
          <p:nvPr/>
        </p:nvSpPr>
        <p:spPr>
          <a:xfrm>
            <a:off x="8239125" y="5095875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Program</a:t>
            </a:r>
          </a:p>
        </p:txBody>
      </p:sp>
      <p:sp>
        <p:nvSpPr>
          <p:cNvPr id="9" name="program">
            <a:extLst>
              <a:ext uri="{FF2B5EF4-FFF2-40B4-BE49-F238E27FC236}">
                <a16:creationId xmlns:a16="http://schemas.microsoft.com/office/drawing/2014/main" id="{F253EFF4-7D4B-486E-A060-E8866E05B040}"/>
              </a:ext>
            </a:extLst>
          </p:cNvPr>
          <p:cNvSpPr>
            <a:spLocks noGrp="1"/>
          </p:cNvSpPr>
          <p:nvPr/>
        </p:nvSpPr>
        <p:spPr>
          <a:xfrm>
            <a:off x="8239125" y="5391150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4981" lnSpcReduction="20000"/>
          </a:bodyPr>
          <a:lstStyle/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S1 Teknik Informatika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FMIPA Universitas Negeri Semarang - 2026</a:t>
            </a:r>
          </a:p>
        </p:txBody>
      </p:sp>
      <p:sp>
        <p:nvSpPr>
          <p:cNvPr id="10" name="slide-number">
            <a:extLst>
              <a:ext uri="{FF2B5EF4-FFF2-40B4-BE49-F238E27FC236}">
                <a16:creationId xmlns:a16="http://schemas.microsoft.com/office/drawing/2014/main" id="{359197C7-BE63-45B6-94C5-A85FE504BADF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07397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icker">
            <a:extLst>
              <a:ext uri="{FF2B5EF4-FFF2-40B4-BE49-F238E27FC236}">
                <a16:creationId xmlns:a16="http://schemas.microsoft.com/office/drawing/2014/main" id="{D74AE598-C70A-4EEB-A6B3-E1E3C99208A6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889" lnSpcReduction="10000"/>
          </a:bodyPr>
          <a:lstStyle/>
          <a:p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ALUR PRESENTASI</a:t>
            </a:r>
          </a:p>
        </p:txBody>
      </p:sp>
      <p:sp>
        <p:nvSpPr>
          <p:cNvPr id="2" name="agenda-items">
            <a:extLst>
              <a:ext uri="{FF2B5EF4-FFF2-40B4-BE49-F238E27FC236}">
                <a16:creationId xmlns:a16="http://schemas.microsoft.com/office/drawing/2014/main" id="{5EA2E296-8735-4A4D-B2FB-14E31FC52C33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7524750" cy="514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Konteks dan masalah penelitian</a:t>
            </a:r>
          </a:p>
          <a:p>
            <a:pPr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Celah riset dan kebaruan</a:t>
            </a:r>
          </a:p>
          <a:p>
            <a:pPr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Rumusan masalah dan tujuan</a:t>
            </a:r>
          </a:p>
          <a:p>
            <a:pPr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Dataset TrashNet dan skema label</a:t>
            </a:r>
          </a:p>
          <a:p>
            <a:pPr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Model: EfficientNet-B4, Focus-RCNet, WasteNet</a:t>
            </a:r>
          </a:p>
          <a:p>
            <a:pPr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Strategi distilasi dan protokol eksperimen</a:t>
            </a:r>
          </a:p>
          <a:p>
            <a:pPr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Evaluasi, uji statistik, dan kontribusi</a:t>
            </a:r>
          </a:p>
        </p:txBody>
      </p:sp>
      <p:sp>
        <p:nvSpPr>
          <p:cNvPr id="3" name="agenda-no">
            <a:extLst>
              <a:ext uri="{FF2B5EF4-FFF2-40B4-BE49-F238E27FC236}">
                <a16:creationId xmlns:a16="http://schemas.microsoft.com/office/drawing/2014/main" id="{ADC07EF6-8D24-4CC3-9C59-FC136366E933}"/>
              </a:ext>
            </a:extLst>
          </p:cNvPr>
          <p:cNvSpPr>
            <a:spLocks noGrp="1"/>
          </p:cNvSpPr>
          <p:nvPr/>
        </p:nvSpPr>
        <p:spPr>
          <a:xfrm>
            <a:off x="9906000" y="914400"/>
            <a:ext cx="1714500" cy="514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  <a:p>
            <a:pPr algn="r"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  <a:p>
            <a:pPr algn="r"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  <a:p>
            <a:pPr algn="r"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  <a:p>
            <a:pPr algn="r"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  <a:p>
            <a:pPr algn="r"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  <a:p>
            <a:pPr algn="r">
              <a:lnSpc>
                <a:spcPct val="108000"/>
              </a:lnSpc>
              <a:buNone/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slide-number">
            <a:extLst>
              <a:ext uri="{FF2B5EF4-FFF2-40B4-BE49-F238E27FC236}">
                <a16:creationId xmlns:a16="http://schemas.microsoft.com/office/drawing/2014/main" id="{7CCC590D-20C0-4C41-9FDE-7622A1DAB65D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089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A5268F15-0D32-4331-A3BF-65D1204095CA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Masalah utama: akurasi perlu bertemu efisiensi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E8328B70-DA20-4A13-91EC-D72B54D86A43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lead">
            <a:extLst>
              <a:ext uri="{FF2B5EF4-FFF2-40B4-BE49-F238E27FC236}">
                <a16:creationId xmlns:a16="http://schemas.microsoft.com/office/drawing/2014/main" id="{2601C068-4580-4216-83FC-A117B11EE0EE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Pemilahan sampah manual masih rentan tidak konsisten, sementara CNN akurat sering terlalu berat untuk smart bin atau edge device.</a:t>
            </a:r>
          </a:p>
        </p:txBody>
      </p:sp>
      <p:sp>
        <p:nvSpPr>
          <p:cNvPr id="4" name="context-card-0">
            <a:extLst>
              <a:ext uri="{FF2B5EF4-FFF2-40B4-BE49-F238E27FC236}">
                <a16:creationId xmlns:a16="http://schemas.microsoft.com/office/drawing/2014/main" id="{EA8C3D38-0127-437F-9FCA-C5BD550E9619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3571875" cy="2819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context-head-0">
            <a:extLst>
              <a:ext uri="{FF2B5EF4-FFF2-40B4-BE49-F238E27FC236}">
                <a16:creationId xmlns:a16="http://schemas.microsoft.com/office/drawing/2014/main" id="{C21147DD-0476-49F0-9572-90221931DC9F}"/>
              </a:ext>
            </a:extLst>
          </p:cNvPr>
          <p:cNvSpPr>
            <a:spLocks noGrp="1"/>
          </p:cNvSpPr>
          <p:nvPr/>
        </p:nvSpPr>
        <p:spPr>
          <a:xfrm>
            <a:off x="666750" y="2990850"/>
            <a:ext cx="300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Kebutuhan aplikasi</a:t>
            </a:r>
          </a:p>
        </p:txBody>
      </p:sp>
      <p:sp>
        <p:nvSpPr>
          <p:cNvPr id="6" name="context-body-0">
            <a:extLst>
              <a:ext uri="{FF2B5EF4-FFF2-40B4-BE49-F238E27FC236}">
                <a16:creationId xmlns:a16="http://schemas.microsoft.com/office/drawing/2014/main" id="{E72E9B99-F752-4E81-94E0-B497B244E737}"/>
              </a:ext>
            </a:extLst>
          </p:cNvPr>
          <p:cNvSpPr>
            <a:spLocks noGrp="1"/>
          </p:cNvSpPr>
          <p:nvPr/>
        </p:nvSpPr>
        <p:spPr>
          <a:xfrm>
            <a:off x="666750" y="3695700"/>
            <a:ext cx="30003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Klasifikasi cepat untuk cardboard, glass, metal, paper, plastic, dan trash.</a:t>
            </a:r>
          </a:p>
        </p:txBody>
      </p:sp>
      <p:sp>
        <p:nvSpPr>
          <p:cNvPr id="7" name="context-card-1">
            <a:extLst>
              <a:ext uri="{FF2B5EF4-FFF2-40B4-BE49-F238E27FC236}">
                <a16:creationId xmlns:a16="http://schemas.microsoft.com/office/drawing/2014/main" id="{328D8880-9135-4F2F-A4F5-B22DB4931533}"/>
              </a:ext>
            </a:extLst>
          </p:cNvPr>
          <p:cNvSpPr>
            <a:spLocks noGrp="1"/>
          </p:cNvSpPr>
          <p:nvPr/>
        </p:nvSpPr>
        <p:spPr>
          <a:xfrm>
            <a:off x="4314825" y="2686050"/>
            <a:ext cx="3571875" cy="2819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context-head-1">
            <a:extLst>
              <a:ext uri="{FF2B5EF4-FFF2-40B4-BE49-F238E27FC236}">
                <a16:creationId xmlns:a16="http://schemas.microsoft.com/office/drawing/2014/main" id="{9EDEF905-E9AC-40C7-81AB-0262DB4690DF}"/>
              </a:ext>
            </a:extLst>
          </p:cNvPr>
          <p:cNvSpPr>
            <a:spLocks noGrp="1"/>
          </p:cNvSpPr>
          <p:nvPr/>
        </p:nvSpPr>
        <p:spPr>
          <a:xfrm>
            <a:off x="4581525" y="2990850"/>
            <a:ext cx="300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Kendala deployment</a:t>
            </a:r>
          </a:p>
        </p:txBody>
      </p:sp>
      <p:sp>
        <p:nvSpPr>
          <p:cNvPr id="9" name="context-body-1">
            <a:extLst>
              <a:ext uri="{FF2B5EF4-FFF2-40B4-BE49-F238E27FC236}">
                <a16:creationId xmlns:a16="http://schemas.microsoft.com/office/drawing/2014/main" id="{90993F08-90C9-47C1-A949-FC6C7AA4097B}"/>
              </a:ext>
            </a:extLst>
          </p:cNvPr>
          <p:cNvSpPr>
            <a:spLocks noGrp="1"/>
          </p:cNvSpPr>
          <p:nvPr/>
        </p:nvSpPr>
        <p:spPr>
          <a:xfrm>
            <a:off x="4581525" y="3695700"/>
            <a:ext cx="30003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 besar membutuhkan komputasi tinggi, tidak ideal untuk perangkat terbatas.</a:t>
            </a:r>
          </a:p>
        </p:txBody>
      </p:sp>
      <p:sp>
        <p:nvSpPr>
          <p:cNvPr id="10" name="context-card-2">
            <a:extLst>
              <a:ext uri="{FF2B5EF4-FFF2-40B4-BE49-F238E27FC236}">
                <a16:creationId xmlns:a16="http://schemas.microsoft.com/office/drawing/2014/main" id="{2001BADF-D680-45AD-8710-4FFDC19ED5A0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3571875" cy="2819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context-head-2">
            <a:extLst>
              <a:ext uri="{FF2B5EF4-FFF2-40B4-BE49-F238E27FC236}">
                <a16:creationId xmlns:a16="http://schemas.microsoft.com/office/drawing/2014/main" id="{DC7EAB8C-12D5-4F6B-92DE-0AAB417AB4B4}"/>
              </a:ext>
            </a:extLst>
          </p:cNvPr>
          <p:cNvSpPr>
            <a:spLocks noGrp="1"/>
          </p:cNvSpPr>
          <p:nvPr/>
        </p:nvSpPr>
        <p:spPr>
          <a:xfrm>
            <a:off x="8496300" y="2990850"/>
            <a:ext cx="3000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Solusi riset</a:t>
            </a:r>
          </a:p>
        </p:txBody>
      </p:sp>
      <p:sp>
        <p:nvSpPr>
          <p:cNvPr id="12" name="context-body-2">
            <a:extLst>
              <a:ext uri="{FF2B5EF4-FFF2-40B4-BE49-F238E27FC236}">
                <a16:creationId xmlns:a16="http://schemas.microsoft.com/office/drawing/2014/main" id="{D0AFFF09-0D2F-4848-A5B4-C076F4D2CB75}"/>
              </a:ext>
            </a:extLst>
          </p:cNvPr>
          <p:cNvSpPr>
            <a:spLocks noGrp="1"/>
          </p:cNvSpPr>
          <p:nvPr/>
        </p:nvSpPr>
        <p:spPr>
          <a:xfrm>
            <a:off x="8496300" y="3695700"/>
            <a:ext cx="30003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Knowledge distillation mentransfer dark knowledge dari teacher ke student ringan.</a:t>
            </a:r>
          </a:p>
        </p:txBody>
      </p:sp>
    </p:spTree>
    <p:extLst>
      <p:ext uri="{BB962C8B-B14F-4D97-AF65-F5344CB8AC3E}">
        <p14:creationId xmlns:p14="http://schemas.microsoft.com/office/powerpoint/2010/main" val="1223335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3CA53979-4A65-4D27-85FE-BF7F4A077D6A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Celah riset: capacity gap pada student sangat kecil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45EF55E3-A5F5-4610-8574-AFB7ABA0ADE6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left">
            <a:extLst>
              <a:ext uri="{FF2B5EF4-FFF2-40B4-BE49-F238E27FC236}">
                <a16:creationId xmlns:a16="http://schemas.microsoft.com/office/drawing/2014/main" id="{B886424F-4555-48E0-B17A-FF77CE8155CC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495300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Penelitian terdahulu seperti Focus-RCNet melaporkan akurasi sekitar 92% pada TrashNet dengan KD dari EfficientNet-B4. Namun, fokusnya belum pada perbandingan sistematis kapasitas teacher untuk student ultra-ringan.</a:t>
            </a:r>
          </a:p>
        </p:txBody>
      </p:sp>
      <p:sp>
        <p:nvSpPr>
          <p:cNvPr id="4" name="right-panel">
            <a:extLst>
              <a:ext uri="{FF2B5EF4-FFF2-40B4-BE49-F238E27FC236}">
                <a16:creationId xmlns:a16="http://schemas.microsoft.com/office/drawing/2014/main" id="{AEE0C7F7-5A85-437A-8406-AD5369AD2C25}"/>
              </a:ext>
            </a:extLst>
          </p:cNvPr>
          <p:cNvSpPr>
            <a:spLocks noGrp="1"/>
          </p:cNvSpPr>
          <p:nvPr/>
        </p:nvSpPr>
        <p:spPr>
          <a:xfrm>
            <a:off x="6172200" y="1200150"/>
            <a:ext cx="5619750" cy="40481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gap-label">
            <a:extLst>
              <a:ext uri="{FF2B5EF4-FFF2-40B4-BE49-F238E27FC236}">
                <a16:creationId xmlns:a16="http://schemas.microsoft.com/office/drawing/2014/main" id="{04667828-F072-4C0E-BB27-F83C40D7917C}"/>
              </a:ext>
            </a:extLst>
          </p:cNvPr>
          <p:cNvSpPr>
            <a:spLocks noGrp="1"/>
          </p:cNvSpPr>
          <p:nvPr/>
        </p:nvSpPr>
        <p:spPr>
          <a:xfrm>
            <a:off x="6572250" y="15240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Kebaruan yang diuji</a:t>
            </a:r>
          </a:p>
        </p:txBody>
      </p:sp>
      <p:sp>
        <p:nvSpPr>
          <p:cNvPr id="6" name="gap-points">
            <a:extLst>
              <a:ext uri="{FF2B5EF4-FFF2-40B4-BE49-F238E27FC236}">
                <a16:creationId xmlns:a16="http://schemas.microsoft.com/office/drawing/2014/main" id="{17434EE7-5E26-4AE9-8C32-EB82448CD60A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47625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lnSpcReduction="10000"/>
          </a:bodyPr>
          <a:lstStyle/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Menggunakan WasteNet-128K dan WasteNet-256K sebagai target student ringan.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Membandingkan large-teacher, teacher-assistant, dan self-distillation secara terkontrol.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Menggunakan dua ruang label: K6 dan K5 tanpa kelas trash.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Memvalidasi selisih performa dengan uji statistik.</a:t>
            </a:r>
          </a:p>
        </p:txBody>
      </p:sp>
    </p:spTree>
    <p:extLst>
      <p:ext uri="{BB962C8B-B14F-4D97-AF65-F5344CB8AC3E}">
        <p14:creationId xmlns:p14="http://schemas.microsoft.com/office/powerpoint/2010/main" val="926651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F99C13D1-DF1F-4F0B-A6C0-F48D1925EFF0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Rumusan masalah dan tujuan penelitian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DAE51DD4-26DE-493C-A5C7-EECF52B0775F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marker">
            <a:extLst>
              <a:ext uri="{FF2B5EF4-FFF2-40B4-BE49-F238E27FC236}">
                <a16:creationId xmlns:a16="http://schemas.microsoft.com/office/drawing/2014/main" id="{3FABA172-B92B-4B15-A5E1-5F678BCFD91E}"/>
              </a:ext>
            </a:extLst>
          </p:cNvPr>
          <p:cNvSpPr>
            <a:spLocks noGrp="1"/>
          </p:cNvSpPr>
          <p:nvPr/>
        </p:nvSpPr>
        <p:spPr>
          <a:xfrm>
            <a:off x="400050" y="1504950"/>
            <a:ext cx="266700" cy="2667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" name="q-no-0">
            <a:extLst>
              <a:ext uri="{FF2B5EF4-FFF2-40B4-BE49-F238E27FC236}">
                <a16:creationId xmlns:a16="http://schemas.microsoft.com/office/drawing/2014/main" id="{5098CC79-649D-449E-8D3E-91BBE38E6D89}"/>
              </a:ext>
            </a:extLst>
          </p:cNvPr>
          <p:cNvSpPr>
            <a:spLocks noGrp="1"/>
          </p:cNvSpPr>
          <p:nvPr/>
        </p:nvSpPr>
        <p:spPr>
          <a:xfrm>
            <a:off x="876300" y="142875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500" lnSpcReduction="10000"/>
          </a:bodyPr>
          <a:lstStyle/>
          <a:p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q-text-0">
            <a:extLst>
              <a:ext uri="{FF2B5EF4-FFF2-40B4-BE49-F238E27FC236}">
                <a16:creationId xmlns:a16="http://schemas.microsoft.com/office/drawing/2014/main" id="{7030E50B-593A-418F-A299-81DAB9C87747}"/>
              </a:ext>
            </a:extLst>
          </p:cNvPr>
          <p:cNvSpPr>
            <a:spLocks noGrp="1"/>
          </p:cNvSpPr>
          <p:nvPr/>
        </p:nvSpPr>
        <p:spPr>
          <a:xfrm>
            <a:off x="1695450" y="1428750"/>
            <a:ext cx="914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3889" lnSpcReduction="10000"/>
          </a:bodyPr>
          <a:lstStyle/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Bagaimana membangun WasteNet ringan untuk klasifikasi citra sampah TrashNet dengan KD?</a:t>
            </a:r>
          </a:p>
        </p:txBody>
      </p:sp>
      <p:sp>
        <p:nvSpPr>
          <p:cNvPr id="6" name="rule">
            <a:extLst>
              <a:ext uri="{FF2B5EF4-FFF2-40B4-BE49-F238E27FC236}">
                <a16:creationId xmlns:a16="http://schemas.microsoft.com/office/drawing/2014/main" id="{23CCC51A-E148-4186-B7CF-19BFFD9F01DC}"/>
              </a:ext>
            </a:extLst>
          </p:cNvPr>
          <p:cNvSpPr>
            <a:spLocks noGrp="1"/>
          </p:cNvSpPr>
          <p:nvPr/>
        </p:nvSpPr>
        <p:spPr>
          <a:xfrm>
            <a:off x="1695450" y="2324100"/>
            <a:ext cx="7429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marker">
            <a:extLst>
              <a:ext uri="{FF2B5EF4-FFF2-40B4-BE49-F238E27FC236}">
                <a16:creationId xmlns:a16="http://schemas.microsoft.com/office/drawing/2014/main" id="{3D66B239-75EE-44DB-922B-AB2F4EAC6BD5}"/>
              </a:ext>
            </a:extLst>
          </p:cNvPr>
          <p:cNvSpPr>
            <a:spLocks noGrp="1"/>
          </p:cNvSpPr>
          <p:nvPr/>
        </p:nvSpPr>
        <p:spPr>
          <a:xfrm>
            <a:off x="400050" y="2800350"/>
            <a:ext cx="266700" cy="2667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8" name="q-no-1">
            <a:extLst>
              <a:ext uri="{FF2B5EF4-FFF2-40B4-BE49-F238E27FC236}">
                <a16:creationId xmlns:a16="http://schemas.microsoft.com/office/drawing/2014/main" id="{2AF4128F-8EE5-4DE9-94DB-19D79A6F3BC4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500" lnSpcReduction="10000"/>
          </a:bodyPr>
          <a:lstStyle/>
          <a:p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q-text-1">
            <a:extLst>
              <a:ext uri="{FF2B5EF4-FFF2-40B4-BE49-F238E27FC236}">
                <a16:creationId xmlns:a16="http://schemas.microsoft.com/office/drawing/2014/main" id="{013A1B62-DB0B-40B8-9663-4EF67760D45F}"/>
              </a:ext>
            </a:extLst>
          </p:cNvPr>
          <p:cNvSpPr>
            <a:spLocks noGrp="1"/>
          </p:cNvSpPr>
          <p:nvPr/>
        </p:nvSpPr>
        <p:spPr>
          <a:xfrm>
            <a:off x="1695450" y="2724150"/>
            <a:ext cx="914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0945"/>
          </a:bodyPr>
          <a:lstStyle/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Bagaimana pengaruh kapasitas teacher terhadap performa student WasteNet?</a:t>
            </a:r>
          </a:p>
        </p:txBody>
      </p:sp>
      <p:sp>
        <p:nvSpPr>
          <p:cNvPr id="10" name="rule">
            <a:extLst>
              <a:ext uri="{FF2B5EF4-FFF2-40B4-BE49-F238E27FC236}">
                <a16:creationId xmlns:a16="http://schemas.microsoft.com/office/drawing/2014/main" id="{191F37FF-6050-428D-BCCA-5C559C8BCE16}"/>
              </a:ext>
            </a:extLst>
          </p:cNvPr>
          <p:cNvSpPr>
            <a:spLocks noGrp="1"/>
          </p:cNvSpPr>
          <p:nvPr/>
        </p:nvSpPr>
        <p:spPr>
          <a:xfrm>
            <a:off x="1695450" y="3619500"/>
            <a:ext cx="7429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marker">
            <a:extLst>
              <a:ext uri="{FF2B5EF4-FFF2-40B4-BE49-F238E27FC236}">
                <a16:creationId xmlns:a16="http://schemas.microsoft.com/office/drawing/2014/main" id="{CCE90A47-015B-44DC-8B0E-054F7A623D90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266700" cy="2667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q-no-2">
            <a:extLst>
              <a:ext uri="{FF2B5EF4-FFF2-40B4-BE49-F238E27FC236}">
                <a16:creationId xmlns:a16="http://schemas.microsoft.com/office/drawing/2014/main" id="{695CE69A-2281-48BE-9546-4428DA12EAD8}"/>
              </a:ext>
            </a:extLst>
          </p:cNvPr>
          <p:cNvSpPr>
            <a:spLocks noGrp="1"/>
          </p:cNvSpPr>
          <p:nvPr/>
        </p:nvSpPr>
        <p:spPr>
          <a:xfrm>
            <a:off x="876300" y="401955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500" lnSpcReduction="10000"/>
          </a:bodyPr>
          <a:lstStyle/>
          <a:p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q-text-2">
            <a:extLst>
              <a:ext uri="{FF2B5EF4-FFF2-40B4-BE49-F238E27FC236}">
                <a16:creationId xmlns:a16="http://schemas.microsoft.com/office/drawing/2014/main" id="{7E79B147-5297-4BEA-98B0-7D3D3BE9A49E}"/>
              </a:ext>
            </a:extLst>
          </p:cNvPr>
          <p:cNvSpPr>
            <a:spLocks noGrp="1"/>
          </p:cNvSpPr>
          <p:nvPr/>
        </p:nvSpPr>
        <p:spPr>
          <a:xfrm>
            <a:off x="1695450" y="4019550"/>
            <a:ext cx="914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500"/>
          </a:bodyPr>
          <a:lstStyle/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Apakah performa model berbeda signifikan dibanding baseline tanpa KD?</a:t>
            </a:r>
          </a:p>
        </p:txBody>
      </p:sp>
      <p:sp>
        <p:nvSpPr>
          <p:cNvPr id="14" name="rule">
            <a:extLst>
              <a:ext uri="{FF2B5EF4-FFF2-40B4-BE49-F238E27FC236}">
                <a16:creationId xmlns:a16="http://schemas.microsoft.com/office/drawing/2014/main" id="{BBC1ADD8-AB97-4F5B-A4EC-9D9F72479046}"/>
              </a:ext>
            </a:extLst>
          </p:cNvPr>
          <p:cNvSpPr>
            <a:spLocks noGrp="1"/>
          </p:cNvSpPr>
          <p:nvPr/>
        </p:nvSpPr>
        <p:spPr>
          <a:xfrm>
            <a:off x="1695450" y="4914900"/>
            <a:ext cx="7429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objective">
            <a:extLst>
              <a:ext uri="{FF2B5EF4-FFF2-40B4-BE49-F238E27FC236}">
                <a16:creationId xmlns:a16="http://schemas.microsoft.com/office/drawing/2014/main" id="{E012F864-5CC7-4CD7-B38A-D044FC2C6937}"/>
              </a:ext>
            </a:extLst>
          </p:cNvPr>
          <p:cNvSpPr>
            <a:spLocks noGrp="1"/>
          </p:cNvSpPr>
          <p:nvPr/>
        </p:nvSpPr>
        <p:spPr>
          <a:xfrm>
            <a:off x="1695450" y="5572125"/>
            <a:ext cx="800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Tujuan akhirnya adalah menentukan strategi distilasi paling efektif untuk student berkapasitas kecil pada klasifikasi sampah.</a:t>
            </a:r>
          </a:p>
        </p:txBody>
      </p:sp>
    </p:spTree>
    <p:extLst>
      <p:ext uri="{BB962C8B-B14F-4D97-AF65-F5344CB8AC3E}">
        <p14:creationId xmlns:p14="http://schemas.microsoft.com/office/powerpoint/2010/main" val="1090812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2C80FD03-7122-496C-9D63-C1E55C54672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Dataset: TrashNet sebagai benchmark utama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4C51E0EA-B7A2-4CE4-A51C-F40D825773F3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metric-1">
            <a:extLst>
              <a:ext uri="{FF2B5EF4-FFF2-40B4-BE49-F238E27FC236}">
                <a16:creationId xmlns:a16="http://schemas.microsoft.com/office/drawing/2014/main" id="{69F5B560-D224-4679-BA3E-98C0237D3D2B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2571750" cy="2190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metric-2">
            <a:extLst>
              <a:ext uri="{FF2B5EF4-FFF2-40B4-BE49-F238E27FC236}">
                <a16:creationId xmlns:a16="http://schemas.microsoft.com/office/drawing/2014/main" id="{67429B02-2B5A-4756-B794-D6A621F0B4F6}"/>
              </a:ext>
            </a:extLst>
          </p:cNvPr>
          <p:cNvSpPr>
            <a:spLocks noGrp="1"/>
          </p:cNvSpPr>
          <p:nvPr/>
        </p:nvSpPr>
        <p:spPr>
          <a:xfrm>
            <a:off x="3371850" y="1619250"/>
            <a:ext cx="2571750" cy="2190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metric-3">
            <a:extLst>
              <a:ext uri="{FF2B5EF4-FFF2-40B4-BE49-F238E27FC236}">
                <a16:creationId xmlns:a16="http://schemas.microsoft.com/office/drawing/2014/main" id="{C90E38BC-ADDD-47A4-A7FC-29C7D0DB0878}"/>
              </a:ext>
            </a:extLst>
          </p:cNvPr>
          <p:cNvSpPr>
            <a:spLocks noGrp="1"/>
          </p:cNvSpPr>
          <p:nvPr/>
        </p:nvSpPr>
        <p:spPr>
          <a:xfrm>
            <a:off x="6343650" y="1619250"/>
            <a:ext cx="2571750" cy="2190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metric-4">
            <a:extLst>
              <a:ext uri="{FF2B5EF4-FFF2-40B4-BE49-F238E27FC236}">
                <a16:creationId xmlns:a16="http://schemas.microsoft.com/office/drawing/2014/main" id="{368D3840-3D08-4CB4-90CF-E8995080F32F}"/>
              </a:ext>
            </a:extLst>
          </p:cNvPr>
          <p:cNvSpPr>
            <a:spLocks noGrp="1"/>
          </p:cNvSpPr>
          <p:nvPr/>
        </p:nvSpPr>
        <p:spPr>
          <a:xfrm>
            <a:off x="9315450" y="1619250"/>
            <a:ext cx="2476500" cy="2190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m-0">
            <a:extLst>
              <a:ext uri="{FF2B5EF4-FFF2-40B4-BE49-F238E27FC236}">
                <a16:creationId xmlns:a16="http://schemas.microsoft.com/office/drawing/2014/main" id="{089727E8-FDBC-4E29-8E23-6D667182AA37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1952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032"/>
          </a:bodyPr>
          <a:lstStyle/>
          <a:p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2.527</a:t>
            </a:r>
          </a:p>
        </p:txBody>
      </p:sp>
      <p:sp>
        <p:nvSpPr>
          <p:cNvPr id="8" name="md-0">
            <a:extLst>
              <a:ext uri="{FF2B5EF4-FFF2-40B4-BE49-F238E27FC236}">
                <a16:creationId xmlns:a16="http://schemas.microsoft.com/office/drawing/2014/main" id="{41A41BE8-244B-4D57-93EA-68BC3CD3DDF6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195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citra sampah berlabel</a:t>
            </a:r>
          </a:p>
        </p:txBody>
      </p:sp>
      <p:sp>
        <p:nvSpPr>
          <p:cNvPr id="9" name="m-1">
            <a:extLst>
              <a:ext uri="{FF2B5EF4-FFF2-40B4-BE49-F238E27FC236}">
                <a16:creationId xmlns:a16="http://schemas.microsoft.com/office/drawing/2014/main" id="{418CB7AC-0897-437A-B70E-83FB947F88B3}"/>
              </a:ext>
            </a:extLst>
          </p:cNvPr>
          <p:cNvSpPr>
            <a:spLocks noGrp="1"/>
          </p:cNvSpPr>
          <p:nvPr/>
        </p:nvSpPr>
        <p:spPr>
          <a:xfrm>
            <a:off x="3638550" y="2047875"/>
            <a:ext cx="1952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032"/>
          </a:bodyPr>
          <a:lstStyle/>
          <a:p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0" name="md-1">
            <a:extLst>
              <a:ext uri="{FF2B5EF4-FFF2-40B4-BE49-F238E27FC236}">
                <a16:creationId xmlns:a16="http://schemas.microsoft.com/office/drawing/2014/main" id="{3AB86E13-4342-4DAF-84DD-127102CFF311}"/>
              </a:ext>
            </a:extLst>
          </p:cNvPr>
          <p:cNvSpPr>
            <a:spLocks noGrp="1"/>
          </p:cNvSpPr>
          <p:nvPr/>
        </p:nvSpPr>
        <p:spPr>
          <a:xfrm>
            <a:off x="3638550" y="2876550"/>
            <a:ext cx="195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kelas: cardboard, glass, metal, paper, plastic, trash</a:t>
            </a:r>
          </a:p>
        </p:txBody>
      </p:sp>
      <p:sp>
        <p:nvSpPr>
          <p:cNvPr id="11" name="m-2">
            <a:extLst>
              <a:ext uri="{FF2B5EF4-FFF2-40B4-BE49-F238E27FC236}">
                <a16:creationId xmlns:a16="http://schemas.microsoft.com/office/drawing/2014/main" id="{5AA76F13-CB56-4E91-885F-536D96A8F276}"/>
              </a:ext>
            </a:extLst>
          </p:cNvPr>
          <p:cNvSpPr>
            <a:spLocks noGrp="1"/>
          </p:cNvSpPr>
          <p:nvPr/>
        </p:nvSpPr>
        <p:spPr>
          <a:xfrm>
            <a:off x="6610350" y="2047875"/>
            <a:ext cx="1952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032"/>
          </a:bodyPr>
          <a:lstStyle/>
          <a:p>
            <a:pPr>
              <a:defRPr sz="31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K6 / K5</a:t>
            </a:r>
          </a:p>
        </p:txBody>
      </p:sp>
      <p:sp>
        <p:nvSpPr>
          <p:cNvPr id="12" name="md-2">
            <a:extLst>
              <a:ext uri="{FF2B5EF4-FFF2-40B4-BE49-F238E27FC236}">
                <a16:creationId xmlns:a16="http://schemas.microsoft.com/office/drawing/2014/main" id="{DCAEFE77-A74B-4649-8A8F-1C5366A056A3}"/>
              </a:ext>
            </a:extLst>
          </p:cNvPr>
          <p:cNvSpPr>
            <a:spLocks noGrp="1"/>
          </p:cNvSpPr>
          <p:nvPr/>
        </p:nvSpPr>
        <p:spPr>
          <a:xfrm>
            <a:off x="6610350" y="2876550"/>
            <a:ext cx="195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dua ruang label untuk menguji pengaruh kelas trash</a:t>
            </a:r>
          </a:p>
        </p:txBody>
      </p:sp>
      <p:sp>
        <p:nvSpPr>
          <p:cNvPr id="13" name="m-3">
            <a:extLst>
              <a:ext uri="{FF2B5EF4-FFF2-40B4-BE49-F238E27FC236}">
                <a16:creationId xmlns:a16="http://schemas.microsoft.com/office/drawing/2014/main" id="{EFB2E9CB-F8F1-4961-B050-6AE53F2AB9D9}"/>
              </a:ext>
            </a:extLst>
          </p:cNvPr>
          <p:cNvSpPr>
            <a:spLocks noGrp="1"/>
          </p:cNvSpPr>
          <p:nvPr/>
        </p:nvSpPr>
        <p:spPr>
          <a:xfrm>
            <a:off x="9582150" y="2047875"/>
            <a:ext cx="1952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032"/>
          </a:bodyPr>
          <a:lstStyle/>
          <a:p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70/15/15</a:t>
            </a:r>
          </a:p>
        </p:txBody>
      </p:sp>
      <p:sp>
        <p:nvSpPr>
          <p:cNvPr id="14" name="md-3">
            <a:extLst>
              <a:ext uri="{FF2B5EF4-FFF2-40B4-BE49-F238E27FC236}">
                <a16:creationId xmlns:a16="http://schemas.microsoft.com/office/drawing/2014/main" id="{161202A6-E6ED-4FB1-8224-394BA870612C}"/>
              </a:ext>
            </a:extLst>
          </p:cNvPr>
          <p:cNvSpPr>
            <a:spLocks noGrp="1"/>
          </p:cNvSpPr>
          <p:nvPr/>
        </p:nvSpPr>
        <p:spPr>
          <a:xfrm>
            <a:off x="9582150" y="2876550"/>
            <a:ext cx="195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split train, validation, test secara stratified</a:t>
            </a:r>
          </a:p>
        </p:txBody>
      </p:sp>
      <p:sp>
        <p:nvSpPr>
          <p:cNvPr id="15" name="note">
            <a:extLst>
              <a:ext uri="{FF2B5EF4-FFF2-40B4-BE49-F238E27FC236}">
                <a16:creationId xmlns:a16="http://schemas.microsoft.com/office/drawing/2014/main" id="{B2605DC2-2CBD-4B58-AFC3-6560A7E95B79}"/>
              </a:ext>
            </a:extLst>
          </p:cNvPr>
          <p:cNvSpPr>
            <a:spLocks noGrp="1"/>
          </p:cNvSpPr>
          <p:nvPr/>
        </p:nvSpPr>
        <p:spPr>
          <a:xfrm>
            <a:off x="400050" y="4629150"/>
            <a:ext cx="10287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Kelas trash bersifat heterogen dan memiliki jumlah citra paling sedikit, sehingga proposal menguji skema K5 untuk melihat konsistensi efektivitas distilasi.</a:t>
            </a:r>
          </a:p>
        </p:txBody>
      </p:sp>
    </p:spTree>
    <p:extLst>
      <p:ext uri="{BB962C8B-B14F-4D97-AF65-F5344CB8AC3E}">
        <p14:creationId xmlns:p14="http://schemas.microsoft.com/office/powerpoint/2010/main" val="1178160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2DCD1145-B066-4995-A6A5-D1F7A7B1DEB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Tiga peran model di sepanjang kurva kapasitas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A762AA49-43A5-4DE0-9374-FE85EB7E194E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model-card-0">
            <a:extLst>
              <a:ext uri="{FF2B5EF4-FFF2-40B4-BE49-F238E27FC236}">
                <a16:creationId xmlns:a16="http://schemas.microsoft.com/office/drawing/2014/main" id="{A843B8DC-D061-4018-A8DF-67C6E1A929F7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71875" cy="3524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model-h-0">
            <a:extLst>
              <a:ext uri="{FF2B5EF4-FFF2-40B4-BE49-F238E27FC236}">
                <a16:creationId xmlns:a16="http://schemas.microsoft.com/office/drawing/2014/main" id="{BB0FB4F6-0826-4044-8F68-90606CCAE4F5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3000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EfficientNet-B4</a:t>
            </a:r>
          </a:p>
        </p:txBody>
      </p:sp>
      <p:sp>
        <p:nvSpPr>
          <p:cNvPr id="5" name="model-stat-0">
            <a:extLst>
              <a:ext uri="{FF2B5EF4-FFF2-40B4-BE49-F238E27FC236}">
                <a16:creationId xmlns:a16="http://schemas.microsoft.com/office/drawing/2014/main" id="{C37F41AA-D754-4986-9F93-4A4484EA0BDB}"/>
              </a:ext>
            </a:extLst>
          </p:cNvPr>
          <p:cNvSpPr>
            <a:spLocks noGrp="1"/>
          </p:cNvSpPr>
          <p:nvPr/>
        </p:nvSpPr>
        <p:spPr>
          <a:xfrm>
            <a:off x="666750" y="3486150"/>
            <a:ext cx="3000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17,6 juta parameter</a:t>
            </a:r>
          </a:p>
        </p:txBody>
      </p:sp>
      <p:sp>
        <p:nvSpPr>
          <p:cNvPr id="6" name="model-b-0">
            <a:extLst>
              <a:ext uri="{FF2B5EF4-FFF2-40B4-BE49-F238E27FC236}">
                <a16:creationId xmlns:a16="http://schemas.microsoft.com/office/drawing/2014/main" id="{A4451748-B755-45FA-9E06-15FFD2ECE493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3000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Guru besar dan batas atas performa.</a:t>
            </a:r>
          </a:p>
        </p:txBody>
      </p:sp>
      <p:sp>
        <p:nvSpPr>
          <p:cNvPr id="7" name="model-card-1">
            <a:extLst>
              <a:ext uri="{FF2B5EF4-FFF2-40B4-BE49-F238E27FC236}">
                <a16:creationId xmlns:a16="http://schemas.microsoft.com/office/drawing/2014/main" id="{EF6D1600-8300-4828-9D0C-FE99E8DD7D67}"/>
              </a:ext>
            </a:extLst>
          </p:cNvPr>
          <p:cNvSpPr>
            <a:spLocks noGrp="1"/>
          </p:cNvSpPr>
          <p:nvPr/>
        </p:nvSpPr>
        <p:spPr>
          <a:xfrm>
            <a:off x="4314825" y="1809750"/>
            <a:ext cx="3571875" cy="3524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model-h-1">
            <a:extLst>
              <a:ext uri="{FF2B5EF4-FFF2-40B4-BE49-F238E27FC236}">
                <a16:creationId xmlns:a16="http://schemas.microsoft.com/office/drawing/2014/main" id="{784B3158-6CCF-4221-A0AB-20FBFC2821F3}"/>
              </a:ext>
            </a:extLst>
          </p:cNvPr>
          <p:cNvSpPr>
            <a:spLocks noGrp="1"/>
          </p:cNvSpPr>
          <p:nvPr/>
        </p:nvSpPr>
        <p:spPr>
          <a:xfrm>
            <a:off x="4581525" y="2190750"/>
            <a:ext cx="3000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Focus-RCNet</a:t>
            </a:r>
          </a:p>
        </p:txBody>
      </p:sp>
      <p:sp>
        <p:nvSpPr>
          <p:cNvPr id="9" name="model-stat-1">
            <a:extLst>
              <a:ext uri="{FF2B5EF4-FFF2-40B4-BE49-F238E27FC236}">
                <a16:creationId xmlns:a16="http://schemas.microsoft.com/office/drawing/2014/main" id="{96DAFFAD-8731-4B17-BDE1-6AFEAF53F01E}"/>
              </a:ext>
            </a:extLst>
          </p:cNvPr>
          <p:cNvSpPr>
            <a:spLocks noGrp="1"/>
          </p:cNvSpPr>
          <p:nvPr/>
        </p:nvSpPr>
        <p:spPr>
          <a:xfrm>
            <a:off x="4581525" y="3486150"/>
            <a:ext cx="3000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520 ribu parameter</a:t>
            </a:r>
          </a:p>
        </p:txBody>
      </p:sp>
      <p:sp>
        <p:nvSpPr>
          <p:cNvPr id="10" name="model-b-1">
            <a:extLst>
              <a:ext uri="{FF2B5EF4-FFF2-40B4-BE49-F238E27FC236}">
                <a16:creationId xmlns:a16="http://schemas.microsoft.com/office/drawing/2014/main" id="{4C678B46-407C-4A3F-B879-B544A41602C9}"/>
              </a:ext>
            </a:extLst>
          </p:cNvPr>
          <p:cNvSpPr>
            <a:spLocks noGrp="1"/>
          </p:cNvSpPr>
          <p:nvPr/>
        </p:nvSpPr>
        <p:spPr>
          <a:xfrm>
            <a:off x="4581525" y="4362450"/>
            <a:ext cx="3000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Teacher assistant untuk menjembatani capacity gap.</a:t>
            </a:r>
          </a:p>
        </p:txBody>
      </p:sp>
      <p:sp>
        <p:nvSpPr>
          <p:cNvPr id="11" name="model-card-2">
            <a:extLst>
              <a:ext uri="{FF2B5EF4-FFF2-40B4-BE49-F238E27FC236}">
                <a16:creationId xmlns:a16="http://schemas.microsoft.com/office/drawing/2014/main" id="{AE0F36A7-F38B-4211-B014-E27CD8D11638}"/>
              </a:ext>
            </a:extLst>
          </p:cNvPr>
          <p:cNvSpPr>
            <a:spLocks noGrp="1"/>
          </p:cNvSpPr>
          <p:nvPr/>
        </p:nvSpPr>
        <p:spPr>
          <a:xfrm>
            <a:off x="8229600" y="1809750"/>
            <a:ext cx="3571875" cy="3524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2" name="model-h-2">
            <a:extLst>
              <a:ext uri="{FF2B5EF4-FFF2-40B4-BE49-F238E27FC236}">
                <a16:creationId xmlns:a16="http://schemas.microsoft.com/office/drawing/2014/main" id="{DA10CADF-1238-4DC2-99BB-4A04A4C29D0D}"/>
              </a:ext>
            </a:extLst>
          </p:cNvPr>
          <p:cNvSpPr>
            <a:spLocks noGrp="1"/>
          </p:cNvSpPr>
          <p:nvPr/>
        </p:nvSpPr>
        <p:spPr>
          <a:xfrm>
            <a:off x="8496300" y="2190750"/>
            <a:ext cx="3000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WasteNet</a:t>
            </a:r>
          </a:p>
        </p:txBody>
      </p:sp>
      <p:sp>
        <p:nvSpPr>
          <p:cNvPr id="13" name="model-stat-2">
            <a:extLst>
              <a:ext uri="{FF2B5EF4-FFF2-40B4-BE49-F238E27FC236}">
                <a16:creationId xmlns:a16="http://schemas.microsoft.com/office/drawing/2014/main" id="{A00B22C0-1888-46E5-BD9B-9582B99732D1}"/>
              </a:ext>
            </a:extLst>
          </p:cNvPr>
          <p:cNvSpPr>
            <a:spLocks noGrp="1"/>
          </p:cNvSpPr>
          <p:nvPr/>
        </p:nvSpPr>
        <p:spPr>
          <a:xfrm>
            <a:off x="8496300" y="3486150"/>
            <a:ext cx="3000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025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128K / 256K parameter</a:t>
            </a:r>
          </a:p>
        </p:txBody>
      </p:sp>
      <p:sp>
        <p:nvSpPr>
          <p:cNvPr id="14" name="model-b-2">
            <a:extLst>
              <a:ext uri="{FF2B5EF4-FFF2-40B4-BE49-F238E27FC236}">
                <a16:creationId xmlns:a16="http://schemas.microsoft.com/office/drawing/2014/main" id="{676C792F-71C4-48CC-AB76-F097A2E6CA2E}"/>
              </a:ext>
            </a:extLst>
          </p:cNvPr>
          <p:cNvSpPr>
            <a:spLocks noGrp="1"/>
          </p:cNvSpPr>
          <p:nvPr/>
        </p:nvSpPr>
        <p:spPr>
          <a:xfrm>
            <a:off x="8496300" y="4362450"/>
            <a:ext cx="3000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Student ringan sebagai target deployment.</a:t>
            </a:r>
          </a:p>
        </p:txBody>
      </p:sp>
    </p:spTree>
    <p:extLst>
      <p:ext uri="{BB962C8B-B14F-4D97-AF65-F5344CB8AC3E}">
        <p14:creationId xmlns:p14="http://schemas.microsoft.com/office/powerpoint/2010/main" val="1452871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743FDC13-E6AC-4E14-9B1E-9FDADA692E4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Strategi distilasi yang dibandingkan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A9AF8757-4CFC-45E7-AB38-DCCD489EDFF5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marker">
            <a:extLst>
              <a:ext uri="{FF2B5EF4-FFF2-40B4-BE49-F238E27FC236}">
                <a16:creationId xmlns:a16="http://schemas.microsoft.com/office/drawing/2014/main" id="{F603BCDC-86D8-4ADB-91C4-4A35E3C78F05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304800" cy="3048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" name="s-h-0">
            <a:extLst>
              <a:ext uri="{FF2B5EF4-FFF2-40B4-BE49-F238E27FC236}">
                <a16:creationId xmlns:a16="http://schemas.microsoft.com/office/drawing/2014/main" id="{B4B5C876-A0E9-4185-BC4A-80D08C6AED3D}"/>
              </a:ext>
            </a:extLst>
          </p:cNvPr>
          <p:cNvSpPr>
            <a:spLocks noGrp="1"/>
          </p:cNvSpPr>
          <p:nvPr/>
        </p:nvSpPr>
        <p:spPr>
          <a:xfrm>
            <a:off x="400050" y="28003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333"/>
          </a:bodyPr>
          <a:lstStyle/>
          <a:p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Direct KD</a:t>
            </a:r>
          </a:p>
        </p:txBody>
      </p:sp>
      <p:sp>
        <p:nvSpPr>
          <p:cNvPr id="5" name="s-path-0">
            <a:extLst>
              <a:ext uri="{FF2B5EF4-FFF2-40B4-BE49-F238E27FC236}">
                <a16:creationId xmlns:a16="http://schemas.microsoft.com/office/drawing/2014/main" id="{59A76824-2C0B-4AD3-A7E1-95BC55D21019}"/>
              </a:ext>
            </a:extLst>
          </p:cNvPr>
          <p:cNvSpPr>
            <a:spLocks noGrp="1"/>
          </p:cNvSpPr>
          <p:nvPr/>
        </p:nvSpPr>
        <p:spPr>
          <a:xfrm>
            <a:off x="400050" y="3448050"/>
            <a:ext cx="333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800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EfficientNet-B4 -&gt; WasteNet</a:t>
            </a:r>
          </a:p>
        </p:txBody>
      </p:sp>
      <p:sp>
        <p:nvSpPr>
          <p:cNvPr id="6" name="s-b-0">
            <a:extLst>
              <a:ext uri="{FF2B5EF4-FFF2-40B4-BE49-F238E27FC236}">
                <a16:creationId xmlns:a16="http://schemas.microsoft.com/office/drawing/2014/main" id="{F3822378-C9A8-48BA-A364-CD5DF75EE8D7}"/>
              </a:ext>
            </a:extLst>
          </p:cNvPr>
          <p:cNvSpPr>
            <a:spLocks noGrp="1"/>
          </p:cNvSpPr>
          <p:nvPr/>
        </p:nvSpPr>
        <p:spPr>
          <a:xfrm>
            <a:off x="400050" y="4114800"/>
            <a:ext cx="3333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Transfer langsung dari guru besar; menguji risiko capacity gap.</a:t>
            </a:r>
          </a:p>
        </p:txBody>
      </p:sp>
      <p:sp>
        <p:nvSpPr>
          <p:cNvPr id="7" name="marker">
            <a:extLst>
              <a:ext uri="{FF2B5EF4-FFF2-40B4-BE49-F238E27FC236}">
                <a16:creationId xmlns:a16="http://schemas.microsoft.com/office/drawing/2014/main" id="{C59E8B8E-BB11-4D69-B5B8-FE42C8703068}"/>
              </a:ext>
            </a:extLst>
          </p:cNvPr>
          <p:cNvSpPr>
            <a:spLocks noGrp="1"/>
          </p:cNvSpPr>
          <p:nvPr/>
        </p:nvSpPr>
        <p:spPr>
          <a:xfrm>
            <a:off x="4314825" y="2209800"/>
            <a:ext cx="304800" cy="3048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8" name="s-h-1">
            <a:extLst>
              <a:ext uri="{FF2B5EF4-FFF2-40B4-BE49-F238E27FC236}">
                <a16:creationId xmlns:a16="http://schemas.microsoft.com/office/drawing/2014/main" id="{9ABA92AD-7FBD-446C-A611-83E7E489CDCB}"/>
              </a:ext>
            </a:extLst>
          </p:cNvPr>
          <p:cNvSpPr>
            <a:spLocks noGrp="1"/>
          </p:cNvSpPr>
          <p:nvPr/>
        </p:nvSpPr>
        <p:spPr>
          <a:xfrm>
            <a:off x="4314825" y="28003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333"/>
          </a:bodyPr>
          <a:lstStyle/>
          <a:p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TA-KD</a:t>
            </a:r>
          </a:p>
        </p:txBody>
      </p:sp>
      <p:sp>
        <p:nvSpPr>
          <p:cNvPr id="9" name="s-path-1">
            <a:extLst>
              <a:ext uri="{FF2B5EF4-FFF2-40B4-BE49-F238E27FC236}">
                <a16:creationId xmlns:a16="http://schemas.microsoft.com/office/drawing/2014/main" id="{83E8083A-5056-48EC-9AA3-62F05F73FAC3}"/>
              </a:ext>
            </a:extLst>
          </p:cNvPr>
          <p:cNvSpPr>
            <a:spLocks noGrp="1"/>
          </p:cNvSpPr>
          <p:nvPr/>
        </p:nvSpPr>
        <p:spPr>
          <a:xfrm>
            <a:off x="4314825" y="3448050"/>
            <a:ext cx="333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800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Focus-RCNet -&gt; WasteNet</a:t>
            </a:r>
          </a:p>
        </p:txBody>
      </p:sp>
      <p:sp>
        <p:nvSpPr>
          <p:cNvPr id="10" name="s-b-1">
            <a:extLst>
              <a:ext uri="{FF2B5EF4-FFF2-40B4-BE49-F238E27FC236}">
                <a16:creationId xmlns:a16="http://schemas.microsoft.com/office/drawing/2014/main" id="{DAD41DB9-1DEC-4DFA-8236-2A4B6EFF49AB}"/>
              </a:ext>
            </a:extLst>
          </p:cNvPr>
          <p:cNvSpPr>
            <a:spLocks noGrp="1"/>
          </p:cNvSpPr>
          <p:nvPr/>
        </p:nvSpPr>
        <p:spPr>
          <a:xfrm>
            <a:off x="4314825" y="4114800"/>
            <a:ext cx="3333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Teacher assistant menengah digunakan sebagai jembatan kapasitas.</a:t>
            </a:r>
          </a:p>
        </p:txBody>
      </p:sp>
      <p:sp>
        <p:nvSpPr>
          <p:cNvPr id="11" name="marker">
            <a:extLst>
              <a:ext uri="{FF2B5EF4-FFF2-40B4-BE49-F238E27FC236}">
                <a16:creationId xmlns:a16="http://schemas.microsoft.com/office/drawing/2014/main" id="{FF29512A-A1C2-46CB-AA4C-C405184A028A}"/>
              </a:ext>
            </a:extLst>
          </p:cNvPr>
          <p:cNvSpPr>
            <a:spLocks noGrp="1"/>
          </p:cNvSpPr>
          <p:nvPr/>
        </p:nvSpPr>
        <p:spPr>
          <a:xfrm>
            <a:off x="8229600" y="2209800"/>
            <a:ext cx="304800" cy="3048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s-h-2">
            <a:extLst>
              <a:ext uri="{FF2B5EF4-FFF2-40B4-BE49-F238E27FC236}">
                <a16:creationId xmlns:a16="http://schemas.microsoft.com/office/drawing/2014/main" id="{2B871BA5-9C57-4880-8610-6A61E2DBD03A}"/>
              </a:ext>
            </a:extLst>
          </p:cNvPr>
          <p:cNvSpPr>
            <a:spLocks noGrp="1"/>
          </p:cNvSpPr>
          <p:nvPr/>
        </p:nvSpPr>
        <p:spPr>
          <a:xfrm>
            <a:off x="8229600" y="28003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333"/>
          </a:bodyPr>
          <a:lstStyle/>
          <a:p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Self-distillation</a:t>
            </a:r>
          </a:p>
        </p:txBody>
      </p:sp>
      <p:sp>
        <p:nvSpPr>
          <p:cNvPr id="13" name="s-path-2">
            <a:extLst>
              <a:ext uri="{FF2B5EF4-FFF2-40B4-BE49-F238E27FC236}">
                <a16:creationId xmlns:a16="http://schemas.microsoft.com/office/drawing/2014/main" id="{3E547B8E-7E73-4F3F-8C05-D66163FDD908}"/>
              </a:ext>
            </a:extLst>
          </p:cNvPr>
          <p:cNvSpPr>
            <a:spLocks noGrp="1"/>
          </p:cNvSpPr>
          <p:nvPr/>
        </p:nvSpPr>
        <p:spPr>
          <a:xfrm>
            <a:off x="8229600" y="3448050"/>
            <a:ext cx="333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9302" lnSpcReduction="20000"/>
          </a:bodyPr>
          <a:lstStyle/>
          <a:p>
            <a:pPr>
              <a:defRPr sz="1800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WasteNet gen. sebelumnya -&gt; WasteNet</a:t>
            </a:r>
          </a:p>
        </p:txBody>
      </p:sp>
      <p:sp>
        <p:nvSpPr>
          <p:cNvPr id="14" name="s-b-2">
            <a:extLst>
              <a:ext uri="{FF2B5EF4-FFF2-40B4-BE49-F238E27FC236}">
                <a16:creationId xmlns:a16="http://schemas.microsoft.com/office/drawing/2014/main" id="{26A1ABA5-90D4-43D6-9014-C854477FE19A}"/>
              </a:ext>
            </a:extLst>
          </p:cNvPr>
          <p:cNvSpPr>
            <a:spLocks noGrp="1"/>
          </p:cNvSpPr>
          <p:nvPr/>
        </p:nvSpPr>
        <p:spPr>
          <a:xfrm>
            <a:off x="8229600" y="4114800"/>
            <a:ext cx="3333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Born-Again Networks dengan teacher berkapasitas sama.</a:t>
            </a:r>
          </a:p>
        </p:txBody>
      </p:sp>
      <p:sp>
        <p:nvSpPr>
          <p:cNvPr id="15" name="formula">
            <a:extLst>
              <a:ext uri="{FF2B5EF4-FFF2-40B4-BE49-F238E27FC236}">
                <a16:creationId xmlns:a16="http://schemas.microsoft.com/office/drawing/2014/main" id="{977AB4B9-DB55-4119-BC76-60C3AD9B0E53}"/>
              </a:ext>
            </a:extLst>
          </p:cNvPr>
          <p:cNvSpPr>
            <a:spLocks noGrp="1"/>
          </p:cNvSpPr>
          <p:nvPr/>
        </p:nvSpPr>
        <p:spPr>
          <a:xfrm>
            <a:off x="400050" y="5667375"/>
            <a:ext cx="914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L_KD = (1 - alpha) L_CE + alpha T^2 D_KL(p_teacher || p_student)</a:t>
            </a:r>
          </a:p>
        </p:txBody>
      </p:sp>
    </p:spTree>
    <p:extLst>
      <p:ext uri="{BB962C8B-B14F-4D97-AF65-F5344CB8AC3E}">
        <p14:creationId xmlns:p14="http://schemas.microsoft.com/office/powerpoint/2010/main" val="2010172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title">
            <a:extLst>
              <a:ext uri="{FF2B5EF4-FFF2-40B4-BE49-F238E27FC236}">
                <a16:creationId xmlns:a16="http://schemas.microsoft.com/office/drawing/2014/main" id="{4F8FDBE8-DE7E-4A29-BBFD-3442EB2ACD96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Prosedur penelitian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10D86B25-D11A-4BB1-9604-0F3CE8F29FBC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step-no-0">
            <a:extLst>
              <a:ext uri="{FF2B5EF4-FFF2-40B4-BE49-F238E27FC236}">
                <a16:creationId xmlns:a16="http://schemas.microsoft.com/office/drawing/2014/main" id="{4ABCAC22-13CC-4697-B6BE-AEC8FB36905A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611" lnSpcReduction="10000"/>
          </a:bodyPr>
          <a:lstStyle/>
          <a:p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step-h-0">
            <a:extLst>
              <a:ext uri="{FF2B5EF4-FFF2-40B4-BE49-F238E27FC236}">
                <a16:creationId xmlns:a16="http://schemas.microsoft.com/office/drawing/2014/main" id="{7CC2B07A-50A7-4672-A35D-F2080DF0DF3D}"/>
              </a:ext>
            </a:extLst>
          </p:cNvPr>
          <p:cNvSpPr>
            <a:spLocks noGrp="1"/>
          </p:cNvSpPr>
          <p:nvPr/>
        </p:nvSpPr>
        <p:spPr>
          <a:xfrm>
            <a:off x="1066800" y="1600200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194" lnSpcReduction="10000"/>
          </a:bodyPr>
          <a:lstStyle/>
          <a:p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Studi literatur</a:t>
            </a:r>
          </a:p>
        </p:txBody>
      </p:sp>
      <p:sp>
        <p:nvSpPr>
          <p:cNvPr id="5" name="step-b-0">
            <a:extLst>
              <a:ext uri="{FF2B5EF4-FFF2-40B4-BE49-F238E27FC236}">
                <a16:creationId xmlns:a16="http://schemas.microsoft.com/office/drawing/2014/main" id="{A925CC9E-5579-4419-89BC-D724F1CA3441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2714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KD, capacity gap, TA-KD, BAN, klasifikasi sampah.</a:t>
            </a:r>
          </a:p>
        </p:txBody>
      </p:sp>
      <p:sp>
        <p:nvSpPr>
          <p:cNvPr id="6" name="rule">
            <a:extLst>
              <a:ext uri="{FF2B5EF4-FFF2-40B4-BE49-F238E27FC236}">
                <a16:creationId xmlns:a16="http://schemas.microsoft.com/office/drawing/2014/main" id="{AD09FD86-BE05-4515-9687-F3DA0E92348D}"/>
              </a:ext>
            </a:extLst>
          </p:cNvPr>
          <p:cNvSpPr>
            <a:spLocks noGrp="1"/>
          </p:cNvSpPr>
          <p:nvPr/>
        </p:nvSpPr>
        <p:spPr>
          <a:xfrm>
            <a:off x="400050" y="2857500"/>
            <a:ext cx="319087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step-no-1">
            <a:extLst>
              <a:ext uri="{FF2B5EF4-FFF2-40B4-BE49-F238E27FC236}">
                <a16:creationId xmlns:a16="http://schemas.microsoft.com/office/drawing/2014/main" id="{902EE2D3-1EBD-47F8-84CC-BC25683D85C0}"/>
              </a:ext>
            </a:extLst>
          </p:cNvPr>
          <p:cNvSpPr>
            <a:spLocks noGrp="1"/>
          </p:cNvSpPr>
          <p:nvPr/>
        </p:nvSpPr>
        <p:spPr>
          <a:xfrm>
            <a:off x="4314825" y="1600200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611" lnSpcReduction="10000"/>
          </a:bodyPr>
          <a:lstStyle/>
          <a:p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step-h-1">
            <a:extLst>
              <a:ext uri="{FF2B5EF4-FFF2-40B4-BE49-F238E27FC236}">
                <a16:creationId xmlns:a16="http://schemas.microsoft.com/office/drawing/2014/main" id="{F56ED57E-6597-4866-9B85-D61400EBC833}"/>
              </a:ext>
            </a:extLst>
          </p:cNvPr>
          <p:cNvSpPr>
            <a:spLocks noGrp="1"/>
          </p:cNvSpPr>
          <p:nvPr/>
        </p:nvSpPr>
        <p:spPr>
          <a:xfrm>
            <a:off x="4981575" y="1600200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194" lnSpcReduction="10000"/>
          </a:bodyPr>
          <a:lstStyle/>
          <a:p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 dan manifest</a:t>
            </a:r>
          </a:p>
        </p:txBody>
      </p:sp>
      <p:sp>
        <p:nvSpPr>
          <p:cNvPr id="9" name="step-b-1">
            <a:extLst>
              <a:ext uri="{FF2B5EF4-FFF2-40B4-BE49-F238E27FC236}">
                <a16:creationId xmlns:a16="http://schemas.microsoft.com/office/drawing/2014/main" id="{31021749-2CFD-4D92-9F1E-27502A169EE7}"/>
              </a:ext>
            </a:extLst>
          </p:cNvPr>
          <p:cNvSpPr>
            <a:spLocks noGrp="1"/>
          </p:cNvSpPr>
          <p:nvPr/>
        </p:nvSpPr>
        <p:spPr>
          <a:xfrm>
            <a:off x="4981575" y="2076450"/>
            <a:ext cx="2714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TrashNet, deduplikasi, split deterministik per seed.</a:t>
            </a:r>
          </a:p>
        </p:txBody>
      </p:sp>
      <p:sp>
        <p:nvSpPr>
          <p:cNvPr id="10" name="rule">
            <a:extLst>
              <a:ext uri="{FF2B5EF4-FFF2-40B4-BE49-F238E27FC236}">
                <a16:creationId xmlns:a16="http://schemas.microsoft.com/office/drawing/2014/main" id="{713978CF-A93B-4331-A16D-3A765E57F967}"/>
              </a:ext>
            </a:extLst>
          </p:cNvPr>
          <p:cNvSpPr>
            <a:spLocks noGrp="1"/>
          </p:cNvSpPr>
          <p:nvPr/>
        </p:nvSpPr>
        <p:spPr>
          <a:xfrm>
            <a:off x="4314825" y="2857500"/>
            <a:ext cx="319087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step-no-2">
            <a:extLst>
              <a:ext uri="{FF2B5EF4-FFF2-40B4-BE49-F238E27FC236}">
                <a16:creationId xmlns:a16="http://schemas.microsoft.com/office/drawing/2014/main" id="{D1807626-F443-4851-AB10-7744AC9E8CB3}"/>
              </a:ext>
            </a:extLst>
          </p:cNvPr>
          <p:cNvSpPr>
            <a:spLocks noGrp="1"/>
          </p:cNvSpPr>
          <p:nvPr/>
        </p:nvSpPr>
        <p:spPr>
          <a:xfrm>
            <a:off x="8229600" y="1600200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611" lnSpcReduction="10000"/>
          </a:bodyPr>
          <a:lstStyle/>
          <a:p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step-h-2">
            <a:extLst>
              <a:ext uri="{FF2B5EF4-FFF2-40B4-BE49-F238E27FC236}">
                <a16:creationId xmlns:a16="http://schemas.microsoft.com/office/drawing/2014/main" id="{F7A39CB8-C590-44F1-8A77-B90B220F8C1D}"/>
              </a:ext>
            </a:extLst>
          </p:cNvPr>
          <p:cNvSpPr>
            <a:spLocks noGrp="1"/>
          </p:cNvSpPr>
          <p:nvPr/>
        </p:nvSpPr>
        <p:spPr>
          <a:xfrm>
            <a:off x="8896350" y="1600200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194" lnSpcReduction="10000"/>
          </a:bodyPr>
          <a:lstStyle/>
          <a:p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Perancangan model</a:t>
            </a:r>
          </a:p>
        </p:txBody>
      </p:sp>
      <p:sp>
        <p:nvSpPr>
          <p:cNvPr id="13" name="step-b-2">
            <a:extLst>
              <a:ext uri="{FF2B5EF4-FFF2-40B4-BE49-F238E27FC236}">
                <a16:creationId xmlns:a16="http://schemas.microsoft.com/office/drawing/2014/main" id="{62C2D9D4-3AE7-4300-9934-6A5FD2C6585F}"/>
              </a:ext>
            </a:extLst>
          </p:cNvPr>
          <p:cNvSpPr>
            <a:spLocks noGrp="1"/>
          </p:cNvSpPr>
          <p:nvPr/>
        </p:nvSpPr>
        <p:spPr>
          <a:xfrm>
            <a:off x="8896350" y="2076450"/>
            <a:ext cx="2714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Guru besar, asisten, dan dua varian WasteNet.</a:t>
            </a:r>
          </a:p>
        </p:txBody>
      </p:sp>
      <p:sp>
        <p:nvSpPr>
          <p:cNvPr id="14" name="rule">
            <a:extLst>
              <a:ext uri="{FF2B5EF4-FFF2-40B4-BE49-F238E27FC236}">
                <a16:creationId xmlns:a16="http://schemas.microsoft.com/office/drawing/2014/main" id="{3FDAFED5-FBB7-4C10-8B0A-46B519596564}"/>
              </a:ext>
            </a:extLst>
          </p:cNvPr>
          <p:cNvSpPr>
            <a:spLocks noGrp="1"/>
          </p:cNvSpPr>
          <p:nvPr/>
        </p:nvSpPr>
        <p:spPr>
          <a:xfrm>
            <a:off x="8229600" y="2857500"/>
            <a:ext cx="319087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step-no-3">
            <a:extLst>
              <a:ext uri="{FF2B5EF4-FFF2-40B4-BE49-F238E27FC236}">
                <a16:creationId xmlns:a16="http://schemas.microsoft.com/office/drawing/2014/main" id="{3100373F-A1B5-4C99-A69D-597C3B941215}"/>
              </a:ext>
            </a:extLst>
          </p:cNvPr>
          <p:cNvSpPr>
            <a:spLocks noGrp="1"/>
          </p:cNvSpPr>
          <p:nvPr/>
        </p:nvSpPr>
        <p:spPr>
          <a:xfrm>
            <a:off x="400050" y="3695700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611" lnSpcReduction="10000"/>
          </a:bodyPr>
          <a:lstStyle/>
          <a:p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step-h-3">
            <a:extLst>
              <a:ext uri="{FF2B5EF4-FFF2-40B4-BE49-F238E27FC236}">
                <a16:creationId xmlns:a16="http://schemas.microsoft.com/office/drawing/2014/main" id="{6042CB54-56F2-4E78-84E0-0597DC9950BC}"/>
              </a:ext>
            </a:extLst>
          </p:cNvPr>
          <p:cNvSpPr>
            <a:spLocks noGrp="1"/>
          </p:cNvSpPr>
          <p:nvPr/>
        </p:nvSpPr>
        <p:spPr>
          <a:xfrm>
            <a:off x="1066800" y="3695700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194" lnSpcReduction="10000"/>
          </a:bodyPr>
          <a:lstStyle/>
          <a:p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Pelatihan</a:t>
            </a:r>
          </a:p>
        </p:txBody>
      </p:sp>
      <p:sp>
        <p:nvSpPr>
          <p:cNvPr id="17" name="step-b-3">
            <a:extLst>
              <a:ext uri="{FF2B5EF4-FFF2-40B4-BE49-F238E27FC236}">
                <a16:creationId xmlns:a16="http://schemas.microsoft.com/office/drawing/2014/main" id="{21F36F34-CE88-4F8F-9EF9-63183D7ECCA9}"/>
              </a:ext>
            </a:extLst>
          </p:cNvPr>
          <p:cNvSpPr>
            <a:spLocks noGrp="1"/>
          </p:cNvSpPr>
          <p:nvPr/>
        </p:nvSpPr>
        <p:spPr>
          <a:xfrm>
            <a:off x="1066800" y="4171950"/>
            <a:ext cx="2714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Semua skenario memakai konfigurasi identik.</a:t>
            </a:r>
          </a:p>
        </p:txBody>
      </p:sp>
      <p:sp>
        <p:nvSpPr>
          <p:cNvPr id="18" name="rule">
            <a:extLst>
              <a:ext uri="{FF2B5EF4-FFF2-40B4-BE49-F238E27FC236}">
                <a16:creationId xmlns:a16="http://schemas.microsoft.com/office/drawing/2014/main" id="{02C9A1CF-4A94-4D44-B731-832F71E171E5}"/>
              </a:ext>
            </a:extLst>
          </p:cNvPr>
          <p:cNvSpPr>
            <a:spLocks noGrp="1"/>
          </p:cNvSpPr>
          <p:nvPr/>
        </p:nvSpPr>
        <p:spPr>
          <a:xfrm>
            <a:off x="400050" y="4953000"/>
            <a:ext cx="319087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step-no-4">
            <a:extLst>
              <a:ext uri="{FF2B5EF4-FFF2-40B4-BE49-F238E27FC236}">
                <a16:creationId xmlns:a16="http://schemas.microsoft.com/office/drawing/2014/main" id="{D93148BF-B336-4BB2-811C-958488AA8A76}"/>
              </a:ext>
            </a:extLst>
          </p:cNvPr>
          <p:cNvSpPr>
            <a:spLocks noGrp="1"/>
          </p:cNvSpPr>
          <p:nvPr/>
        </p:nvSpPr>
        <p:spPr>
          <a:xfrm>
            <a:off x="4314825" y="3695700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611" lnSpcReduction="10000"/>
          </a:bodyPr>
          <a:lstStyle/>
          <a:p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0" name="step-h-4">
            <a:extLst>
              <a:ext uri="{FF2B5EF4-FFF2-40B4-BE49-F238E27FC236}">
                <a16:creationId xmlns:a16="http://schemas.microsoft.com/office/drawing/2014/main" id="{15106F84-D0DB-4F69-BA35-6505A5C6757D}"/>
              </a:ext>
            </a:extLst>
          </p:cNvPr>
          <p:cNvSpPr>
            <a:spLocks noGrp="1"/>
          </p:cNvSpPr>
          <p:nvPr/>
        </p:nvSpPr>
        <p:spPr>
          <a:xfrm>
            <a:off x="4981575" y="3695700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194" lnSpcReduction="10000"/>
          </a:bodyPr>
          <a:lstStyle/>
          <a:p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Evaluasi</a:t>
            </a:r>
          </a:p>
        </p:txBody>
      </p:sp>
      <p:sp>
        <p:nvSpPr>
          <p:cNvPr id="21" name="step-b-4">
            <a:extLst>
              <a:ext uri="{FF2B5EF4-FFF2-40B4-BE49-F238E27FC236}">
                <a16:creationId xmlns:a16="http://schemas.microsoft.com/office/drawing/2014/main" id="{FE7172A2-E3C9-41A9-BC27-570900A1094B}"/>
              </a:ext>
            </a:extLst>
          </p:cNvPr>
          <p:cNvSpPr>
            <a:spLocks noGrp="1"/>
          </p:cNvSpPr>
          <p:nvPr/>
        </p:nvSpPr>
        <p:spPr>
          <a:xfrm>
            <a:off x="4981575" y="4171950"/>
            <a:ext cx="2714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Accuracy, macro F1-score, confusion matrix.</a:t>
            </a:r>
          </a:p>
        </p:txBody>
      </p:sp>
      <p:sp>
        <p:nvSpPr>
          <p:cNvPr id="22" name="rule">
            <a:extLst>
              <a:ext uri="{FF2B5EF4-FFF2-40B4-BE49-F238E27FC236}">
                <a16:creationId xmlns:a16="http://schemas.microsoft.com/office/drawing/2014/main" id="{13EF7095-E982-4ADC-81A5-714B11002809}"/>
              </a:ext>
            </a:extLst>
          </p:cNvPr>
          <p:cNvSpPr>
            <a:spLocks noGrp="1"/>
          </p:cNvSpPr>
          <p:nvPr/>
        </p:nvSpPr>
        <p:spPr>
          <a:xfrm>
            <a:off x="4314825" y="4953000"/>
            <a:ext cx="319087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3" name="step-no-5">
            <a:extLst>
              <a:ext uri="{FF2B5EF4-FFF2-40B4-BE49-F238E27FC236}">
                <a16:creationId xmlns:a16="http://schemas.microsoft.com/office/drawing/2014/main" id="{B78E0DBA-1625-4CEC-865C-CF386E90292C}"/>
              </a:ext>
            </a:extLst>
          </p:cNvPr>
          <p:cNvSpPr>
            <a:spLocks noGrp="1"/>
          </p:cNvSpPr>
          <p:nvPr/>
        </p:nvSpPr>
        <p:spPr>
          <a:xfrm>
            <a:off x="8229600" y="3695700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611" lnSpcReduction="10000"/>
          </a:bodyPr>
          <a:lstStyle/>
          <a:p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4" name="step-h-5">
            <a:extLst>
              <a:ext uri="{FF2B5EF4-FFF2-40B4-BE49-F238E27FC236}">
                <a16:creationId xmlns:a16="http://schemas.microsoft.com/office/drawing/2014/main" id="{26E75D6B-3B93-4FB7-80DE-6CD29A017B16}"/>
              </a:ext>
            </a:extLst>
          </p:cNvPr>
          <p:cNvSpPr>
            <a:spLocks noGrp="1"/>
          </p:cNvSpPr>
          <p:nvPr/>
        </p:nvSpPr>
        <p:spPr>
          <a:xfrm>
            <a:off x="8896350" y="3695700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194" lnSpcReduction="10000"/>
          </a:bodyPr>
          <a:lstStyle/>
          <a:p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Uji statistik</a:t>
            </a:r>
          </a:p>
        </p:txBody>
      </p:sp>
      <p:sp>
        <p:nvSpPr>
          <p:cNvPr id="25" name="step-b-5">
            <a:extLst>
              <a:ext uri="{FF2B5EF4-FFF2-40B4-BE49-F238E27FC236}">
                <a16:creationId xmlns:a16="http://schemas.microsoft.com/office/drawing/2014/main" id="{068C2D9B-40E1-445F-9460-692217B5DD67}"/>
              </a:ext>
            </a:extLst>
          </p:cNvPr>
          <p:cNvSpPr>
            <a:spLocks noGrp="1"/>
          </p:cNvSpPr>
          <p:nvPr/>
        </p:nvSpPr>
        <p:spPr>
          <a:xfrm>
            <a:off x="8896350" y="4171950"/>
            <a:ext cx="2714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Paired t-test, Wilcoxon, dan McNemar.</a:t>
            </a:r>
          </a:p>
        </p:txBody>
      </p:sp>
      <p:sp>
        <p:nvSpPr>
          <p:cNvPr id="26" name="rule">
            <a:extLst>
              <a:ext uri="{FF2B5EF4-FFF2-40B4-BE49-F238E27FC236}">
                <a16:creationId xmlns:a16="http://schemas.microsoft.com/office/drawing/2014/main" id="{AF2A08AC-B8F4-48EA-AD68-7897262DEA42}"/>
              </a:ext>
            </a:extLst>
          </p:cNvPr>
          <p:cNvSpPr>
            <a:spLocks noGrp="1"/>
          </p:cNvSpPr>
          <p:nvPr/>
        </p:nvSpPr>
        <p:spPr>
          <a:xfrm>
            <a:off x="8229600" y="4953000"/>
            <a:ext cx="319087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6501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3E63E430-C3A5-461A-9D32-C4ACBBE539A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Teknik analisis data dan konfigurasi pelatihan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072643E1-0EF2-4964-AD53-2E8C8DFA8889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pipeline-left">
            <a:extLst>
              <a:ext uri="{FF2B5EF4-FFF2-40B4-BE49-F238E27FC236}">
                <a16:creationId xmlns:a16="http://schemas.microsoft.com/office/drawing/2014/main" id="{9700902F-967F-49DB-89ED-BD3B3E4720E0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5334000" cy="3714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Preprocessing: RGB, resize 380x380 untuk guru/asisten dan 160x160 untuk WasteNet.</a:t>
            </a:r>
          </a:p>
          <a:p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Augmentasi hanya pada data latih: flip, brightness/contrast, dan coarse dropout.</a:t>
            </a:r>
          </a:p>
          <a:p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Optimizer SGD momentum 0,9, weight decay 1e-4, cosine annealing.</a:t>
            </a:r>
          </a:p>
          <a:p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Pelatihan 100 epoch, mixed precision, checkpoint terbaik dari validation accuracy.</a:t>
            </a:r>
          </a:p>
        </p:txBody>
      </p:sp>
      <p:sp>
        <p:nvSpPr>
          <p:cNvPr id="4" name="seed-panel">
            <a:extLst>
              <a:ext uri="{FF2B5EF4-FFF2-40B4-BE49-F238E27FC236}">
                <a16:creationId xmlns:a16="http://schemas.microsoft.com/office/drawing/2014/main" id="{E38C664D-B36E-4E61-9127-5C7059320EB5}"/>
              </a:ext>
            </a:extLst>
          </p:cNvPr>
          <p:cNvSpPr>
            <a:spLocks noGrp="1"/>
          </p:cNvSpPr>
          <p:nvPr/>
        </p:nvSpPr>
        <p:spPr>
          <a:xfrm>
            <a:off x="6572250" y="1428750"/>
            <a:ext cx="4286250" cy="2952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seed-title">
            <a:extLst>
              <a:ext uri="{FF2B5EF4-FFF2-40B4-BE49-F238E27FC236}">
                <a16:creationId xmlns:a16="http://schemas.microsoft.com/office/drawing/2014/main" id="{ECA34919-C13E-405D-ADFA-BBB06695A716}"/>
              </a:ext>
            </a:extLst>
          </p:cNvPr>
          <p:cNvSpPr>
            <a:spLocks noGrp="1"/>
          </p:cNvSpPr>
          <p:nvPr/>
        </p:nvSpPr>
        <p:spPr>
          <a:xfrm>
            <a:off x="6934200" y="18478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3103"/>
          </a:bodyPr>
          <a:lstStyle/>
          <a:p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Replikasi eksperimen</a:t>
            </a:r>
          </a:p>
        </p:txBody>
      </p:sp>
      <p:sp>
        <p:nvSpPr>
          <p:cNvPr id="6" name="seed-stat">
            <a:extLst>
              <a:ext uri="{FF2B5EF4-FFF2-40B4-BE49-F238E27FC236}">
                <a16:creationId xmlns:a16="http://schemas.microsoft.com/office/drawing/2014/main" id="{5FA2D5B0-95B6-40BA-B003-1D4A7F4F8E9E}"/>
              </a:ext>
            </a:extLst>
          </p:cNvPr>
          <p:cNvSpPr>
            <a:spLocks noGrp="1"/>
          </p:cNvSpPr>
          <p:nvPr/>
        </p:nvSpPr>
        <p:spPr>
          <a:xfrm>
            <a:off x="6934200" y="2590800"/>
            <a:ext cx="209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167" lnSpcReduction="10000"/>
          </a:bodyPr>
          <a:lstStyle/>
          <a:p>
            <a:pPr>
              <a:defRPr sz="37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5 seed</a:t>
            </a:r>
          </a:p>
        </p:txBody>
      </p:sp>
      <p:sp>
        <p:nvSpPr>
          <p:cNvPr id="7" name="seed-body">
            <a:extLst>
              <a:ext uri="{FF2B5EF4-FFF2-40B4-BE49-F238E27FC236}">
                <a16:creationId xmlns:a16="http://schemas.microsoft.com/office/drawing/2014/main" id="{D6C55B4E-A744-4370-AC73-F8C8988E49AC}"/>
              </a:ext>
            </a:extLst>
          </p:cNvPr>
          <p:cNvSpPr>
            <a:spLocks noGrp="1"/>
          </p:cNvSpPr>
          <p:nvPr/>
        </p:nvSpPr>
        <p:spPr>
          <a:xfrm>
            <a:off x="6934200" y="3409950"/>
            <a:ext cx="333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42, 123, 777, 2026, 3407</a:t>
            </a:r>
          </a:p>
          <a:p>
            <a:endParaRPr sz="1200">
              <a:solidFill>
                <a:srgbClr val="555555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Semua skenario memakai split dan konfigurasi yang sama agar perbandingan adil.</a:t>
            </a:r>
          </a:p>
        </p:txBody>
      </p:sp>
    </p:spTree>
    <p:extLst>
      <p:ext uri="{BB962C8B-B14F-4D97-AF65-F5344CB8AC3E}">
        <p14:creationId xmlns:p14="http://schemas.microsoft.com/office/powerpoint/2010/main" val="1998271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-title">
            <a:extLst>
              <a:ext uri="{FF2B5EF4-FFF2-40B4-BE49-F238E27FC236}">
                <a16:creationId xmlns:a16="http://schemas.microsoft.com/office/drawing/2014/main" id="{786BE454-9D56-4F50-8F99-5069046F90E6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Skenario pengujian model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A05A94FC-3119-4410-83A2-5CCC5E4883C0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intro">
            <a:extLst>
              <a:ext uri="{FF2B5EF4-FFF2-40B4-BE49-F238E27FC236}">
                <a16:creationId xmlns:a16="http://schemas.microsoft.com/office/drawing/2014/main" id="{3EAF09B4-CF5E-463F-8C73-AF4C23936D74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R1-R9 membentuk benchmark dari baseline, direct KD, teacher-assistant, hingga self-distillation.</a:t>
            </a:r>
          </a:p>
        </p:txBody>
      </p:sp>
      <p:graphicFrame>
        <p:nvGraphicFramePr>
          <p:cNvPr id="8" name="Tabel 7"/>
          <p:cNvGraphicFramePr/>
          <p:nvPr/>
        </p:nvGraphicFramePr>
        <p:xfrm>
          <a:off x="400050" y="1695450"/>
          <a:ext cx="11391900" cy="41910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5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Kode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Student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Guru soft-label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Peran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R1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EfficientNet-B4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Guru besar / batas atas</a:t>
                      </a:r>
                    </a:p>
                  </a:txBody>
                  <a:tcPr marL="57150" marR="57150" marT="28575" marB="28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R2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Focus-RCNet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Asisten menengah</a:t>
                      </a:r>
                    </a:p>
                  </a:txBody>
                  <a:tcPr marL="57150" marR="57150" marT="28575" marB="28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R3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WasteNet-128K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Baseline 128K</a:t>
                      </a:r>
                    </a:p>
                  </a:txBody>
                  <a:tcPr marL="57150" marR="57150" marT="28575" marB="28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R4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WasteNet-128K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EfficientNet-B4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KD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R5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WasteNet-128K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Focus-RCNet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TA-KD 128K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R6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WasteNet-256K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Baseline 256K</a:t>
                      </a:r>
                    </a:p>
                  </a:txBody>
                  <a:tcPr marL="57150" marR="57150" marT="28575" marB="285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R7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WasteNet-256K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EfficientNet-B4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KD</a:t>
                      </a:r>
                    </a:p>
                  </a:txBody>
                  <a:tcPr marL="57150" marR="57150" marT="28575" marB="285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R8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WasteNet-256K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Focus-RCNet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TA-KD 256K</a:t>
                      </a:r>
                    </a:p>
                  </a:txBody>
                  <a:tcPr marL="57150" marR="57150" marT="28575" marB="28575">
                    <a:solidFill>
                      <a:srgbClr val="FF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R9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WasteNet-256K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WasteNet-256K gen. sebelumnya</a:t>
                      </a:r>
                    </a:p>
                  </a:txBody>
                  <a:tcPr marL="57150" marR="57150" marT="28575" marB="2857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Self-distillation</a:t>
                      </a:r>
                    </a:p>
                  </a:txBody>
                  <a:tcPr marL="57150" marR="57150" marT="28575" marB="285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1859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87F47D4A-FB6A-4D95-9CFF-5378B9FA93AD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Evaluasi dan validasi statistik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24ACA438-D6B8-4CD8-BFEC-2287E2A1DCBD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eval-card-0">
            <a:extLst>
              <a:ext uri="{FF2B5EF4-FFF2-40B4-BE49-F238E27FC236}">
                <a16:creationId xmlns:a16="http://schemas.microsoft.com/office/drawing/2014/main" id="{C896F54C-F1E4-41A2-B493-DD322F4B0FF8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3571875" cy="3143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eval-h-0">
            <a:extLst>
              <a:ext uri="{FF2B5EF4-FFF2-40B4-BE49-F238E27FC236}">
                <a16:creationId xmlns:a16="http://schemas.microsoft.com/office/drawing/2014/main" id="{FCF17C7B-F2A6-4120-B931-E4B68093E337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3103"/>
          </a:bodyPr>
          <a:lstStyle/>
          <a:p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Metrik utama</a:t>
            </a:r>
          </a:p>
        </p:txBody>
      </p:sp>
      <p:sp>
        <p:nvSpPr>
          <p:cNvPr id="5" name="eval-b-0">
            <a:extLst>
              <a:ext uri="{FF2B5EF4-FFF2-40B4-BE49-F238E27FC236}">
                <a16:creationId xmlns:a16="http://schemas.microsoft.com/office/drawing/2014/main" id="{600CB9A4-D8B3-4AD9-8AA4-EBDE1669045E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30003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Accuracy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Macro F1-score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Confusion matrix</a:t>
            </a:r>
          </a:p>
        </p:txBody>
      </p:sp>
      <p:sp>
        <p:nvSpPr>
          <p:cNvPr id="6" name="eval-card-1">
            <a:extLst>
              <a:ext uri="{FF2B5EF4-FFF2-40B4-BE49-F238E27FC236}">
                <a16:creationId xmlns:a16="http://schemas.microsoft.com/office/drawing/2014/main" id="{D2B79B7F-7631-4461-934B-BB4EEC66383D}"/>
              </a:ext>
            </a:extLst>
          </p:cNvPr>
          <p:cNvSpPr>
            <a:spLocks noGrp="1"/>
          </p:cNvSpPr>
          <p:nvPr/>
        </p:nvSpPr>
        <p:spPr>
          <a:xfrm>
            <a:off x="4314825" y="2000250"/>
            <a:ext cx="3571875" cy="3143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eval-h-1">
            <a:extLst>
              <a:ext uri="{FF2B5EF4-FFF2-40B4-BE49-F238E27FC236}">
                <a16:creationId xmlns:a16="http://schemas.microsoft.com/office/drawing/2014/main" id="{73528A15-4799-4637-8BF8-D8C0447B9A25}"/>
              </a:ext>
            </a:extLst>
          </p:cNvPr>
          <p:cNvSpPr>
            <a:spLocks noGrp="1"/>
          </p:cNvSpPr>
          <p:nvPr/>
        </p:nvSpPr>
        <p:spPr>
          <a:xfrm>
            <a:off x="4581525" y="238125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3103"/>
          </a:bodyPr>
          <a:lstStyle/>
          <a:p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Uji antar-seed</a:t>
            </a:r>
          </a:p>
        </p:txBody>
      </p:sp>
      <p:sp>
        <p:nvSpPr>
          <p:cNvPr id="8" name="eval-b-1">
            <a:extLst>
              <a:ext uri="{FF2B5EF4-FFF2-40B4-BE49-F238E27FC236}">
                <a16:creationId xmlns:a16="http://schemas.microsoft.com/office/drawing/2014/main" id="{AEE7106D-8CD2-412F-87C9-32F2F1A8DF73}"/>
              </a:ext>
            </a:extLst>
          </p:cNvPr>
          <p:cNvSpPr>
            <a:spLocks noGrp="1"/>
          </p:cNvSpPr>
          <p:nvPr/>
        </p:nvSpPr>
        <p:spPr>
          <a:xfrm>
            <a:off x="4581525" y="3143250"/>
            <a:ext cx="30003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Paired t-test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Wilcoxon signed-rank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alpha = 0,05</a:t>
            </a:r>
          </a:p>
        </p:txBody>
      </p:sp>
      <p:sp>
        <p:nvSpPr>
          <p:cNvPr id="9" name="eval-card-2">
            <a:extLst>
              <a:ext uri="{FF2B5EF4-FFF2-40B4-BE49-F238E27FC236}">
                <a16:creationId xmlns:a16="http://schemas.microsoft.com/office/drawing/2014/main" id="{7FD1F85A-8738-4419-9F2A-6623D5E8EF94}"/>
              </a:ext>
            </a:extLst>
          </p:cNvPr>
          <p:cNvSpPr>
            <a:spLocks noGrp="1"/>
          </p:cNvSpPr>
          <p:nvPr/>
        </p:nvSpPr>
        <p:spPr>
          <a:xfrm>
            <a:off x="8229600" y="2000250"/>
            <a:ext cx="3571875" cy="3143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eval-h-2">
            <a:extLst>
              <a:ext uri="{FF2B5EF4-FFF2-40B4-BE49-F238E27FC236}">
                <a16:creationId xmlns:a16="http://schemas.microsoft.com/office/drawing/2014/main" id="{E170482B-FD42-4F73-8A43-3DFACB22DD46}"/>
              </a:ext>
            </a:extLst>
          </p:cNvPr>
          <p:cNvSpPr>
            <a:spLocks noGrp="1"/>
          </p:cNvSpPr>
          <p:nvPr/>
        </p:nvSpPr>
        <p:spPr>
          <a:xfrm>
            <a:off x="8496300" y="238125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3103"/>
          </a:bodyPr>
          <a:lstStyle/>
          <a:p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Uji sampel</a:t>
            </a:r>
          </a:p>
        </p:txBody>
      </p:sp>
      <p:sp>
        <p:nvSpPr>
          <p:cNvPr id="11" name="eval-b-2">
            <a:extLst>
              <a:ext uri="{FF2B5EF4-FFF2-40B4-BE49-F238E27FC236}">
                <a16:creationId xmlns:a16="http://schemas.microsoft.com/office/drawing/2014/main" id="{3101C1A5-394B-4AD4-BF07-E3AE919B07EC}"/>
              </a:ext>
            </a:extLst>
          </p:cNvPr>
          <p:cNvSpPr>
            <a:spLocks noGrp="1"/>
          </p:cNvSpPr>
          <p:nvPr/>
        </p:nvSpPr>
        <p:spPr>
          <a:xfrm>
            <a:off x="8496300" y="3143250"/>
            <a:ext cx="30003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McNemar test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Koreksi kontinuitas</a:t>
            </a:r>
          </a:p>
          <a:p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Pola benar-salah per sampel</a:t>
            </a:r>
          </a:p>
        </p:txBody>
      </p:sp>
      <p:sp>
        <p:nvSpPr>
          <p:cNvPr id="12" name="criteria">
            <a:extLst>
              <a:ext uri="{FF2B5EF4-FFF2-40B4-BE49-F238E27FC236}">
                <a16:creationId xmlns:a16="http://schemas.microsoft.com/office/drawing/2014/main" id="{740213DA-E44F-4AC7-A078-321FEB6B1BF3}"/>
              </a:ext>
            </a:extLst>
          </p:cNvPr>
          <p:cNvSpPr>
            <a:spLocks noGrp="1"/>
          </p:cNvSpPr>
          <p:nvPr/>
        </p:nvSpPr>
        <p:spPr>
          <a:xfrm>
            <a:off x="400050" y="56578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Strategi dinyatakan unggul bila peningkatan performa konsisten terhadap baseline dan didukung hasil uji statistik.</a:t>
            </a:r>
          </a:p>
        </p:txBody>
      </p:sp>
    </p:spTree>
    <p:extLst>
      <p:ext uri="{BB962C8B-B14F-4D97-AF65-F5344CB8AC3E}">
        <p14:creationId xmlns:p14="http://schemas.microsoft.com/office/powerpoint/2010/main" val="1263242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E36EEF2A-6831-4D45-A886-A08716C5E2D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Kontribusi yang diharapkan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65E19E8E-D379-4584-A020-B88C684CDA37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556" lnSpcReduction="10000"/>
          </a:bodyPr>
          <a:lstStyle/>
          <a:p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marker">
            <a:extLst>
              <a:ext uri="{FF2B5EF4-FFF2-40B4-BE49-F238E27FC236}">
                <a16:creationId xmlns:a16="http://schemas.microsoft.com/office/drawing/2014/main" id="{C6919157-FF5B-473F-B873-24F0DF859483}"/>
              </a:ext>
            </a:extLst>
          </p:cNvPr>
          <p:cNvSpPr>
            <a:spLocks noGrp="1"/>
          </p:cNvSpPr>
          <p:nvPr/>
        </p:nvSpPr>
        <p:spPr>
          <a:xfrm>
            <a:off x="400050" y="3429000"/>
            <a:ext cx="323850" cy="3238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" name="marker">
            <a:extLst>
              <a:ext uri="{FF2B5EF4-FFF2-40B4-BE49-F238E27FC236}">
                <a16:creationId xmlns:a16="http://schemas.microsoft.com/office/drawing/2014/main" id="{9C86EEEC-2F1B-444A-A4C6-B1252492B904}"/>
              </a:ext>
            </a:extLst>
          </p:cNvPr>
          <p:cNvSpPr>
            <a:spLocks noGrp="1"/>
          </p:cNvSpPr>
          <p:nvPr/>
        </p:nvSpPr>
        <p:spPr>
          <a:xfrm>
            <a:off x="4324350" y="3429000"/>
            <a:ext cx="323850" cy="3238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marker">
            <a:extLst>
              <a:ext uri="{FF2B5EF4-FFF2-40B4-BE49-F238E27FC236}">
                <a16:creationId xmlns:a16="http://schemas.microsoft.com/office/drawing/2014/main" id="{0C30FC11-1D43-45CC-9065-C41D80379042}"/>
              </a:ext>
            </a:extLst>
          </p:cNvPr>
          <p:cNvSpPr>
            <a:spLocks noGrp="1"/>
          </p:cNvSpPr>
          <p:nvPr/>
        </p:nvSpPr>
        <p:spPr>
          <a:xfrm>
            <a:off x="8248650" y="3429000"/>
            <a:ext cx="323850" cy="3238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6" name="c1">
            <a:extLst>
              <a:ext uri="{FF2B5EF4-FFF2-40B4-BE49-F238E27FC236}">
                <a16:creationId xmlns:a16="http://schemas.microsoft.com/office/drawing/2014/main" id="{31971483-A69C-4BBF-A6EE-01D31B3CECB8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314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 ringan</a:t>
            </a:r>
          </a:p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untuk smart bin</a:t>
            </a:r>
          </a:p>
        </p:txBody>
      </p:sp>
      <p:sp>
        <p:nvSpPr>
          <p:cNvPr id="7" name="c2">
            <a:extLst>
              <a:ext uri="{FF2B5EF4-FFF2-40B4-BE49-F238E27FC236}">
                <a16:creationId xmlns:a16="http://schemas.microsoft.com/office/drawing/2014/main" id="{9FF54713-924F-4695-BC94-6A63EE9E3CF2}"/>
              </a:ext>
            </a:extLst>
          </p:cNvPr>
          <p:cNvSpPr>
            <a:spLocks noGrp="1"/>
          </p:cNvSpPr>
          <p:nvPr/>
        </p:nvSpPr>
        <p:spPr>
          <a:xfrm>
            <a:off x="4324350" y="4095750"/>
            <a:ext cx="314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Rekomendasi</a:t>
            </a:r>
          </a:p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strategi KD</a:t>
            </a:r>
          </a:p>
        </p:txBody>
      </p:sp>
      <p:sp>
        <p:nvSpPr>
          <p:cNvPr id="8" name="c3">
            <a:extLst>
              <a:ext uri="{FF2B5EF4-FFF2-40B4-BE49-F238E27FC236}">
                <a16:creationId xmlns:a16="http://schemas.microsoft.com/office/drawing/2014/main" id="{F397DD24-B268-41D4-AE73-53AF4D8776F1}"/>
              </a:ext>
            </a:extLst>
          </p:cNvPr>
          <p:cNvSpPr>
            <a:spLocks noGrp="1"/>
          </p:cNvSpPr>
          <p:nvPr/>
        </p:nvSpPr>
        <p:spPr>
          <a:xfrm>
            <a:off x="8248650" y="4095750"/>
            <a:ext cx="314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Bukti empiris</a:t>
            </a:r>
          </a:p>
          <a:p>
            <a:pPr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capacity gap</a:t>
            </a:r>
          </a:p>
        </p:txBody>
      </p:sp>
      <p:sp>
        <p:nvSpPr>
          <p:cNvPr id="9" name="closing">
            <a:extLst>
              <a:ext uri="{FF2B5EF4-FFF2-40B4-BE49-F238E27FC236}">
                <a16:creationId xmlns:a16="http://schemas.microsoft.com/office/drawing/2014/main" id="{257AB91E-138A-49B0-BEFD-F7F182744900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9620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Pertanyaan inti sempro: apakah teacher menengah lebih efektif daripada teacher besar ketika student sangat ringan?</a:t>
            </a:r>
          </a:p>
        </p:txBody>
      </p:sp>
    </p:spTree>
    <p:extLst>
      <p:ext uri="{BB962C8B-B14F-4D97-AF65-F5344CB8AC3E}">
        <p14:creationId xmlns:p14="http://schemas.microsoft.com/office/powerpoint/2010/main" val="9286478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809</Words>
  <Application>Microsoft Office PowerPoint</Application>
  <DocSecurity>0</DocSecurity>
  <PresentationFormat>Layar Lebar</PresentationFormat>
  <Paragraphs>183</Paragraphs>
  <Slides>13</Slides>
  <Notes>13</Notes>
  <HiddenSlides>0</HiddenSlides>
  <MMClips>0</MMClips>
  <ScaleCrop>false</ScaleCrop>
  <HeadingPairs>
    <vt:vector size="6" baseType="variant">
      <vt:variant>
        <vt:lpstr>Font Dipakai</vt:lpstr>
      </vt:variant>
      <vt:variant>
        <vt:i4>2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13</vt:i4>
      </vt:variant>
    </vt:vector>
  </HeadingPairs>
  <TitlesOfParts>
    <vt:vector size="16" baseType="lpstr">
      <vt:lpstr>Calibri</vt:lpstr>
      <vt:lpstr>Helvetica Neue</vt:lpstr>
      <vt:lpstr>ChatGPT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Hamza Pratama</cp:lastModifiedBy>
  <cp:revision>1</cp:revision>
  <dcterms:created xsi:type="dcterms:W3CDTF">2026-07-01T06:15:18Z</dcterms:created>
  <dcterms:modified xsi:type="dcterms:W3CDTF">2026-07-01T06:32:17Z</dcterms:modified>
</cp:coreProperties>
</file>