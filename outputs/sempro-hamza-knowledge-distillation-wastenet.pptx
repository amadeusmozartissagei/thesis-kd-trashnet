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PEMBUKAAN. Beri salam, sebut nama &amp; NIM.</a:t>
            </a:r>
          </a:p>
          <a:p>
            <a:r>
              <a:rPr lang="id-ID" dirty="0"/>
              <a:t>"Saya akan mempresentasikan proposal skripsi berjudul Knowledge Distillation berbasis Teacher-Assistant untuk model ringan WasteNet pada klasifikasi citra sampah TrashNet."</a:t>
            </a:r>
          </a:p>
          <a:p>
            <a:r>
              <a:rPr lang="id-ID" dirty="0"/>
              <a:t>Tekankan: ini PROPOSAL. Santai, jangan buru-buru.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Baca cepat peta presentasi, jangan lama.</a:t>
            </a:r>
          </a:p>
          <a:p>
            <a:r>
              <a:rPr lang="id-ID" dirty="0"/>
              <a:t>"Saya akan bahas konteks &amp; masalah, celah riset, rumusan &amp; tujuan, dataset, model, strategi distilasi &amp; protokol, lalu evaluasi &amp; kontribusi."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Masalah: pemilahan sampah manual tidak konsisten; CNN akurat tapi BERAT, sulit dipasang di smart bin / edge device.</a:t>
            </a:r>
          </a:p>
          <a:p>
            <a:r>
              <a:rPr lang="id-ID" dirty="0"/>
              <a:t>Jadi butuh model yang akurat TAPI ringan.</a:t>
            </a:r>
          </a:p>
          <a:p>
            <a:r>
              <a:rPr lang="id-ID" dirty="0"/>
              <a:t>"Solusinya knowledge distillation: mentransfer pengetahuan dari model besar (guru) ke model kecil (student)."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Penelitian sebelumnya (Focus-RCNet) sudah pakai KD di TrashNet (~92%), tapi belum sistematis membandingkan KAPASITAS guru untuk student yang sangat kecil.</a:t>
            </a:r>
          </a:p>
          <a:p>
            <a:r>
              <a:rPr lang="id-ID" dirty="0"/>
              <a:t>Kebaruan saya (tunjuk bullet): WasteNet 128K &amp; 256K yang ultra-ringan; membandingkan 3 strategi guru (besar / asisten / diri sendiri); dua ruang label K6 &amp; K5; divalidasi statistik.</a:t>
            </a:r>
          </a:p>
          <a:p>
            <a:r>
              <a:rPr lang="id-ID" dirty="0"/>
              <a:t>CATATAN: angka 92% itu klaim paper acuan, bukan hasil saya.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Tiga rumusan masalah: (1) bagaimana membangun WasteNet ringan dengan KD; (2) bagaimana pengaruh kapasitas guru terhadap performa student; (3) apakah bedanya signifikan dibanding tanpa KD.</a:t>
            </a:r>
          </a:p>
          <a:p>
            <a:r>
              <a:rPr lang="id-ID" dirty="0"/>
              <a:t>Tujuan akhir: menentukan strategi distilasi paling efektif untuk student berkapasitas kecil.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Dataset TrashNet: 2.527 citra, 6 kelas; setelah dedup 2.521 yang dipakai. Split 70/15/15 stratified.</a:t>
            </a:r>
          </a:p>
          <a:p>
            <a:r>
              <a:rPr lang="id-ID" dirty="0"/>
              <a:t>Saya uji dua skema label: K6 (6 kelas) dan K5 (tanpa trash), karena kelas trash paling sedikit (137) &amp; heterogen.</a:t>
            </a:r>
          </a:p>
          <a:p>
            <a:r>
              <a:rPr lang="id-ID" dirty="0"/>
              <a:t>JIKA DITANYA data leakage / preprocessing: buka slide cadangan Protokol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Tiga model sepanjang kurva kapasitas:</a:t>
            </a:r>
          </a:p>
          <a:p>
            <a:r>
              <a:rPr lang="id-ID" dirty="0"/>
              <a:t>EfficientNet-B4 (17,6 juta) = guru besar / batas atas. Focus-RCNet (520 ribu) = asisten menengah. WasteNet (128K/256K) = student ringan, target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Tunjuk panah satu per satu:</a:t>
            </a:r>
          </a:p>
          <a:p>
            <a:r>
              <a:rPr lang="id-ID" dirty="0"/>
              <a:t>Direct KD (panah hitam): guru besar LANGSUNG ke student. TA-KD (panah oranye): lewat asisten dulu -- ini METODE INTI saya. Self-KD (loop abu): student belajar dari versi dirinya sendiri.</a:t>
            </a:r>
          </a:p>
          <a:p>
            <a:r>
              <a:rPr lang="id-ID" dirty="0"/>
              <a:t>RUMUS di bawah = fungsi loss yang diminimalkan student. Dua bagian: belajar dari jawaban benar (L_CE) + meniru cara berpikir guru (D_KL). alpha mengatur seimbang keduanya; T melunakkan output guru supaya kemiripan antar-kelas ikut ter-transfer.</a:t>
            </a:r>
          </a:p>
          <a:p>
            <a:r>
              <a:rPr lang="id-ID" dirty="0"/>
              <a:t>(Penjelasan detail tiap variabel sudah saya kuasai -- lihat lembar rumus.)</a:t>
            </a:r>
          </a:p>
          <a:p>
            <a:r>
              <a:rPr lang="id-ID" dirty="0"/>
              <a:t>JIKA DITANYA jenis KD: semua response/logits-based (bukan feature-based). 'Direct KD' = vanilla KD standar Hinton; 'Self-distillation' = Born-Again (Furlanello).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Alur penelitian, kiri ke kanan (ikuti panah): studi literatur -&gt; siapkan data -&gt; rancang model -&gt; latih -&gt; evaluasi -&gt; uji statistik.</a:t>
            </a:r>
          </a:p>
          <a:p>
            <a:r>
              <a:rPr lang="id-ID" dirty="0"/>
              <a:t>Tahap latih--evaluasi diulang untuk 9 skenario x 5 seed; yang DIVARIASIKAN hanya strategi gurunya, sisanya identik supaya perbandingan adil.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Preprocessing: RGB, resize 380 untuk guru/asisten, 160 untuk WasteNet. Augmentasi HANYA di data latih.</a:t>
            </a:r>
          </a:p>
          <a:p>
            <a:r>
              <a:rPr lang="id-ID" dirty="0"/>
              <a:t>Optimizer SGD (momentum 0,9, weight decay 1e-4), cosine annealing, 100 epoch, checkpoint terbaik dari akurasi validasi.</a:t>
            </a:r>
          </a:p>
          <a:p>
            <a:r>
              <a:rPr lang="id-ID" dirty="0"/>
              <a:t>T dan alpha dipilih lewat pilot di seed 42, lalu dibekukan. Semua diulang 5 seed supaya hasilnya stabil, bukan kebetulan.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Ini peta semua percobaan (tabel rujukan, tak perlu dibaca satu-satu).</a:t>
            </a:r>
          </a:p>
          <a:p>
            <a:r>
              <a:rPr lang="id-ID" dirty="0"/>
              <a:t>R1 guru besar; R2 asisten; R3/R6 baseline student tanpa KD; R4/R7 direct KD; R5/R8 TA-KD; R9 self-distillation. Kolom 'guru soft-label' = dari mana student belajar.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Metrik: accuracy, macro F1, confusion matrix.</a:t>
            </a:r>
          </a:p>
          <a:p>
            <a:r>
              <a:rPr lang="id-ID" dirty="0"/>
              <a:t>Uji antar-seed: paired t-test &amp; Wilcoxon. Uji per-sampel: McNemar. alpha = 0,05.</a:t>
            </a:r>
          </a:p>
          <a:p>
            <a:r>
              <a:rPr lang="id-ID" dirty="0"/>
              <a:t>Strategi dianggap unggul kalau naik KONSISTEN dan LOLOS uji statistik -- bukan sekadar angka lebih 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Kontribusi: model ringan untuk smart bin; rekomendasi strategi KD; bukti empiris soal capacity gap.</a:t>
            </a:r>
          </a:p>
          <a:p>
            <a:r>
              <a:rPr lang="id-ID" dirty="0"/>
              <a:t>Pertanyaan inti skripsi: apakah guru menengah lebih efektif daripada guru besar saat student sangat ringan?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Rujukan utama (tunjuk saja, tak perlu dibaca): Focus-RCNet/Zheng 2023 (acuan), Hinton 2015 (KD), Mirzadeh 2020 (teacher assistant), Furlanello 2018 (born-again).</a:t>
            </a:r>
          </a:p>
          <a:p>
            <a:r>
              <a:rPr lang="id-ID" dirty="0"/>
              <a:t>"Daftar lengkap mengikuti APA edisi ke-7 di dokumen proposal."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PENUTUP. "Terima kasih, saya terbuka untuk pertanyaan, saran, dan masukan."</a:t>
            </a:r>
          </a:p>
          <a:p>
            <a:r>
              <a:rPr lang="id-ID" dirty="0"/>
              <a:t>Jika ditanya hasil / leakage / bukti per-kelas: buka slide cadangan setelah ini (16-18).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CADANGAN -- buka kalau ditanya data leakage / preprocessing.</a:t>
            </a:r>
          </a:p>
          <a:p>
            <a:r>
              <a:rPr lang="id-ID" dirty="0"/>
              <a:t>Poin: split dikunci SEBELUM training; dedup by hash; augmentasi train-only; normalisasi ImageNet (bukan dihitung dari data); ada assertion otomatis anti-overlap train/val/test.</a:t>
            </a:r>
          </a:p>
          <a:p>
            <a:r>
              <a:rPr lang="id-ID" dirty="0"/>
              <a:t>Kesimpulan: secara struktural tidak mungkin ada kebocoran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CADANGAN -- buka kalau ditanya 'sudah dijalankan?' / 'hasilnya bagaimana?'.</a:t>
            </a:r>
          </a:p>
          <a:p>
            <a:r>
              <a:rPr lang="id-ID" dirty="0"/>
              <a:t>Sudah dirun 5 seed. Yang MENANG &amp; konsisten 5/5 hanya TA-KD 256K (R8): +1,0pp K6 / +1,4pp K5, signifikan.</a:t>
            </a:r>
          </a:p>
          <a:p>
            <a:r>
              <a:rPr lang="id-ID" dirty="0"/>
              <a:t>Direct KD dari guru besar wash (gejala capacity gap). Student terbaik 78,7% / 82,4%; batas atas guru B4 94,5% / 95,8%.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CADANGAN -- buka kalau ditanya 'yakin ini efek nyata, bukan kebetulan?'.</a:t>
            </a:r>
          </a:p>
          <a:p>
            <a:r>
              <a:rPr lang="id-ID" dirty="0"/>
              <a:t>Kenaikan F1 TERKONSENTRASI di kelas tersulit: glass, metal, plastic -- yang paling gampang ketuker.</a:t>
            </a:r>
          </a:p>
          <a:p>
            <a:r>
              <a:rPr lang="id-ID" dirty="0"/>
              <a:t>Artinya asisten mentransfer dark knowledge nyata, bukan naik acak. Kelas trash malah turun -&gt; itu sebabnya K5 lebih bersih.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>
            <a:extLst>
              <a:ext uri="{FF2B5EF4-FFF2-40B4-BE49-F238E27FC236}">
                <a16:creationId xmlns:a16="http://schemas.microsoft.com/office/drawing/2014/main" id="{7A2F13A5-557E-4A0A-99ED-914945420A5D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389" lnSpcReduction="20000"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SEMINAR PROPOSAL SKRIPSI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9CB26A92-682F-4A31-A790-C26161260624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914400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583" lnSpcReduction="20000"/>
          </a:bodyPr>
          <a:lstStyle/>
          <a:p>
            <a:pPr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Knowledge Distillation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Berbasis</a:t>
            </a: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Teacher-Assistant untuk Model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Ringan</a:t>
            </a: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WasteNet</a:t>
            </a: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pada Klasifikasi Citra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Sampah</a:t>
            </a: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TrashNet</a:t>
            </a:r>
            <a:r>
              <a:rPr lang="en-US"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</a:t>
            </a:r>
            <a:r>
              <a:rPr lang="en-US" sz="3750" b="1" dirty="0"/>
              <a:t>engan </a:t>
            </a:r>
            <a:r>
              <a:rPr lang="en-US" sz="3750" b="1" dirty="0" err="1"/>
              <a:t>Perbandingan</a:t>
            </a:r>
            <a:r>
              <a:rPr lang="en-US" sz="3750" b="1" dirty="0"/>
              <a:t> Large-teacher, Assistant</a:t>
            </a:r>
            <a:r>
              <a:rPr lang="en-US" sz="3750" b="1"/>
              <a:t>, dan </a:t>
            </a:r>
            <a:r>
              <a:rPr lang="en-US" sz="3750" b="1" dirty="0"/>
              <a:t>Self-distillation </a:t>
            </a:r>
            <a:endParaRPr lang="en-US" sz="375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ver-band">
            <a:extLst>
              <a:ext uri="{FF2B5EF4-FFF2-40B4-BE49-F238E27FC236}">
                <a16:creationId xmlns:a16="http://schemas.microsoft.com/office/drawing/2014/main" id="{9CBDA3A1-F263-4B46-92FF-FE187F962C1B}"/>
              </a:ext>
            </a:extLst>
          </p:cNvPr>
          <p:cNvSpPr>
            <a:spLocks noGrp="1"/>
          </p:cNvSpPr>
          <p:nvPr/>
        </p:nvSpPr>
        <p:spPr>
          <a:xfrm>
            <a:off x="0" y="4171950"/>
            <a:ext cx="12192000" cy="2686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marker">
            <a:extLst>
              <a:ext uri="{FF2B5EF4-FFF2-40B4-BE49-F238E27FC236}">
                <a16:creationId xmlns:a16="http://schemas.microsoft.com/office/drawing/2014/main" id="{3C1D9953-80F7-4357-A7B5-8F75D94B95E8}"/>
              </a:ext>
            </a:extLst>
          </p:cNvPr>
          <p:cNvSpPr>
            <a:spLocks noGrp="1"/>
          </p:cNvSpPr>
          <p:nvPr/>
        </p:nvSpPr>
        <p:spPr>
          <a:xfrm>
            <a:off x="4324350" y="4657725"/>
            <a:ext cx="257175" cy="2571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5" name="marker">
            <a:extLst>
              <a:ext uri="{FF2B5EF4-FFF2-40B4-BE49-F238E27FC236}">
                <a16:creationId xmlns:a16="http://schemas.microsoft.com/office/drawing/2014/main" id="{6C0564C7-924F-4CB6-81D2-8D9DBDB65FED}"/>
              </a:ext>
            </a:extLst>
          </p:cNvPr>
          <p:cNvSpPr>
            <a:spLocks noGrp="1"/>
          </p:cNvSpPr>
          <p:nvPr/>
        </p:nvSpPr>
        <p:spPr>
          <a:xfrm>
            <a:off x="8239125" y="4657725"/>
            <a:ext cx="257175" cy="2571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6" name="author-label">
            <a:extLst>
              <a:ext uri="{FF2B5EF4-FFF2-40B4-BE49-F238E27FC236}">
                <a16:creationId xmlns:a16="http://schemas.microsoft.com/office/drawing/2014/main" id="{30BC7525-10EA-45F8-A674-886764865658}"/>
              </a:ext>
            </a:extLst>
          </p:cNvPr>
          <p:cNvSpPr>
            <a:spLocks noGrp="1"/>
          </p:cNvSpPr>
          <p:nvPr/>
        </p:nvSpPr>
        <p:spPr>
          <a:xfrm>
            <a:off x="4324350" y="509587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Mahasiswa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425B0154-D782-4700-8038-202879265225}"/>
              </a:ext>
            </a:extLst>
          </p:cNvPr>
          <p:cNvSpPr>
            <a:spLocks noGrp="1"/>
          </p:cNvSpPr>
          <p:nvPr/>
        </p:nvSpPr>
        <p:spPr>
          <a:xfrm>
            <a:off x="4324350" y="539115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795" lnSpcReduction="10000"/>
          </a:bodyPr>
          <a:lstStyle/>
          <a:p>
            <a:pPr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Hamza Pratama</a:t>
            </a:r>
          </a:p>
          <a:p>
            <a:pPr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4611422068</a:t>
            </a:r>
          </a:p>
        </p:txBody>
      </p:sp>
      <p:sp>
        <p:nvSpPr>
          <p:cNvPr id="8" name="program-label">
            <a:extLst>
              <a:ext uri="{FF2B5EF4-FFF2-40B4-BE49-F238E27FC236}">
                <a16:creationId xmlns:a16="http://schemas.microsoft.com/office/drawing/2014/main" id="{AEC30C02-65B8-48E6-B2F6-3EC2176AD50F}"/>
              </a:ext>
            </a:extLst>
          </p:cNvPr>
          <p:cNvSpPr>
            <a:spLocks noGrp="1"/>
          </p:cNvSpPr>
          <p:nvPr/>
        </p:nvSpPr>
        <p:spPr>
          <a:xfrm>
            <a:off x="8239125" y="509587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Program</a:t>
            </a:r>
          </a:p>
        </p:txBody>
      </p:sp>
      <p:sp>
        <p:nvSpPr>
          <p:cNvPr id="9" name="program">
            <a:extLst>
              <a:ext uri="{FF2B5EF4-FFF2-40B4-BE49-F238E27FC236}">
                <a16:creationId xmlns:a16="http://schemas.microsoft.com/office/drawing/2014/main" id="{F253EFF4-7D4B-486E-A060-E8866E05B040}"/>
              </a:ext>
            </a:extLst>
          </p:cNvPr>
          <p:cNvSpPr>
            <a:spLocks noGrp="1"/>
          </p:cNvSpPr>
          <p:nvPr/>
        </p:nvSpPr>
        <p:spPr>
          <a:xfrm>
            <a:off x="8239125" y="539115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4981" lnSpcReduction="20000"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S1 Teknik Informatika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FMIPA Universitas Negeri Semarang - 2026</a:t>
            </a:r>
          </a:p>
        </p:txBody>
      </p:sp>
      <p:sp>
        <p:nvSpPr>
          <p:cNvPr id="10" name="slide-number">
            <a:extLst>
              <a:ext uri="{FF2B5EF4-FFF2-40B4-BE49-F238E27FC236}">
                <a16:creationId xmlns:a16="http://schemas.microsoft.com/office/drawing/2014/main" id="{359197C7-BE63-45B6-94C5-A85FE504BADF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7397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">
            <a:extLst>
              <a:ext uri="{FF2B5EF4-FFF2-40B4-BE49-F238E27FC236}">
                <a16:creationId xmlns:a16="http://schemas.microsoft.com/office/drawing/2014/main" id="{D74AE598-C70A-4EEB-A6B3-E1E3C99208A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889" lnSpcReduction="10000"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ALUR PRESENTASI</a:t>
            </a:r>
          </a:p>
        </p:txBody>
      </p:sp>
      <p:sp>
        <p:nvSpPr>
          <p:cNvPr id="2" name="agenda-items">
            <a:extLst>
              <a:ext uri="{FF2B5EF4-FFF2-40B4-BE49-F238E27FC236}">
                <a16:creationId xmlns:a16="http://schemas.microsoft.com/office/drawing/2014/main" id="{5EA2E296-8735-4A4D-B2FB-14E31FC52C33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524750" cy="514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Konteks dan masalah penelitian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Celah riset dan kebaruan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Rumusan masalah dan tujuan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Dataset TrashNet dan skema label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Model: EfficientNet-B4, Focus-RCNet, WasteNet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Strategi distilasi dan protokol eksperimen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Evaluasi, uji statistik, dan kontribusi</a:t>
            </a:r>
          </a:p>
        </p:txBody>
      </p:sp>
      <p:sp>
        <p:nvSpPr>
          <p:cNvPr id="3" name="agenda-no">
            <a:extLst>
              <a:ext uri="{FF2B5EF4-FFF2-40B4-BE49-F238E27FC236}">
                <a16:creationId xmlns:a16="http://schemas.microsoft.com/office/drawing/2014/main" id="{ADC07EF6-8D24-4CC3-9C59-FC136366E933}"/>
              </a:ext>
            </a:extLst>
          </p:cNvPr>
          <p:cNvSpPr>
            <a:spLocks noGrp="1"/>
          </p:cNvSpPr>
          <p:nvPr/>
        </p:nvSpPr>
        <p:spPr>
          <a:xfrm>
            <a:off x="9906000" y="914400"/>
            <a:ext cx="1714500" cy="514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slide-number">
            <a:extLst>
              <a:ext uri="{FF2B5EF4-FFF2-40B4-BE49-F238E27FC236}">
                <a16:creationId xmlns:a16="http://schemas.microsoft.com/office/drawing/2014/main" id="{7CCC590D-20C0-4C41-9FDE-7622A1DAB65D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089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A5268F15-0D32-4331-A3BF-65D1204095C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Masalah utama: akurasi perlu bertemu efisiensi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E8328B70-DA20-4A13-91EC-D72B54D86A43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lead">
            <a:extLst>
              <a:ext uri="{FF2B5EF4-FFF2-40B4-BE49-F238E27FC236}">
                <a16:creationId xmlns:a16="http://schemas.microsoft.com/office/drawing/2014/main" id="{2601C068-4580-4216-83FC-A117B11EE0EE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Pemilahan sampah manual masih rentan tidak konsisten, sementara CNN akurat sering terlalu berat untuk smart bin atau edge device.</a:t>
            </a:r>
          </a:p>
        </p:txBody>
      </p:sp>
      <p:sp>
        <p:nvSpPr>
          <p:cNvPr id="4" name="context-card-0">
            <a:extLst>
              <a:ext uri="{FF2B5EF4-FFF2-40B4-BE49-F238E27FC236}">
                <a16:creationId xmlns:a16="http://schemas.microsoft.com/office/drawing/2014/main" id="{EA8C3D38-0127-437F-9FCA-C5BD550E9619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3571875" cy="2819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context-head-0">
            <a:extLst>
              <a:ext uri="{FF2B5EF4-FFF2-40B4-BE49-F238E27FC236}">
                <a16:creationId xmlns:a16="http://schemas.microsoft.com/office/drawing/2014/main" id="{C21147DD-0476-49F0-9572-90221931DC9F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Kebutuhan aplikasi</a:t>
            </a:r>
          </a:p>
        </p:txBody>
      </p:sp>
      <p:sp>
        <p:nvSpPr>
          <p:cNvPr id="6" name="context-body-0">
            <a:extLst>
              <a:ext uri="{FF2B5EF4-FFF2-40B4-BE49-F238E27FC236}">
                <a16:creationId xmlns:a16="http://schemas.microsoft.com/office/drawing/2014/main" id="{E72E9B99-F752-4E81-94E0-B497B244E737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3000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Klasifikasi cepat untuk cardboard, glass, metal, paper, plastic, dan trash.</a:t>
            </a:r>
          </a:p>
        </p:txBody>
      </p:sp>
      <p:sp>
        <p:nvSpPr>
          <p:cNvPr id="7" name="context-card-1">
            <a:extLst>
              <a:ext uri="{FF2B5EF4-FFF2-40B4-BE49-F238E27FC236}">
                <a16:creationId xmlns:a16="http://schemas.microsoft.com/office/drawing/2014/main" id="{328D8880-9135-4F2F-A4F5-B22DB4931533}"/>
              </a:ext>
            </a:extLst>
          </p:cNvPr>
          <p:cNvSpPr>
            <a:spLocks noGrp="1"/>
          </p:cNvSpPr>
          <p:nvPr/>
        </p:nvSpPr>
        <p:spPr>
          <a:xfrm>
            <a:off x="4314825" y="2686050"/>
            <a:ext cx="3571875" cy="2819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context-head-1">
            <a:extLst>
              <a:ext uri="{FF2B5EF4-FFF2-40B4-BE49-F238E27FC236}">
                <a16:creationId xmlns:a16="http://schemas.microsoft.com/office/drawing/2014/main" id="{9EDEF905-E9AC-40C7-81AB-0262DB4690DF}"/>
              </a:ext>
            </a:extLst>
          </p:cNvPr>
          <p:cNvSpPr>
            <a:spLocks noGrp="1"/>
          </p:cNvSpPr>
          <p:nvPr/>
        </p:nvSpPr>
        <p:spPr>
          <a:xfrm>
            <a:off x="4581525" y="29908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Kendala deployment</a:t>
            </a:r>
          </a:p>
        </p:txBody>
      </p:sp>
      <p:sp>
        <p:nvSpPr>
          <p:cNvPr id="9" name="context-body-1">
            <a:extLst>
              <a:ext uri="{FF2B5EF4-FFF2-40B4-BE49-F238E27FC236}">
                <a16:creationId xmlns:a16="http://schemas.microsoft.com/office/drawing/2014/main" id="{90993F08-90C9-47C1-A949-FC6C7AA4097B}"/>
              </a:ext>
            </a:extLst>
          </p:cNvPr>
          <p:cNvSpPr>
            <a:spLocks noGrp="1"/>
          </p:cNvSpPr>
          <p:nvPr/>
        </p:nvSpPr>
        <p:spPr>
          <a:xfrm>
            <a:off x="4581525" y="3695700"/>
            <a:ext cx="3000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besar membutuhkan komputasi tinggi, tidak ideal untuk perangkat terbatas.</a:t>
            </a:r>
          </a:p>
        </p:txBody>
      </p:sp>
      <p:sp>
        <p:nvSpPr>
          <p:cNvPr id="10" name="context-card-2">
            <a:extLst>
              <a:ext uri="{FF2B5EF4-FFF2-40B4-BE49-F238E27FC236}">
                <a16:creationId xmlns:a16="http://schemas.microsoft.com/office/drawing/2014/main" id="{2001BADF-D680-45AD-8710-4FFDC19ED5A0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3571875" cy="2819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context-head-2">
            <a:extLst>
              <a:ext uri="{FF2B5EF4-FFF2-40B4-BE49-F238E27FC236}">
                <a16:creationId xmlns:a16="http://schemas.microsoft.com/office/drawing/2014/main" id="{DC7EAB8C-12D5-4F6B-92DE-0AAB417AB4B4}"/>
              </a:ext>
            </a:extLst>
          </p:cNvPr>
          <p:cNvSpPr>
            <a:spLocks noGrp="1"/>
          </p:cNvSpPr>
          <p:nvPr/>
        </p:nvSpPr>
        <p:spPr>
          <a:xfrm>
            <a:off x="8496300" y="29908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Solusi riset</a:t>
            </a:r>
          </a:p>
        </p:txBody>
      </p:sp>
      <p:sp>
        <p:nvSpPr>
          <p:cNvPr id="12" name="context-body-2">
            <a:extLst>
              <a:ext uri="{FF2B5EF4-FFF2-40B4-BE49-F238E27FC236}">
                <a16:creationId xmlns:a16="http://schemas.microsoft.com/office/drawing/2014/main" id="{D0AFFF09-0D2F-4848-A5B4-C076F4D2CB75}"/>
              </a:ext>
            </a:extLst>
          </p:cNvPr>
          <p:cNvSpPr>
            <a:spLocks noGrp="1"/>
          </p:cNvSpPr>
          <p:nvPr/>
        </p:nvSpPr>
        <p:spPr>
          <a:xfrm>
            <a:off x="8496300" y="3695700"/>
            <a:ext cx="3000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Knowledge distillation mentransfer dark knowledge dari teacher ke student ringan.</a:t>
            </a:r>
          </a:p>
        </p:txBody>
      </p:sp>
    </p:spTree>
    <p:extLst>
      <p:ext uri="{BB962C8B-B14F-4D97-AF65-F5344CB8AC3E}">
        <p14:creationId xmlns:p14="http://schemas.microsoft.com/office/powerpoint/2010/main" val="122333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3CA53979-4A65-4D27-85FE-BF7F4A077D6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Celah riset: capacity gap pada student sangat kecil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5EF55E3-A5F5-4610-8574-AFB7ABA0ADE6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B886424F-4555-48E0-B17A-FF77CE8155CC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49530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Penelitian terdahulu seperti Focus-RCNet melaporkan akurasi sekitar 92% pada TrashNet dengan KD dari EfficientNet-B4. Namun, fokusnya belum pada perbandingan sistematis kapasitas teacher untuk student ultra-ringan.</a:t>
            </a:r>
          </a:p>
        </p:txBody>
      </p:sp>
      <p:sp>
        <p:nvSpPr>
          <p:cNvPr id="4" name="right-panel">
            <a:extLst>
              <a:ext uri="{FF2B5EF4-FFF2-40B4-BE49-F238E27FC236}">
                <a16:creationId xmlns:a16="http://schemas.microsoft.com/office/drawing/2014/main" id="{AEE0C7F7-5A85-437A-8406-AD5369AD2C25}"/>
              </a:ext>
            </a:extLst>
          </p:cNvPr>
          <p:cNvSpPr>
            <a:spLocks noGrp="1"/>
          </p:cNvSpPr>
          <p:nvPr/>
        </p:nvSpPr>
        <p:spPr>
          <a:xfrm>
            <a:off x="6172200" y="1200150"/>
            <a:ext cx="5619750" cy="40481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gap-label">
            <a:extLst>
              <a:ext uri="{FF2B5EF4-FFF2-40B4-BE49-F238E27FC236}">
                <a16:creationId xmlns:a16="http://schemas.microsoft.com/office/drawing/2014/main" id="{04667828-F072-4C0E-BB27-F83C40D7917C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Kebaruan yang diuji</a:t>
            </a:r>
          </a:p>
        </p:txBody>
      </p:sp>
      <p:sp>
        <p:nvSpPr>
          <p:cNvPr id="6" name="gap-points">
            <a:extLst>
              <a:ext uri="{FF2B5EF4-FFF2-40B4-BE49-F238E27FC236}">
                <a16:creationId xmlns:a16="http://schemas.microsoft.com/office/drawing/2014/main" id="{17434EE7-5E26-4AE9-8C32-EB82448CD60A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4762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lnSpcReduction="10000"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Menggunakan WasteNet-128K dan WasteNet-256K sebagai target student ringan.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Membandingkan large-teacher, teacher-assistant, dan self-distillation secara terkontrol.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Menggunakan dua ruang label: K6 dan K5 tanpa kelas trash.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Memvalidasi selisih performa dengan uji statistik.</a:t>
            </a:r>
          </a:p>
        </p:txBody>
      </p:sp>
    </p:spTree>
    <p:extLst>
      <p:ext uri="{BB962C8B-B14F-4D97-AF65-F5344CB8AC3E}">
        <p14:creationId xmlns:p14="http://schemas.microsoft.com/office/powerpoint/2010/main" val="92665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F99C13D1-DF1F-4F0B-A6C0-F48D1925EFF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Rumusan masalah dan tujuan penelitian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AE51DD4-26DE-493C-A5C7-EECF52B0775F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marker">
            <a:extLst>
              <a:ext uri="{FF2B5EF4-FFF2-40B4-BE49-F238E27FC236}">
                <a16:creationId xmlns:a16="http://schemas.microsoft.com/office/drawing/2014/main" id="{3FABA172-B92B-4B15-A5E1-5F678BCFD91E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266700" cy="2667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q-no-0">
            <a:extLst>
              <a:ext uri="{FF2B5EF4-FFF2-40B4-BE49-F238E27FC236}">
                <a16:creationId xmlns:a16="http://schemas.microsoft.com/office/drawing/2014/main" id="{5098CC79-649D-449E-8D3E-91BBE38E6D89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500" lnSpcReduction="10000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q-text-0">
            <a:extLst>
              <a:ext uri="{FF2B5EF4-FFF2-40B4-BE49-F238E27FC236}">
                <a16:creationId xmlns:a16="http://schemas.microsoft.com/office/drawing/2014/main" id="{7030E50B-593A-418F-A299-81DAB9C87747}"/>
              </a:ext>
            </a:extLst>
          </p:cNvPr>
          <p:cNvSpPr>
            <a:spLocks noGrp="1"/>
          </p:cNvSpPr>
          <p:nvPr/>
        </p:nvSpPr>
        <p:spPr>
          <a:xfrm>
            <a:off x="1695450" y="142875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3889" lnSpcReduction="10000"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Bagaimana membangun WasteNet ringan untuk klasifikasi citra sampah TrashNet dengan KD?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23CCC51A-E148-4186-B7CF-19BFFD9F01DC}"/>
              </a:ext>
            </a:extLst>
          </p:cNvPr>
          <p:cNvSpPr>
            <a:spLocks noGrp="1"/>
          </p:cNvSpPr>
          <p:nvPr/>
        </p:nvSpPr>
        <p:spPr>
          <a:xfrm>
            <a:off x="1695450" y="2324100"/>
            <a:ext cx="7429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marker">
            <a:extLst>
              <a:ext uri="{FF2B5EF4-FFF2-40B4-BE49-F238E27FC236}">
                <a16:creationId xmlns:a16="http://schemas.microsoft.com/office/drawing/2014/main" id="{3D66B239-75EE-44DB-922B-AB2F4EAC6BD5}"/>
              </a:ext>
            </a:extLst>
          </p:cNvPr>
          <p:cNvSpPr>
            <a:spLocks noGrp="1"/>
          </p:cNvSpPr>
          <p:nvPr/>
        </p:nvSpPr>
        <p:spPr>
          <a:xfrm>
            <a:off x="400050" y="2800350"/>
            <a:ext cx="266700" cy="2667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q-no-1">
            <a:extLst>
              <a:ext uri="{FF2B5EF4-FFF2-40B4-BE49-F238E27FC236}">
                <a16:creationId xmlns:a16="http://schemas.microsoft.com/office/drawing/2014/main" id="{2AF4128F-8EE5-4DE9-94DB-19D79A6F3BC4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500" lnSpcReduction="10000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q-text-1">
            <a:extLst>
              <a:ext uri="{FF2B5EF4-FFF2-40B4-BE49-F238E27FC236}">
                <a16:creationId xmlns:a16="http://schemas.microsoft.com/office/drawing/2014/main" id="{013A1B62-DB0B-40B8-9663-4EF67760D45F}"/>
              </a:ext>
            </a:extLst>
          </p:cNvPr>
          <p:cNvSpPr>
            <a:spLocks noGrp="1"/>
          </p:cNvSpPr>
          <p:nvPr/>
        </p:nvSpPr>
        <p:spPr>
          <a:xfrm>
            <a:off x="1695450" y="272415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45"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Bagaimana pengaruh kapasitas teacher terhadap performa student WasteNet?</a:t>
            </a:r>
          </a:p>
        </p:txBody>
      </p:sp>
      <p:sp>
        <p:nvSpPr>
          <p:cNvPr id="10" name="rule">
            <a:extLst>
              <a:ext uri="{FF2B5EF4-FFF2-40B4-BE49-F238E27FC236}">
                <a16:creationId xmlns:a16="http://schemas.microsoft.com/office/drawing/2014/main" id="{191F37FF-6050-428D-BCCA-5C559C8BCE16}"/>
              </a:ext>
            </a:extLst>
          </p:cNvPr>
          <p:cNvSpPr>
            <a:spLocks noGrp="1"/>
          </p:cNvSpPr>
          <p:nvPr/>
        </p:nvSpPr>
        <p:spPr>
          <a:xfrm>
            <a:off x="1695450" y="3619500"/>
            <a:ext cx="7429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marker">
            <a:extLst>
              <a:ext uri="{FF2B5EF4-FFF2-40B4-BE49-F238E27FC236}">
                <a16:creationId xmlns:a16="http://schemas.microsoft.com/office/drawing/2014/main" id="{CCE90A47-015B-44DC-8B0E-054F7A623D90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266700" cy="2667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2" name="q-no-2">
            <a:extLst>
              <a:ext uri="{FF2B5EF4-FFF2-40B4-BE49-F238E27FC236}">
                <a16:creationId xmlns:a16="http://schemas.microsoft.com/office/drawing/2014/main" id="{695CE69A-2281-48BE-9546-4428DA12EAD8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500" lnSpcReduction="10000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q-text-2">
            <a:extLst>
              <a:ext uri="{FF2B5EF4-FFF2-40B4-BE49-F238E27FC236}">
                <a16:creationId xmlns:a16="http://schemas.microsoft.com/office/drawing/2014/main" id="{7E79B147-5297-4BEA-98B0-7D3D3BE9A49E}"/>
              </a:ext>
            </a:extLst>
          </p:cNvPr>
          <p:cNvSpPr>
            <a:spLocks noGrp="1"/>
          </p:cNvSpPr>
          <p:nvPr/>
        </p:nvSpPr>
        <p:spPr>
          <a:xfrm>
            <a:off x="1695450" y="401955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500"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Apakah performa model berbeda signifikan dibanding baseline tanpa KD?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BBC1ADD8-AB97-4F5B-A4EC-9D9F72479046}"/>
              </a:ext>
            </a:extLst>
          </p:cNvPr>
          <p:cNvSpPr>
            <a:spLocks noGrp="1"/>
          </p:cNvSpPr>
          <p:nvPr/>
        </p:nvSpPr>
        <p:spPr>
          <a:xfrm>
            <a:off x="1695450" y="4914900"/>
            <a:ext cx="7429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objective">
            <a:extLst>
              <a:ext uri="{FF2B5EF4-FFF2-40B4-BE49-F238E27FC236}">
                <a16:creationId xmlns:a16="http://schemas.microsoft.com/office/drawing/2014/main" id="{E012F864-5CC7-4CD7-B38A-D044FC2C6937}"/>
              </a:ext>
            </a:extLst>
          </p:cNvPr>
          <p:cNvSpPr>
            <a:spLocks noGrp="1"/>
          </p:cNvSpPr>
          <p:nvPr/>
        </p:nvSpPr>
        <p:spPr>
          <a:xfrm>
            <a:off x="1695450" y="5572125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Tujuan akhirnya adalah menentukan strategi distilasi paling efektif untuk student berkapasitas kecil pada klasifikasi sampah.</a:t>
            </a:r>
          </a:p>
        </p:txBody>
      </p:sp>
    </p:spTree>
    <p:extLst>
      <p:ext uri="{BB962C8B-B14F-4D97-AF65-F5344CB8AC3E}">
        <p14:creationId xmlns:p14="http://schemas.microsoft.com/office/powerpoint/2010/main" val="109081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2C80FD03-7122-496C-9D63-C1E55C54672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Dataset: TrashNet sebagai benchmark utama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C51E0EA-B7A2-4CE4-A51C-F40D825773F3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metric-1">
            <a:extLst>
              <a:ext uri="{FF2B5EF4-FFF2-40B4-BE49-F238E27FC236}">
                <a16:creationId xmlns:a16="http://schemas.microsoft.com/office/drawing/2014/main" id="{69F5B560-D224-4679-BA3E-98C0237D3D2B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257175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metric-2">
            <a:extLst>
              <a:ext uri="{FF2B5EF4-FFF2-40B4-BE49-F238E27FC236}">
                <a16:creationId xmlns:a16="http://schemas.microsoft.com/office/drawing/2014/main" id="{67429B02-2B5A-4756-B794-D6A621F0B4F6}"/>
              </a:ext>
            </a:extLst>
          </p:cNvPr>
          <p:cNvSpPr>
            <a:spLocks noGrp="1"/>
          </p:cNvSpPr>
          <p:nvPr/>
        </p:nvSpPr>
        <p:spPr>
          <a:xfrm>
            <a:off x="3371850" y="1619250"/>
            <a:ext cx="257175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metric-3">
            <a:extLst>
              <a:ext uri="{FF2B5EF4-FFF2-40B4-BE49-F238E27FC236}">
                <a16:creationId xmlns:a16="http://schemas.microsoft.com/office/drawing/2014/main" id="{C90E38BC-ADDD-47A4-A7FC-29C7D0DB0878}"/>
              </a:ext>
            </a:extLst>
          </p:cNvPr>
          <p:cNvSpPr>
            <a:spLocks noGrp="1"/>
          </p:cNvSpPr>
          <p:nvPr/>
        </p:nvSpPr>
        <p:spPr>
          <a:xfrm>
            <a:off x="6343650" y="1619250"/>
            <a:ext cx="257175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metric-4">
            <a:extLst>
              <a:ext uri="{FF2B5EF4-FFF2-40B4-BE49-F238E27FC236}">
                <a16:creationId xmlns:a16="http://schemas.microsoft.com/office/drawing/2014/main" id="{368D3840-3D08-4CB4-90CF-E8995080F32F}"/>
              </a:ext>
            </a:extLst>
          </p:cNvPr>
          <p:cNvSpPr>
            <a:spLocks noGrp="1"/>
          </p:cNvSpPr>
          <p:nvPr/>
        </p:nvSpPr>
        <p:spPr>
          <a:xfrm>
            <a:off x="9315450" y="1619250"/>
            <a:ext cx="247650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m-0">
            <a:extLst>
              <a:ext uri="{FF2B5EF4-FFF2-40B4-BE49-F238E27FC236}">
                <a16:creationId xmlns:a16="http://schemas.microsoft.com/office/drawing/2014/main" id="{089727E8-FDBC-4E29-8E23-6D667182AA37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032"/>
          </a:bodyPr>
          <a:lstStyle/>
          <a:p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2.527</a:t>
            </a:r>
          </a:p>
        </p:txBody>
      </p:sp>
      <p:sp>
        <p:nvSpPr>
          <p:cNvPr id="8" name="md-0">
            <a:extLst>
              <a:ext uri="{FF2B5EF4-FFF2-40B4-BE49-F238E27FC236}">
                <a16:creationId xmlns:a16="http://schemas.microsoft.com/office/drawing/2014/main" id="{41A41BE8-244B-4D57-93EA-68BC3CD3DDF6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citra berlabel (2.521 dipakai setelah dedup)</a:t>
            </a:r>
          </a:p>
        </p:txBody>
      </p:sp>
      <p:sp>
        <p:nvSpPr>
          <p:cNvPr id="9" name="m-1">
            <a:extLst>
              <a:ext uri="{FF2B5EF4-FFF2-40B4-BE49-F238E27FC236}">
                <a16:creationId xmlns:a16="http://schemas.microsoft.com/office/drawing/2014/main" id="{418CB7AC-0897-437A-B70E-83FB947F88B3}"/>
              </a:ext>
            </a:extLst>
          </p:cNvPr>
          <p:cNvSpPr>
            <a:spLocks noGrp="1"/>
          </p:cNvSpPr>
          <p:nvPr/>
        </p:nvSpPr>
        <p:spPr>
          <a:xfrm>
            <a:off x="3638550" y="2047875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032"/>
          </a:bodyPr>
          <a:lstStyle/>
          <a:p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0" name="md-1">
            <a:extLst>
              <a:ext uri="{FF2B5EF4-FFF2-40B4-BE49-F238E27FC236}">
                <a16:creationId xmlns:a16="http://schemas.microsoft.com/office/drawing/2014/main" id="{3AB86E13-4342-4DAF-84DD-127102CFF311}"/>
              </a:ext>
            </a:extLst>
          </p:cNvPr>
          <p:cNvSpPr>
            <a:spLocks noGrp="1"/>
          </p:cNvSpPr>
          <p:nvPr/>
        </p:nvSpPr>
        <p:spPr>
          <a:xfrm>
            <a:off x="3638550" y="28765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kelas: cardboard, glass, metal, paper, plastic, trash</a:t>
            </a:r>
          </a:p>
        </p:txBody>
      </p:sp>
      <p:sp>
        <p:nvSpPr>
          <p:cNvPr id="11" name="m-2">
            <a:extLst>
              <a:ext uri="{FF2B5EF4-FFF2-40B4-BE49-F238E27FC236}">
                <a16:creationId xmlns:a16="http://schemas.microsoft.com/office/drawing/2014/main" id="{5AA76F13-CB56-4E91-885F-536D96A8F276}"/>
              </a:ext>
            </a:extLst>
          </p:cNvPr>
          <p:cNvSpPr>
            <a:spLocks noGrp="1"/>
          </p:cNvSpPr>
          <p:nvPr/>
        </p:nvSpPr>
        <p:spPr>
          <a:xfrm>
            <a:off x="6610350" y="2047875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032"/>
          </a:bodyPr>
          <a:lstStyle/>
          <a:p>
            <a:pPr>
              <a:def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K6 / K5</a:t>
            </a:r>
          </a:p>
        </p:txBody>
      </p:sp>
      <p:sp>
        <p:nvSpPr>
          <p:cNvPr id="12" name="md-2">
            <a:extLst>
              <a:ext uri="{FF2B5EF4-FFF2-40B4-BE49-F238E27FC236}">
                <a16:creationId xmlns:a16="http://schemas.microsoft.com/office/drawing/2014/main" id="{DCAEFE77-A74B-4649-8A8F-1C5366A056A3}"/>
              </a:ext>
            </a:extLst>
          </p:cNvPr>
          <p:cNvSpPr>
            <a:spLocks noGrp="1"/>
          </p:cNvSpPr>
          <p:nvPr/>
        </p:nvSpPr>
        <p:spPr>
          <a:xfrm>
            <a:off x="6610350" y="28765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dua ruang label untuk menguji pengaruh kelas trash</a:t>
            </a:r>
          </a:p>
        </p:txBody>
      </p:sp>
      <p:sp>
        <p:nvSpPr>
          <p:cNvPr id="13" name="m-3">
            <a:extLst>
              <a:ext uri="{FF2B5EF4-FFF2-40B4-BE49-F238E27FC236}">
                <a16:creationId xmlns:a16="http://schemas.microsoft.com/office/drawing/2014/main" id="{EFB2E9CB-F8F1-4961-B050-6AE53F2AB9D9}"/>
              </a:ext>
            </a:extLst>
          </p:cNvPr>
          <p:cNvSpPr>
            <a:spLocks noGrp="1"/>
          </p:cNvSpPr>
          <p:nvPr/>
        </p:nvSpPr>
        <p:spPr>
          <a:xfrm>
            <a:off x="9582150" y="2047875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032"/>
          </a:bodyPr>
          <a:lstStyle/>
          <a:p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70/15/15</a:t>
            </a:r>
          </a:p>
        </p:txBody>
      </p:sp>
      <p:sp>
        <p:nvSpPr>
          <p:cNvPr id="14" name="md-3">
            <a:extLst>
              <a:ext uri="{FF2B5EF4-FFF2-40B4-BE49-F238E27FC236}">
                <a16:creationId xmlns:a16="http://schemas.microsoft.com/office/drawing/2014/main" id="{161202A6-E6ED-4FB1-8224-394BA870612C}"/>
              </a:ext>
            </a:extLst>
          </p:cNvPr>
          <p:cNvSpPr>
            <a:spLocks noGrp="1"/>
          </p:cNvSpPr>
          <p:nvPr/>
        </p:nvSpPr>
        <p:spPr>
          <a:xfrm>
            <a:off x="9582150" y="28765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split train, validation, test secara stratified</a:t>
            </a:r>
          </a:p>
        </p:txBody>
      </p:sp>
      <p:sp>
        <p:nvSpPr>
          <p:cNvPr id="15" name="note">
            <a:extLst>
              <a:ext uri="{FF2B5EF4-FFF2-40B4-BE49-F238E27FC236}">
                <a16:creationId xmlns:a16="http://schemas.microsoft.com/office/drawing/2014/main" id="{B2605DC2-2CBD-4B58-AFC3-6560A7E95B79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1028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Kelas trash bersifat heterogen dan memiliki jumlah citra paling sedikit, sehingga proposal menguji skema K5 untuk melihat konsistensi efektivitas distilasi.</a:t>
            </a:r>
          </a:p>
        </p:txBody>
      </p:sp>
    </p:spTree>
    <p:extLst>
      <p:ext uri="{BB962C8B-B14F-4D97-AF65-F5344CB8AC3E}">
        <p14:creationId xmlns:p14="http://schemas.microsoft.com/office/powerpoint/2010/main" val="117816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2DCD1145-B066-4995-A6A5-D1F7A7B1DEB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Tiga peran model di sepanjang kurva kapasitas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762AA49-43A5-4DE0-9374-FE85EB7E194E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model-card-0">
            <a:extLst>
              <a:ext uri="{FF2B5EF4-FFF2-40B4-BE49-F238E27FC236}">
                <a16:creationId xmlns:a16="http://schemas.microsoft.com/office/drawing/2014/main" id="{A843B8DC-D061-4018-A8DF-67C6E1A929F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71875" cy="3524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model-h-0">
            <a:extLst>
              <a:ext uri="{FF2B5EF4-FFF2-40B4-BE49-F238E27FC236}">
                <a16:creationId xmlns:a16="http://schemas.microsoft.com/office/drawing/2014/main" id="{BB0FB4F6-0826-4044-8F68-90606CCAE4F5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EfficientNet-B4</a:t>
            </a:r>
          </a:p>
        </p:txBody>
      </p:sp>
      <p:sp>
        <p:nvSpPr>
          <p:cNvPr id="5" name="model-stat-0">
            <a:extLst>
              <a:ext uri="{FF2B5EF4-FFF2-40B4-BE49-F238E27FC236}">
                <a16:creationId xmlns:a16="http://schemas.microsoft.com/office/drawing/2014/main" id="{C37F41AA-D754-4986-9F93-4A4484EA0BDB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17,6 juta parameter</a:t>
            </a:r>
          </a:p>
        </p:txBody>
      </p:sp>
      <p:sp>
        <p:nvSpPr>
          <p:cNvPr id="6" name="model-b-0">
            <a:extLst>
              <a:ext uri="{FF2B5EF4-FFF2-40B4-BE49-F238E27FC236}">
                <a16:creationId xmlns:a16="http://schemas.microsoft.com/office/drawing/2014/main" id="{A4451748-B755-45FA-9E06-15FFD2ECE493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300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Guru besar dan batas atas performa.</a:t>
            </a:r>
          </a:p>
        </p:txBody>
      </p:sp>
      <p:sp>
        <p:nvSpPr>
          <p:cNvPr id="7" name="model-card-1">
            <a:extLst>
              <a:ext uri="{FF2B5EF4-FFF2-40B4-BE49-F238E27FC236}">
                <a16:creationId xmlns:a16="http://schemas.microsoft.com/office/drawing/2014/main" id="{EF6D1600-8300-4828-9D0C-FE99E8DD7D67}"/>
              </a:ext>
            </a:extLst>
          </p:cNvPr>
          <p:cNvSpPr>
            <a:spLocks noGrp="1"/>
          </p:cNvSpPr>
          <p:nvPr/>
        </p:nvSpPr>
        <p:spPr>
          <a:xfrm>
            <a:off x="4314825" y="1809750"/>
            <a:ext cx="3571875" cy="3524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model-h-1">
            <a:extLst>
              <a:ext uri="{FF2B5EF4-FFF2-40B4-BE49-F238E27FC236}">
                <a16:creationId xmlns:a16="http://schemas.microsoft.com/office/drawing/2014/main" id="{784B3158-6CCF-4221-A0AB-20FBFC2821F3}"/>
              </a:ext>
            </a:extLst>
          </p:cNvPr>
          <p:cNvSpPr>
            <a:spLocks noGrp="1"/>
          </p:cNvSpPr>
          <p:nvPr/>
        </p:nvSpPr>
        <p:spPr>
          <a:xfrm>
            <a:off x="4581525" y="219075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Focus-RCNet</a:t>
            </a:r>
          </a:p>
        </p:txBody>
      </p:sp>
      <p:sp>
        <p:nvSpPr>
          <p:cNvPr id="9" name="model-stat-1">
            <a:extLst>
              <a:ext uri="{FF2B5EF4-FFF2-40B4-BE49-F238E27FC236}">
                <a16:creationId xmlns:a16="http://schemas.microsoft.com/office/drawing/2014/main" id="{96DAFFAD-8731-4B17-BDE1-6AFEAF53F01E}"/>
              </a:ext>
            </a:extLst>
          </p:cNvPr>
          <p:cNvSpPr>
            <a:spLocks noGrp="1"/>
          </p:cNvSpPr>
          <p:nvPr/>
        </p:nvSpPr>
        <p:spPr>
          <a:xfrm>
            <a:off x="4581525" y="34861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520 ribu parameter</a:t>
            </a:r>
          </a:p>
        </p:txBody>
      </p:sp>
      <p:sp>
        <p:nvSpPr>
          <p:cNvPr id="10" name="model-b-1">
            <a:extLst>
              <a:ext uri="{FF2B5EF4-FFF2-40B4-BE49-F238E27FC236}">
                <a16:creationId xmlns:a16="http://schemas.microsoft.com/office/drawing/2014/main" id="{4C678B46-407C-4A3F-B879-B544A41602C9}"/>
              </a:ext>
            </a:extLst>
          </p:cNvPr>
          <p:cNvSpPr>
            <a:spLocks noGrp="1"/>
          </p:cNvSpPr>
          <p:nvPr/>
        </p:nvSpPr>
        <p:spPr>
          <a:xfrm>
            <a:off x="4581525" y="4362450"/>
            <a:ext cx="300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Teacher assistant untuk menjembatani capacity gap.</a:t>
            </a:r>
          </a:p>
        </p:txBody>
      </p:sp>
      <p:sp>
        <p:nvSpPr>
          <p:cNvPr id="11" name="model-card-2">
            <a:extLst>
              <a:ext uri="{FF2B5EF4-FFF2-40B4-BE49-F238E27FC236}">
                <a16:creationId xmlns:a16="http://schemas.microsoft.com/office/drawing/2014/main" id="{AE0F36A7-F38B-4211-B014-E27CD8D11638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3571875" cy="3524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model-h-2">
            <a:extLst>
              <a:ext uri="{FF2B5EF4-FFF2-40B4-BE49-F238E27FC236}">
                <a16:creationId xmlns:a16="http://schemas.microsoft.com/office/drawing/2014/main" id="{DA10CADF-1238-4DC2-99BB-4A04A4C29D0D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WasteNet</a:t>
            </a:r>
          </a:p>
        </p:txBody>
      </p:sp>
      <p:sp>
        <p:nvSpPr>
          <p:cNvPr id="13" name="model-stat-2">
            <a:extLst>
              <a:ext uri="{FF2B5EF4-FFF2-40B4-BE49-F238E27FC236}">
                <a16:creationId xmlns:a16="http://schemas.microsoft.com/office/drawing/2014/main" id="{A00B22C0-1888-46E5-BD9B-9582B99732D1}"/>
              </a:ext>
            </a:extLst>
          </p:cNvPr>
          <p:cNvSpPr>
            <a:spLocks noGrp="1"/>
          </p:cNvSpPr>
          <p:nvPr/>
        </p:nvSpPr>
        <p:spPr>
          <a:xfrm>
            <a:off x="8496300" y="34861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128K / 256K parameter</a:t>
            </a:r>
          </a:p>
        </p:txBody>
      </p:sp>
      <p:sp>
        <p:nvSpPr>
          <p:cNvPr id="14" name="model-b-2">
            <a:extLst>
              <a:ext uri="{FF2B5EF4-FFF2-40B4-BE49-F238E27FC236}">
                <a16:creationId xmlns:a16="http://schemas.microsoft.com/office/drawing/2014/main" id="{676C792F-71C4-48CC-AB76-F097A2E6CA2E}"/>
              </a:ext>
            </a:extLst>
          </p:cNvPr>
          <p:cNvSpPr>
            <a:spLocks noGrp="1"/>
          </p:cNvSpPr>
          <p:nvPr/>
        </p:nvSpPr>
        <p:spPr>
          <a:xfrm>
            <a:off x="8496300" y="4362450"/>
            <a:ext cx="300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Student ringan sebagai target deployment.</a:t>
            </a:r>
          </a:p>
        </p:txBody>
      </p:sp>
    </p:spTree>
    <p:extLst>
      <p:ext uri="{BB962C8B-B14F-4D97-AF65-F5344CB8AC3E}">
        <p14:creationId xmlns:p14="http://schemas.microsoft.com/office/powerpoint/2010/main" val="145287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/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Alur &amp; strategi distilasi</a:t>
            </a: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0" name="direct-arrow"/>
          <p:cNvSpPr/>
          <p:nvPr/>
        </p:nvSpPr>
        <p:spPr>
          <a:xfrm>
            <a:off x="1700000" y="1500000"/>
            <a:ext cx="8700000" cy="32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000000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Direct KD  (langsung, melewati asisten)</a:t>
            </a:r>
          </a:p>
        </p:txBody>
      </p:sp>
      <p:sp>
        <p:nvSpPr>
          <p:cNvPr id="31" name="ta-arrow-1"/>
          <p:cNvSpPr/>
          <p:nvPr/>
        </p:nvSpPr>
        <p:spPr>
          <a:xfrm>
            <a:off x="3200000" y="2800000"/>
            <a:ext cx="1500000" cy="30000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-arrow-2"/>
          <p:cNvSpPr/>
          <p:nvPr/>
        </p:nvSpPr>
        <p:spPr>
          <a:xfrm>
            <a:off x="7480000" y="2800000"/>
            <a:ext cx="1500000" cy="30000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elf-arrow"/>
          <p:cNvSpPr/>
          <p:nvPr/>
        </p:nvSpPr>
        <p:spPr>
          <a:xfrm>
            <a:off x="10057000" y="3540000"/>
            <a:ext cx="620000" cy="620000"/>
          </a:xfrm>
          <a:prstGeom prst="circularArrow">
            <a:avLst/>
          </a:prstGeom>
          <a:solidFill>
            <a:srgbClr val="777777"/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elf-label"/>
          <p:cNvSpPr/>
          <p:nvPr/>
        </p:nvSpPr>
        <p:spPr>
          <a:xfrm>
            <a:off x="9767000" y="4210000"/>
            <a:ext cx="1200000" cy="30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050" b="1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Self-KD</a:t>
            </a:r>
          </a:p>
        </p:txBody>
      </p:sp>
      <p:sp>
        <p:nvSpPr>
          <p:cNvPr id="20" name="box-teacher"/>
          <p:cNvSpPr/>
          <p:nvPr/>
        </p:nvSpPr>
        <p:spPr>
          <a:xfrm>
            <a:off x="500000" y="2350000"/>
            <a:ext cx="2650000" cy="1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EfficientNet-B4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17,6 juta parameter</a:t>
            </a:r>
          </a:p>
          <a:p>
            <a:pPr algn="ctr"/>
            <a:r>
              <a:rPr sz="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Guru besar</a:t>
            </a:r>
          </a:p>
        </p:txBody>
      </p:sp>
      <p:sp>
        <p:nvSpPr>
          <p:cNvPr id="21" name="box-assistant"/>
          <p:cNvSpPr/>
          <p:nvPr/>
        </p:nvSpPr>
        <p:spPr>
          <a:xfrm>
            <a:off x="4771000" y="2350000"/>
            <a:ext cx="2650000" cy="1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6B35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Focus-RCNet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520 ribu parameter</a:t>
            </a:r>
          </a:p>
          <a:p>
            <a:pPr algn="ctr"/>
            <a:r>
              <a:rPr sz="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Asisten menengah</a:t>
            </a:r>
          </a:p>
        </p:txBody>
      </p:sp>
      <p:sp>
        <p:nvSpPr>
          <p:cNvPr id="22" name="box-student"/>
          <p:cNvSpPr/>
          <p:nvPr/>
        </p:nvSpPr>
        <p:spPr>
          <a:xfrm>
            <a:off x="9042000" y="2350000"/>
            <a:ext cx="2650000" cy="1200000"/>
          </a:xfrm>
          <a:prstGeom prst="roundRect">
            <a:avLst>
              <a:gd name="adj" fmla="val 8000"/>
            </a:avLst>
          </a:prstGeom>
          <a:solidFill>
            <a:srgbClr val="FFF3EE"/>
          </a:solidFill>
          <a:ln w="15875">
            <a:solidFill>
              <a:srgbClr val="000000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WasteNet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128K / 256K parameter</a:t>
            </a:r>
          </a:p>
          <a:p>
            <a:pPr algn="ctr"/>
            <a:r>
              <a:rPr sz="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Student (target)</a:t>
            </a:r>
          </a:p>
        </p:txBody>
      </p:sp>
      <p:sp>
        <p:nvSpPr>
          <p:cNvPr id="40" name="lg-sq-1"/>
          <p:cNvSpPr/>
          <p:nvPr/>
        </p:nvSpPr>
        <p:spPr>
          <a:xfrm>
            <a:off x="500000" y="4700000"/>
            <a:ext cx="230000" cy="23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lg-tx-1"/>
          <p:cNvSpPr/>
          <p:nvPr/>
        </p:nvSpPr>
        <p:spPr>
          <a:xfrm>
            <a:off x="850000" y="4640000"/>
            <a:ext cx="1080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r>
              <a:rPr sz="1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TA-KD</a:t>
            </a:r>
            <a:r>
              <a:rPr sz="13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 —  EfficientNet-B4 → Focus-RCNet → WasteNet</a:t>
            </a:r>
          </a:p>
        </p:txBody>
      </p:sp>
      <p:sp>
        <p:nvSpPr>
          <p:cNvPr id="42" name="lg-sq-2"/>
          <p:cNvSpPr/>
          <p:nvPr/>
        </p:nvSpPr>
        <p:spPr>
          <a:xfrm>
            <a:off x="500000" y="5130000"/>
            <a:ext cx="230000" cy="230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lg-tx-2"/>
          <p:cNvSpPr/>
          <p:nvPr/>
        </p:nvSpPr>
        <p:spPr>
          <a:xfrm>
            <a:off x="850000" y="5070000"/>
            <a:ext cx="1080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r>
              <a:rPr sz="1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 KD</a:t>
            </a:r>
            <a:r>
              <a:rPr sz="13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 (vanilla / Hinton)  —  EfficientNet-B4 → WasteNet</a:t>
            </a:r>
          </a:p>
        </p:txBody>
      </p:sp>
      <p:sp>
        <p:nvSpPr>
          <p:cNvPr id="44" name="lg-sq-3"/>
          <p:cNvSpPr/>
          <p:nvPr/>
        </p:nvSpPr>
        <p:spPr>
          <a:xfrm>
            <a:off x="500000" y="5560000"/>
            <a:ext cx="230000" cy="230000"/>
          </a:xfrm>
          <a:prstGeom prst="rect">
            <a:avLst/>
          </a:prstGeom>
          <a:solidFill>
            <a:srgbClr val="77777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lg-tx-3"/>
          <p:cNvSpPr/>
          <p:nvPr/>
        </p:nvSpPr>
        <p:spPr>
          <a:xfrm>
            <a:off x="850000" y="5500000"/>
            <a:ext cx="1080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r>
              <a:rPr sz="1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Self-distillation</a:t>
            </a:r>
            <a:r>
              <a:rPr sz="13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 —  WasteNet → WasteNet (Born-Again)</a:t>
            </a:r>
          </a:p>
        </p:txBody>
      </p:sp>
      <p:sp>
        <p:nvSpPr>
          <p:cNvPr id="15" name="formula"/>
          <p:cNvSpPr>
            <a:spLocks noGrp="1"/>
          </p:cNvSpPr>
          <p:nvPr/>
        </p:nvSpPr>
        <p:spPr>
          <a:xfrm>
            <a:off x="400050" y="6100000"/>
            <a:ext cx="914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L_KD = (1 − α)·L_CE + α·T²·D_KL(p_teacher ‖ p_student)      ·   semua strategi = KD berbasis response/logits (bukan feature-based)</a:t>
            </a:r>
          </a:p>
        </p:txBody>
      </p:sp>
    </p:spTree>
    <p:extLst>
      <p:ext uri="{BB962C8B-B14F-4D97-AF65-F5344CB8AC3E}">
        <p14:creationId xmlns:p14="http://schemas.microsoft.com/office/powerpoint/2010/main" val="201017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/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Prosedur penelitian</a:t>
            </a: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0" name="step-box-0"/>
          <p:cNvSpPr/>
          <p:nvPr/>
        </p:nvSpPr>
        <p:spPr>
          <a:xfrm>
            <a:off x="396000" y="2500000"/>
            <a:ext cx="1680000" cy="1750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0">
            <a:noFill/>
          </a:ln>
        </p:spPr>
        <p:txBody>
          <a:bodyPr wrap="square" lIns="118800" tIns="118800" rIns="118800" bIns="91440" anchor="t">
            <a:normAutofit/>
          </a:bodyPr>
          <a:lstStyle/>
          <a:p>
            <a:r>
              <a:rPr sz="10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>
            <a:r>
              <a:rPr sz="1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Studi literatur</a:t>
            </a:r>
          </a:p>
          <a:p>
            <a:endParaRPr sz="500"/>
          </a:p>
          <a:p>
            <a:r>
              <a: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KD, capacity gap, TA-KD, BAN, klasifikasi sampah.</a:t>
            </a:r>
          </a:p>
        </p:txBody>
      </p:sp>
      <p:sp>
        <p:nvSpPr>
          <p:cNvPr id="21" name="step-box-1"/>
          <p:cNvSpPr/>
          <p:nvPr/>
        </p:nvSpPr>
        <p:spPr>
          <a:xfrm>
            <a:off x="2326000" y="2500000"/>
            <a:ext cx="1680000" cy="1750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0">
            <a:noFill/>
          </a:ln>
        </p:spPr>
        <p:txBody>
          <a:bodyPr wrap="square" lIns="118800" tIns="118800" rIns="118800" bIns="91440" anchor="t">
            <a:normAutofit/>
          </a:bodyPr>
          <a:lstStyle/>
          <a:p>
            <a:r>
              <a:rPr sz="10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>
            <a:r>
              <a:rPr sz="1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&amp; manifest</a:t>
            </a:r>
          </a:p>
          <a:p>
            <a:endParaRPr sz="500"/>
          </a:p>
          <a:p>
            <a:r>
              <a: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TrashNet, deduplikasi, split deterministik per seed.</a:t>
            </a:r>
          </a:p>
        </p:txBody>
      </p:sp>
      <p:sp>
        <p:nvSpPr>
          <p:cNvPr id="22" name="step-box-2"/>
          <p:cNvSpPr/>
          <p:nvPr/>
        </p:nvSpPr>
        <p:spPr>
          <a:xfrm>
            <a:off x="4256000" y="2500000"/>
            <a:ext cx="1680000" cy="1750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0">
            <a:noFill/>
          </a:ln>
        </p:spPr>
        <p:txBody>
          <a:bodyPr wrap="square" lIns="118800" tIns="118800" rIns="118800" bIns="91440" anchor="t">
            <a:normAutofit/>
          </a:bodyPr>
          <a:lstStyle/>
          <a:p>
            <a:r>
              <a:rPr sz="10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>
            <a:r>
              <a:rPr sz="1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Perancangan model</a:t>
            </a:r>
          </a:p>
          <a:p>
            <a:endParaRPr sz="500"/>
          </a:p>
          <a:p>
            <a:r>
              <a: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Guru besar, asisten, dan dua varian WasteNet.</a:t>
            </a:r>
          </a:p>
        </p:txBody>
      </p:sp>
      <p:sp>
        <p:nvSpPr>
          <p:cNvPr id="23" name="step-box-3"/>
          <p:cNvSpPr/>
          <p:nvPr/>
        </p:nvSpPr>
        <p:spPr>
          <a:xfrm>
            <a:off x="6186000" y="2500000"/>
            <a:ext cx="1680000" cy="1750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0">
            <a:noFill/>
          </a:ln>
        </p:spPr>
        <p:txBody>
          <a:bodyPr wrap="square" lIns="118800" tIns="118800" rIns="118800" bIns="91440" anchor="t">
            <a:normAutofit/>
          </a:bodyPr>
          <a:lstStyle/>
          <a:p>
            <a:r>
              <a:rPr sz="10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  <a:p>
            <a:r>
              <a:rPr sz="1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Pelatihan</a:t>
            </a:r>
          </a:p>
          <a:p>
            <a:endParaRPr sz="500"/>
          </a:p>
          <a:p>
            <a:r>
              <a: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Semua skenario memakai konfigurasi identik.</a:t>
            </a:r>
          </a:p>
        </p:txBody>
      </p:sp>
      <p:sp>
        <p:nvSpPr>
          <p:cNvPr id="24" name="step-box-4"/>
          <p:cNvSpPr/>
          <p:nvPr/>
        </p:nvSpPr>
        <p:spPr>
          <a:xfrm>
            <a:off x="8116000" y="2500000"/>
            <a:ext cx="1680000" cy="1750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0">
            <a:noFill/>
          </a:ln>
        </p:spPr>
        <p:txBody>
          <a:bodyPr wrap="square" lIns="118800" tIns="118800" rIns="118800" bIns="91440" anchor="t">
            <a:normAutofit/>
          </a:bodyPr>
          <a:lstStyle/>
          <a:p>
            <a:r>
              <a:rPr sz="10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  <a:p>
            <a:r>
              <a:rPr sz="1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Evaluasi</a:t>
            </a:r>
          </a:p>
          <a:p>
            <a:endParaRPr sz="500"/>
          </a:p>
          <a:p>
            <a:r>
              <a: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Accuracy, macro F1-score, confusion matrix.</a:t>
            </a:r>
          </a:p>
        </p:txBody>
      </p:sp>
      <p:sp>
        <p:nvSpPr>
          <p:cNvPr id="25" name="step-box-5"/>
          <p:cNvSpPr/>
          <p:nvPr/>
        </p:nvSpPr>
        <p:spPr>
          <a:xfrm>
            <a:off x="10046000" y="2500000"/>
            <a:ext cx="1680000" cy="1750000"/>
          </a:xfrm>
          <a:prstGeom prst="roundRect">
            <a:avLst>
              <a:gd name="adj" fmla="val 7000"/>
            </a:avLst>
          </a:prstGeom>
          <a:solidFill>
            <a:srgbClr val="FFF3EE"/>
          </a:solidFill>
          <a:ln w="0">
            <a:noFill/>
          </a:ln>
        </p:spPr>
        <p:txBody>
          <a:bodyPr wrap="square" lIns="118800" tIns="118800" rIns="118800" bIns="91440" anchor="t">
            <a:normAutofit/>
          </a:bodyPr>
          <a:lstStyle/>
          <a:p>
            <a:r>
              <a:rPr sz="10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  <a:p>
            <a:r>
              <a:rPr sz="1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Uji statistik</a:t>
            </a:r>
          </a:p>
          <a:p>
            <a:endParaRPr sz="500"/>
          </a:p>
          <a:p>
            <a:r>
              <a: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Paired t-test, Wilcoxon, dan McNemar.</a:t>
            </a:r>
          </a:p>
        </p:txBody>
      </p:sp>
      <p:sp>
        <p:nvSpPr>
          <p:cNvPr id="30" name="flow-arrow-0"/>
          <p:cNvSpPr/>
          <p:nvPr/>
        </p:nvSpPr>
        <p:spPr>
          <a:xfrm>
            <a:off x="2091000" y="3255000"/>
            <a:ext cx="220000" cy="24000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low-arrow-1"/>
          <p:cNvSpPr/>
          <p:nvPr/>
        </p:nvSpPr>
        <p:spPr>
          <a:xfrm>
            <a:off x="4021000" y="3255000"/>
            <a:ext cx="220000" cy="24000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low-arrow-2"/>
          <p:cNvSpPr/>
          <p:nvPr/>
        </p:nvSpPr>
        <p:spPr>
          <a:xfrm>
            <a:off x="5951000" y="3255000"/>
            <a:ext cx="220000" cy="24000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low-arrow-3"/>
          <p:cNvSpPr/>
          <p:nvPr/>
        </p:nvSpPr>
        <p:spPr>
          <a:xfrm>
            <a:off x="7881000" y="3255000"/>
            <a:ext cx="220000" cy="24000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low-arrow-4"/>
          <p:cNvSpPr/>
          <p:nvPr/>
        </p:nvSpPr>
        <p:spPr>
          <a:xfrm>
            <a:off x="9811000" y="3255000"/>
            <a:ext cx="220000" cy="24000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ootnote"/>
          <p:cNvSpPr/>
          <p:nvPr/>
        </p:nvSpPr>
        <p:spPr>
          <a:xfrm>
            <a:off x="396000" y="4800000"/>
            <a:ext cx="11330000" cy="40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r>
              <a:rPr sz="11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Tahap 03–06 diulang untuk sembilan skenario (R1–R9) pada lima seed; hanya strategi guru yang divariasikan agar perbandingan adil.</a:t>
            </a:r>
          </a:p>
        </p:txBody>
      </p:sp>
    </p:spTree>
    <p:extLst>
      <p:ext uri="{BB962C8B-B14F-4D97-AF65-F5344CB8AC3E}">
        <p14:creationId xmlns:p14="http://schemas.microsoft.com/office/powerpoint/2010/main" val="157650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3E63E430-C3A5-461A-9D32-C4ACBBE539A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Teknik analisis data dan konfigurasi pelatihan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072643E1-0EF2-4964-AD53-2E8C8DFA8889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pipeline-left">
            <a:extLst>
              <a:ext uri="{FF2B5EF4-FFF2-40B4-BE49-F238E27FC236}">
                <a16:creationId xmlns:a16="http://schemas.microsoft.com/office/drawing/2014/main" id="{9700902F-967F-49DB-89ED-BD3B3E4720E0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33400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Preprocessing: RGB, resize 380x380 untuk guru/asisten dan 160x160 untuk WasteNet.</a:t>
            </a:r>
          </a:p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Augmentasi hanya pada data latih: flip, brightness/contrast, dan coarse dropout.</a:t>
            </a:r>
          </a:p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Optimizer SGD momentum 0,9, weight decay 1e-4, cosine annealing.</a:t>
            </a:r>
          </a:p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Pelatihan 100 epoch, mixed precision, checkpoint terbaik dari validation accuracy.</a:t>
            </a:r>
          </a:p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Suhu (T) dan bobot α dipilih lewat pilot (seed 42) pada validasi, lalu dibekukan.</a:t>
            </a:r>
          </a:p>
        </p:txBody>
      </p:sp>
      <p:sp>
        <p:nvSpPr>
          <p:cNvPr id="4" name="seed-panel">
            <a:extLst>
              <a:ext uri="{FF2B5EF4-FFF2-40B4-BE49-F238E27FC236}">
                <a16:creationId xmlns:a16="http://schemas.microsoft.com/office/drawing/2014/main" id="{E38C664D-B36E-4E61-9127-5C7059320EB5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428625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seed-title">
            <a:extLst>
              <a:ext uri="{FF2B5EF4-FFF2-40B4-BE49-F238E27FC236}">
                <a16:creationId xmlns:a16="http://schemas.microsoft.com/office/drawing/2014/main" id="{ECA34919-C13E-405D-ADFA-BBB06695A716}"/>
              </a:ext>
            </a:extLst>
          </p:cNvPr>
          <p:cNvSpPr>
            <a:spLocks noGrp="1"/>
          </p:cNvSpPr>
          <p:nvPr/>
        </p:nvSpPr>
        <p:spPr>
          <a:xfrm>
            <a:off x="6934200" y="18478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103"/>
          </a:bodyPr>
          <a:lstStyle/>
          <a:p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Replikasi eksperimen</a:t>
            </a:r>
          </a:p>
        </p:txBody>
      </p:sp>
      <p:sp>
        <p:nvSpPr>
          <p:cNvPr id="6" name="seed-stat">
            <a:extLst>
              <a:ext uri="{FF2B5EF4-FFF2-40B4-BE49-F238E27FC236}">
                <a16:creationId xmlns:a16="http://schemas.microsoft.com/office/drawing/2014/main" id="{5FA2D5B0-95B6-40BA-B003-1D4A7F4F8E9E}"/>
              </a:ext>
            </a:extLst>
          </p:cNvPr>
          <p:cNvSpPr>
            <a:spLocks noGrp="1"/>
          </p:cNvSpPr>
          <p:nvPr/>
        </p:nvSpPr>
        <p:spPr>
          <a:xfrm>
            <a:off x="6934200" y="259080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167" lnSpcReduction="10000"/>
          </a:bodyPr>
          <a:lstStyle/>
          <a:p>
            <a:pPr>
              <a:defRPr sz="37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5 seed</a:t>
            </a:r>
          </a:p>
        </p:txBody>
      </p:sp>
      <p:sp>
        <p:nvSpPr>
          <p:cNvPr id="7" name="seed-body">
            <a:extLst>
              <a:ext uri="{FF2B5EF4-FFF2-40B4-BE49-F238E27FC236}">
                <a16:creationId xmlns:a16="http://schemas.microsoft.com/office/drawing/2014/main" id="{D6C55B4E-A744-4370-AC73-F8C8988E49AC}"/>
              </a:ext>
            </a:extLst>
          </p:cNvPr>
          <p:cNvSpPr>
            <a:spLocks noGrp="1"/>
          </p:cNvSpPr>
          <p:nvPr/>
        </p:nvSpPr>
        <p:spPr>
          <a:xfrm>
            <a:off x="6934200" y="3409950"/>
            <a:ext cx="333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42, 123, 777, 2026, 3407</a:t>
            </a:r>
          </a:p>
          <a:p>
            <a:endParaRPr sz="1200">
              <a:solidFill>
                <a:srgbClr val="555555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Semua skenario memakai split dan konfigurasi yang sama agar perbandingan adil.</a:t>
            </a:r>
          </a:p>
        </p:txBody>
      </p:sp>
    </p:spTree>
    <p:extLst>
      <p:ext uri="{BB962C8B-B14F-4D97-AF65-F5344CB8AC3E}">
        <p14:creationId xmlns:p14="http://schemas.microsoft.com/office/powerpoint/2010/main" val="199827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786BE454-9D56-4F50-8F99-5069046F90E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Skenario pengujian model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05A94FC-3119-4410-83A2-5CCC5E4883C0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3EAF09B4-CF5E-463F-8C73-AF4C23936D74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R1-R9 membentuk benchmark dari baseline, direct KD, teacher-assistant, hingga self-distillation.</a:t>
            </a:r>
          </a:p>
        </p:txBody>
      </p:sp>
      <p:graphicFrame>
        <p:nvGraphicFramePr>
          <p:cNvPr id="8" name="Tabel 7"/>
          <p:cNvGraphicFramePr/>
          <p:nvPr/>
        </p:nvGraphicFramePr>
        <p:xfrm>
          <a:off x="400050" y="1695450"/>
          <a:ext cx="11391900" cy="4191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Kode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Guru soft-label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Peran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R1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EfficientNet-B4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Guru besar / batas atas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R2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Focus-RCNet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Asisten menengah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R3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WasteNet-128K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 128K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R4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WasteNet-128K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EfficientNet-B4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KD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R5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WasteNet-128K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Focus-RCNet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TA-KD 128K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R6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 256K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R7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EfficientNet-B4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KD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R8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Focus-RCNet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TA-KD 256K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R9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 gen. sebelumnya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Self-distillation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859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87F47D4A-FB6A-4D95-9CFF-5378B9FA93A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Evaluasi dan validasi statistik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24ACA438-D6B8-4CD8-BFEC-2287E2A1DCBD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eval-card-0">
            <a:extLst>
              <a:ext uri="{FF2B5EF4-FFF2-40B4-BE49-F238E27FC236}">
                <a16:creationId xmlns:a16="http://schemas.microsoft.com/office/drawing/2014/main" id="{C896F54C-F1E4-41A2-B493-DD322F4B0FF8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3571875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eval-h-0">
            <a:extLst>
              <a:ext uri="{FF2B5EF4-FFF2-40B4-BE49-F238E27FC236}">
                <a16:creationId xmlns:a16="http://schemas.microsoft.com/office/drawing/2014/main" id="{FCF17C7B-F2A6-4120-B931-E4B68093E337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103"/>
          </a:bodyPr>
          <a:lstStyle/>
          <a:p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Metrik utama</a:t>
            </a:r>
          </a:p>
        </p:txBody>
      </p:sp>
      <p:sp>
        <p:nvSpPr>
          <p:cNvPr id="5" name="eval-b-0">
            <a:extLst>
              <a:ext uri="{FF2B5EF4-FFF2-40B4-BE49-F238E27FC236}">
                <a16:creationId xmlns:a16="http://schemas.microsoft.com/office/drawing/2014/main" id="{600CB9A4-D8B3-4AD9-8AA4-EBDE1669045E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3000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Accuracy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Macro F1-score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Confusion matrix</a:t>
            </a:r>
          </a:p>
        </p:txBody>
      </p:sp>
      <p:sp>
        <p:nvSpPr>
          <p:cNvPr id="6" name="eval-card-1">
            <a:extLst>
              <a:ext uri="{FF2B5EF4-FFF2-40B4-BE49-F238E27FC236}">
                <a16:creationId xmlns:a16="http://schemas.microsoft.com/office/drawing/2014/main" id="{D2B79B7F-7631-4461-934B-BB4EEC66383D}"/>
              </a:ext>
            </a:extLst>
          </p:cNvPr>
          <p:cNvSpPr>
            <a:spLocks noGrp="1"/>
          </p:cNvSpPr>
          <p:nvPr/>
        </p:nvSpPr>
        <p:spPr>
          <a:xfrm>
            <a:off x="4314825" y="2000250"/>
            <a:ext cx="3571875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eval-h-1">
            <a:extLst>
              <a:ext uri="{FF2B5EF4-FFF2-40B4-BE49-F238E27FC236}">
                <a16:creationId xmlns:a16="http://schemas.microsoft.com/office/drawing/2014/main" id="{73528A15-4799-4637-8BF8-D8C0447B9A25}"/>
              </a:ext>
            </a:extLst>
          </p:cNvPr>
          <p:cNvSpPr>
            <a:spLocks noGrp="1"/>
          </p:cNvSpPr>
          <p:nvPr/>
        </p:nvSpPr>
        <p:spPr>
          <a:xfrm>
            <a:off x="4581525" y="238125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103"/>
          </a:bodyPr>
          <a:lstStyle/>
          <a:p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Uji antar-seed</a:t>
            </a:r>
          </a:p>
        </p:txBody>
      </p:sp>
      <p:sp>
        <p:nvSpPr>
          <p:cNvPr id="8" name="eval-b-1">
            <a:extLst>
              <a:ext uri="{FF2B5EF4-FFF2-40B4-BE49-F238E27FC236}">
                <a16:creationId xmlns:a16="http://schemas.microsoft.com/office/drawing/2014/main" id="{AEE7106D-8CD2-412F-87C9-32F2F1A8DF73}"/>
              </a:ext>
            </a:extLst>
          </p:cNvPr>
          <p:cNvSpPr>
            <a:spLocks noGrp="1"/>
          </p:cNvSpPr>
          <p:nvPr/>
        </p:nvSpPr>
        <p:spPr>
          <a:xfrm>
            <a:off x="4581525" y="3143250"/>
            <a:ext cx="3000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Paired t-test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Wilcoxon signed-rank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α = 0,05</a:t>
            </a:r>
          </a:p>
        </p:txBody>
      </p:sp>
      <p:sp>
        <p:nvSpPr>
          <p:cNvPr id="9" name="eval-card-2">
            <a:extLst>
              <a:ext uri="{FF2B5EF4-FFF2-40B4-BE49-F238E27FC236}">
                <a16:creationId xmlns:a16="http://schemas.microsoft.com/office/drawing/2014/main" id="{7FD1F85A-8738-4419-9F2A-6623D5E8EF94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3571875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eval-h-2">
            <a:extLst>
              <a:ext uri="{FF2B5EF4-FFF2-40B4-BE49-F238E27FC236}">
                <a16:creationId xmlns:a16="http://schemas.microsoft.com/office/drawing/2014/main" id="{E170482B-FD42-4F73-8A43-3DFACB22DD46}"/>
              </a:ext>
            </a:extLst>
          </p:cNvPr>
          <p:cNvSpPr>
            <a:spLocks noGrp="1"/>
          </p:cNvSpPr>
          <p:nvPr/>
        </p:nvSpPr>
        <p:spPr>
          <a:xfrm>
            <a:off x="8496300" y="238125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103"/>
          </a:bodyPr>
          <a:lstStyle/>
          <a:p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Uji sampel</a:t>
            </a:r>
          </a:p>
        </p:txBody>
      </p:sp>
      <p:sp>
        <p:nvSpPr>
          <p:cNvPr id="11" name="eval-b-2">
            <a:extLst>
              <a:ext uri="{FF2B5EF4-FFF2-40B4-BE49-F238E27FC236}">
                <a16:creationId xmlns:a16="http://schemas.microsoft.com/office/drawing/2014/main" id="{3101C1A5-394B-4AD4-BF07-E3AE919B07EC}"/>
              </a:ext>
            </a:extLst>
          </p:cNvPr>
          <p:cNvSpPr>
            <a:spLocks noGrp="1"/>
          </p:cNvSpPr>
          <p:nvPr/>
        </p:nvSpPr>
        <p:spPr>
          <a:xfrm>
            <a:off x="8496300" y="3143250"/>
            <a:ext cx="3000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McNemar test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Koreksi kontinuitas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 Pola benar-salah per sampel</a:t>
            </a:r>
          </a:p>
        </p:txBody>
      </p:sp>
      <p:sp>
        <p:nvSpPr>
          <p:cNvPr id="12" name="criteria">
            <a:extLst>
              <a:ext uri="{FF2B5EF4-FFF2-40B4-BE49-F238E27FC236}">
                <a16:creationId xmlns:a16="http://schemas.microsoft.com/office/drawing/2014/main" id="{740213DA-E44F-4AC7-A078-321FEB6B1BF3}"/>
              </a:ext>
            </a:extLst>
          </p:cNvPr>
          <p:cNvSpPr>
            <a:spLocks noGrp="1"/>
          </p:cNvSpPr>
          <p:nvPr/>
        </p:nvSpPr>
        <p:spPr>
          <a:xfrm>
            <a:off x="400050" y="5657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Strategi dinyatakan unggul bila peningkatan performa konsisten terhadap baseline dan didukung hasil uji statistik.</a:t>
            </a:r>
          </a:p>
        </p:txBody>
      </p:sp>
    </p:spTree>
    <p:extLst>
      <p:ext uri="{BB962C8B-B14F-4D97-AF65-F5344CB8AC3E}">
        <p14:creationId xmlns:p14="http://schemas.microsoft.com/office/powerpoint/2010/main" val="1263242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E36EEF2A-6831-4D45-A886-A08716C5E2D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Kontribusi yang diharapkan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65E19E8E-D379-4584-A020-B88C684CDA37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marker">
            <a:extLst>
              <a:ext uri="{FF2B5EF4-FFF2-40B4-BE49-F238E27FC236}">
                <a16:creationId xmlns:a16="http://schemas.microsoft.com/office/drawing/2014/main" id="{C6919157-FF5B-473F-B873-24F0DF859483}"/>
              </a:ext>
            </a:extLst>
          </p:cNvPr>
          <p:cNvSpPr>
            <a:spLocks noGrp="1"/>
          </p:cNvSpPr>
          <p:nvPr/>
        </p:nvSpPr>
        <p:spPr>
          <a:xfrm>
            <a:off x="400050" y="3429000"/>
            <a:ext cx="323850" cy="3238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marker">
            <a:extLst>
              <a:ext uri="{FF2B5EF4-FFF2-40B4-BE49-F238E27FC236}">
                <a16:creationId xmlns:a16="http://schemas.microsoft.com/office/drawing/2014/main" id="{9C86EEEC-2F1B-444A-A4C6-B1252492B904}"/>
              </a:ext>
            </a:extLst>
          </p:cNvPr>
          <p:cNvSpPr>
            <a:spLocks noGrp="1"/>
          </p:cNvSpPr>
          <p:nvPr/>
        </p:nvSpPr>
        <p:spPr>
          <a:xfrm>
            <a:off x="4324350" y="3429000"/>
            <a:ext cx="323850" cy="3238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5" name="marker">
            <a:extLst>
              <a:ext uri="{FF2B5EF4-FFF2-40B4-BE49-F238E27FC236}">
                <a16:creationId xmlns:a16="http://schemas.microsoft.com/office/drawing/2014/main" id="{0C30FC11-1D43-45CC-9065-C41D80379042}"/>
              </a:ext>
            </a:extLst>
          </p:cNvPr>
          <p:cNvSpPr>
            <a:spLocks noGrp="1"/>
          </p:cNvSpPr>
          <p:nvPr/>
        </p:nvSpPr>
        <p:spPr>
          <a:xfrm>
            <a:off x="8248650" y="3429000"/>
            <a:ext cx="323850" cy="3238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6" name="c1">
            <a:extLst>
              <a:ext uri="{FF2B5EF4-FFF2-40B4-BE49-F238E27FC236}">
                <a16:creationId xmlns:a16="http://schemas.microsoft.com/office/drawing/2014/main" id="{31971483-A69C-4BBF-A6EE-01D31B3CECB8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ringan</a:t>
            </a:r>
          </a:p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untuk smart bin</a:t>
            </a:r>
          </a:p>
        </p:txBody>
      </p:sp>
      <p:sp>
        <p:nvSpPr>
          <p:cNvPr id="7" name="c2">
            <a:extLst>
              <a:ext uri="{FF2B5EF4-FFF2-40B4-BE49-F238E27FC236}">
                <a16:creationId xmlns:a16="http://schemas.microsoft.com/office/drawing/2014/main" id="{9FF54713-924F-4695-BC94-6A63EE9E3CF2}"/>
              </a:ext>
            </a:extLst>
          </p:cNvPr>
          <p:cNvSpPr>
            <a:spLocks noGrp="1"/>
          </p:cNvSpPr>
          <p:nvPr/>
        </p:nvSpPr>
        <p:spPr>
          <a:xfrm>
            <a:off x="4324350" y="40957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Rekomendasi</a:t>
            </a:r>
          </a:p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strategi KD</a:t>
            </a:r>
          </a:p>
        </p:txBody>
      </p:sp>
      <p:sp>
        <p:nvSpPr>
          <p:cNvPr id="8" name="c3">
            <a:extLst>
              <a:ext uri="{FF2B5EF4-FFF2-40B4-BE49-F238E27FC236}">
                <a16:creationId xmlns:a16="http://schemas.microsoft.com/office/drawing/2014/main" id="{F397DD24-B268-41D4-AE73-53AF4D8776F1}"/>
              </a:ext>
            </a:extLst>
          </p:cNvPr>
          <p:cNvSpPr>
            <a:spLocks noGrp="1"/>
          </p:cNvSpPr>
          <p:nvPr/>
        </p:nvSpPr>
        <p:spPr>
          <a:xfrm>
            <a:off x="8248650" y="40957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Bukti empiris</a:t>
            </a:r>
          </a:p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capacity gap</a:t>
            </a:r>
          </a:p>
        </p:txBody>
      </p:sp>
      <p:sp>
        <p:nvSpPr>
          <p:cNvPr id="9" name="closing">
            <a:extLst>
              <a:ext uri="{FF2B5EF4-FFF2-40B4-BE49-F238E27FC236}">
                <a16:creationId xmlns:a16="http://schemas.microsoft.com/office/drawing/2014/main" id="{257AB91E-138A-49B0-BEFD-F7F182744900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9620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Pertanyaan inti sempro: apakah teacher menengah lebih efektif daripada teacher besar ketika student sangat ringan?</a:t>
            </a:r>
          </a:p>
        </p:txBody>
      </p:sp>
    </p:spTree>
    <p:extLst>
      <p:ext uri="{BB962C8B-B14F-4D97-AF65-F5344CB8AC3E}">
        <p14:creationId xmlns:p14="http://schemas.microsoft.com/office/powerpoint/2010/main" val="928647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/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Referensi utama</a:t>
            </a: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ref-col-left"/>
          <p:cNvSpPr>
            <a:spLocks noGrp="1"/>
          </p:cNvSpPr>
          <p:nvPr/>
        </p:nvSpPr>
        <p:spPr>
          <a:xfrm>
            <a:off x="400050" y="1323975"/>
            <a:ext cx="5450000" cy="480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Zheng, D., dkk. (2023). </a:t>
            </a: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Focus-RCNet: A lightweight recyclable waste classification algorithm based on focus and knowledge distillation. Vis. Comput. Ind. Biomed. Art, 6(19).</a:t>
            </a:r>
          </a:p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Hinton, G., Vinyals, O., &amp; Dean, J. (2015). Distilling the knowledge in a neural network. arXiv:1503.02531.</a:t>
            </a:r>
          </a:p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Mirzadeh, S. I., dkk. (2020). Improved knowledge distillation via teacher assistant. AAAI, 34(04), 5191-5198.</a:t>
            </a:r>
          </a:p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Furlanello, T., dkk. (2018). Born-again neural networks. ICML, PMLR 80, 1607-1616.</a:t>
            </a:r>
          </a:p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Cho, J. H., &amp; Hariharan, B. (2019). On the efficacy of knowledge distillation. ICCV, 4794-4802.</a:t>
            </a:r>
          </a:p>
        </p:txBody>
      </p:sp>
      <p:sp>
        <p:nvSpPr>
          <p:cNvPr id="4" name="ref-col-right"/>
          <p:cNvSpPr>
            <a:spLocks noGrp="1"/>
          </p:cNvSpPr>
          <p:nvPr/>
        </p:nvSpPr>
        <p:spPr>
          <a:xfrm>
            <a:off x="6100050" y="1323975"/>
            <a:ext cx="5450000" cy="480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Tan, M., &amp; Le, Q. (2019). EfficientNet: Rethinking model scaling for convolutional neural networks. ICML, PMLR 97, 6105-6114.</a:t>
            </a:r>
          </a:p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Thung, G., &amp; Yang, M. (2016). Classification of trash for recyclability status. CS229 Project Report, Stanford University.</a:t>
            </a:r>
          </a:p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Demsar, J. (2006). Statistical comparisons of classifiers over multiple data sets. JMLR, 7, 1-30.</a:t>
            </a:r>
          </a:p>
          <a:p>
            <a:pPr marL="228600" indent="-228600">
              <a:spcAft>
                <a:spcPts val="900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Dietterich, T. G. (1998). Approximate statistical tests for comparing supervised classification learning algorithms. Neural Computation, 10(7), 1895-1923.</a:t>
            </a:r>
          </a:p>
        </p:txBody>
      </p:sp>
      <p:sp>
        <p:nvSpPr>
          <p:cNvPr id="5" name="ref-foot"/>
          <p:cNvSpPr>
            <a:spLocks noGrp="1"/>
          </p:cNvSpPr>
          <p:nvPr/>
        </p:nvSpPr>
        <p:spPr>
          <a:xfrm>
            <a:off x="400050" y="62103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Daftar lengkap mengikuti gaya APA edisi ke-7 pada dokumen proposal.</a:t>
            </a:r>
          </a:p>
        </p:txBody>
      </p:sp>
    </p:spTree>
    <p:extLst>
      <p:ext uri="{BB962C8B-B14F-4D97-AF65-F5344CB8AC3E}">
        <p14:creationId xmlns:p14="http://schemas.microsoft.com/office/powerpoint/2010/main" val="1307397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/>
          <p:cNvSpPr>
            <a:spLocks noGrp="1"/>
          </p:cNvSpPr>
          <p:nvPr/>
        </p:nvSpPr>
        <p:spPr>
          <a:xfrm>
            <a:off x="400050" y="361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SEMINAR PROPOSAL SKRIPSI</a:t>
            </a:r>
          </a:p>
        </p:txBody>
      </p:sp>
      <p:sp>
        <p:nvSpPr>
          <p:cNvPr id="2" name="closing-title"/>
          <p:cNvSpPr>
            <a:spLocks noGrp="1"/>
          </p:cNvSpPr>
          <p:nvPr/>
        </p:nvSpPr>
        <p:spPr>
          <a:xfrm>
            <a:off x="400050" y="1400175"/>
            <a:ext cx="113919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Terima kasih</a:t>
            </a:r>
          </a:p>
        </p:txBody>
      </p:sp>
      <p:sp>
        <p:nvSpPr>
          <p:cNvPr id="12" name="closing-sub"/>
          <p:cNvSpPr>
            <a:spLocks noGrp="1"/>
          </p:cNvSpPr>
          <p:nvPr/>
        </p:nvSpPr>
        <p:spPr>
          <a:xfrm>
            <a:off x="400050" y="26860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Terbuka untuk pertanyaan, saran, dan masukan dari dewan penguji.</a:t>
            </a:r>
          </a:p>
        </p:txBody>
      </p:sp>
      <p:sp>
        <p:nvSpPr>
          <p:cNvPr id="3" name="cover-band"/>
          <p:cNvSpPr>
            <a:spLocks noGrp="1"/>
          </p:cNvSpPr>
          <p:nvPr/>
        </p:nvSpPr>
        <p:spPr>
          <a:xfrm>
            <a:off x="0" y="4171950"/>
            <a:ext cx="12192000" cy="2686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marker"/>
          <p:cNvSpPr>
            <a:spLocks noGrp="1"/>
          </p:cNvSpPr>
          <p:nvPr/>
        </p:nvSpPr>
        <p:spPr>
          <a:xfrm>
            <a:off x="400050" y="4657725"/>
            <a:ext cx="257175" cy="2571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5" name="marker"/>
          <p:cNvSpPr>
            <a:spLocks noGrp="1"/>
          </p:cNvSpPr>
          <p:nvPr/>
        </p:nvSpPr>
        <p:spPr>
          <a:xfrm>
            <a:off x="4324350" y="4657725"/>
            <a:ext cx="257175" cy="2571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6" name="author-label"/>
          <p:cNvSpPr>
            <a:spLocks noGrp="1"/>
          </p:cNvSpPr>
          <p:nvPr/>
        </p:nvSpPr>
        <p:spPr>
          <a:xfrm>
            <a:off x="400050" y="509587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Mahasiswa</a:t>
            </a:r>
          </a:p>
        </p:txBody>
      </p:sp>
      <p:sp>
        <p:nvSpPr>
          <p:cNvPr id="7" name="author"/>
          <p:cNvSpPr>
            <a:spLocks noGrp="1"/>
          </p:cNvSpPr>
          <p:nvPr/>
        </p:nvSpPr>
        <p:spPr>
          <a:xfrm>
            <a:off x="400050" y="539115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Hamza Pratama</a:t>
            </a:r>
          </a:p>
          <a:p>
            <a:pPr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4611422068</a:t>
            </a:r>
          </a:p>
        </p:txBody>
      </p:sp>
      <p:sp>
        <p:nvSpPr>
          <p:cNvPr id="8" name="program-label"/>
          <p:cNvSpPr>
            <a:spLocks noGrp="1"/>
          </p:cNvSpPr>
          <p:nvPr/>
        </p:nvSpPr>
        <p:spPr>
          <a:xfrm>
            <a:off x="4324350" y="509587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Program</a:t>
            </a:r>
          </a:p>
        </p:txBody>
      </p:sp>
      <p:sp>
        <p:nvSpPr>
          <p:cNvPr id="9" name="program"/>
          <p:cNvSpPr>
            <a:spLocks noGrp="1"/>
          </p:cNvSpPr>
          <p:nvPr/>
        </p:nvSpPr>
        <p:spPr>
          <a:xfrm>
            <a:off x="4324350" y="53911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S1 Teknik Informatika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FMIPA Universitas Negeri Semarang - 2026</a:t>
            </a:r>
          </a:p>
        </p:txBody>
      </p:sp>
      <p:sp>
        <p:nvSpPr>
          <p:cNvPr id="10" name="slide-number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0739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/>
          <p:cNvSpPr>
            <a:spLocks noGrp="1"/>
          </p:cNvSpPr>
          <p:nvPr/>
        </p:nvSpPr>
        <p:spPr>
          <a:xfrm>
            <a:off x="400050" y="342900"/>
            <a:ext cx="1040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Protokol data &amp; anti-leakage</a:t>
            </a:r>
          </a:p>
        </p:txBody>
      </p:sp>
      <p:sp>
        <p:nvSpPr>
          <p:cNvPr id="2" name="tag"/>
          <p:cNvSpPr>
            <a:spLocks noGrp="1"/>
          </p:cNvSpPr>
          <p:nvPr/>
        </p:nvSpPr>
        <p:spPr>
          <a:xfrm>
            <a:off x="10450000" y="360000"/>
            <a:ext cx="1340000" cy="360000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0"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CADANGAN</a:t>
            </a:r>
          </a:p>
        </p:txBody>
      </p:sp>
      <p:sp>
        <p:nvSpPr>
          <p:cNvPr id="10" name="marker-left"/>
          <p:cNvSpPr/>
          <p:nvPr/>
        </p:nvSpPr>
        <p:spPr>
          <a:xfrm>
            <a:off x="400050" y="1450000"/>
            <a:ext cx="285750" cy="28575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head-left"/>
          <p:cNvSpPr/>
          <p:nvPr/>
        </p:nvSpPr>
        <p:spPr>
          <a:xfrm>
            <a:off x="400050" y="1880000"/>
            <a:ext cx="5350000" cy="4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Protokol data</a:t>
            </a:r>
          </a:p>
        </p:txBody>
      </p:sp>
      <p:sp>
        <p:nvSpPr>
          <p:cNvPr id="12" name="body-left"/>
          <p:cNvSpPr/>
          <p:nvPr/>
        </p:nvSpPr>
        <p:spPr>
          <a:xfrm>
            <a:off x="400050" y="2450000"/>
            <a:ext cx="5400000" cy="360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TrashNet — 2.527 citra, 6 kelas, imbalanced (trash 137 … paper 594).</a:t>
            </a:r>
          </a:p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Split dikunci di Notebook R0, sebelum training apa pun.</a:t>
            </a:r>
          </a:p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Satu manifest per seed, dipakai identik oleh semua model → perbandingan adil.</a:t>
            </a:r>
          </a:p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Stratified 70/15/15; 5 seed: 42, 123, 777, 2026, 3407.</a:t>
            </a:r>
          </a:p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Dedup SHA-256: 6 duplikat label-konflik dibuang sebelum split (2.527 → 2.521); duplikat label-sama = 0.</a:t>
            </a:r>
          </a:p>
        </p:txBody>
      </p:sp>
      <p:sp>
        <p:nvSpPr>
          <p:cNvPr id="20" name="marker-right"/>
          <p:cNvSpPr/>
          <p:nvPr/>
        </p:nvSpPr>
        <p:spPr>
          <a:xfrm>
            <a:off x="6300000" y="1450000"/>
            <a:ext cx="285750" cy="28575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head-right"/>
          <p:cNvSpPr/>
          <p:nvPr/>
        </p:nvSpPr>
        <p:spPr>
          <a:xfrm>
            <a:off x="6300000" y="1880000"/>
            <a:ext cx="5350000" cy="4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Jaminan anti-leakage</a:t>
            </a:r>
          </a:p>
        </p:txBody>
      </p:sp>
      <p:sp>
        <p:nvSpPr>
          <p:cNvPr id="22" name="body-right"/>
          <p:cNvSpPr/>
          <p:nvPr/>
        </p:nvSpPr>
        <p:spPr>
          <a:xfrm>
            <a:off x="6300000" y="2450000"/>
            <a:ext cx="5490000" cy="360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validate_split() meng-assert nol irisan train/val/test — guard otomatis.</a:t>
            </a:r>
          </a:p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Augmentasi hanya di train; val/test tidak pernah diaugmentasi.</a:t>
            </a:r>
          </a:p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Normalisasi memakai statistik ImageNet tetap, bukan dihitung dari data.</a:t>
            </a:r>
          </a:p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Test set tidak dipakai memilih model/epoch/T/α; tuning pilot hanya di val seed 42.</a:t>
            </a:r>
          </a:p>
          <a:p>
            <a:pPr marL="228600" indent="-228600">
              <a:spcAft>
                <a:spcPts val="900"/>
              </a:spcAft>
              <a:buClr>
                <a:srgbClr val="FF6B35"/>
              </a:buClr>
              <a:buFont typeface="Arial"/>
              <a:buChar char="•"/>
            </a:pPr>
            <a:r>
              <a:rPr sz="12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Imbalance ditangani via macro-F1 + confusion matrix + ablasi K5, bukan resampling.</a:t>
            </a:r>
          </a:p>
        </p:txBody>
      </p:sp>
      <p:sp>
        <p:nvSpPr>
          <p:cNvPr id="30" name="footer"/>
          <p:cNvSpPr/>
          <p:nvPr/>
        </p:nvSpPr>
        <p:spPr>
          <a:xfrm>
            <a:off x="400050" y="6250000"/>
            <a:ext cx="11000000" cy="33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r>
              <a:rPr sz="1000" i="1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Slide cadangan — ditampilkan bila penguji menanyakan protokol data atau data leakage.</a:t>
            </a:r>
          </a:p>
        </p:txBody>
      </p:sp>
    </p:spTree>
    <p:extLst>
      <p:ext uri="{BB962C8B-B14F-4D97-AF65-F5344CB8AC3E}">
        <p14:creationId xmlns:p14="http://schemas.microsoft.com/office/powerpoint/2010/main" val="2010172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/>
          <p:cNvSpPr>
            <a:spLocks noGrp="1"/>
          </p:cNvSpPr>
          <p:nvPr/>
        </p:nvSpPr>
        <p:spPr>
          <a:xfrm>
            <a:off x="400050" y="342900"/>
            <a:ext cx="1000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Ringkasan hasil (sudah dijalankan)</a:t>
            </a:r>
          </a:p>
        </p:txBody>
      </p:sp>
      <p:sp>
        <p:nvSpPr>
          <p:cNvPr id="2" name="tag"/>
          <p:cNvSpPr/>
          <p:nvPr/>
        </p:nvSpPr>
        <p:spPr>
          <a:xfrm>
            <a:off x="10450000" y="360000"/>
            <a:ext cx="1340000" cy="360000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0"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CADANGAN</a:t>
            </a:r>
          </a:p>
        </p:txBody>
      </p:sp>
      <p:graphicFrame>
        <p:nvGraphicFramePr>
          <p:cNvPr id="10" name="tbl-hasil"/>
          <p:cNvGraphicFramePr/>
          <p:nvPr/>
        </p:nvGraphicFramePr>
        <p:xfrm>
          <a:off x="400050" y="1600000"/>
          <a:ext cx="11391900" cy="2390000"/>
        </p:xfrm>
        <a:graphic>
          <a:graphicData uri="http://schemas.openxmlformats.org/drawingml/2006/table">
            <a:tbl>
              <a:tblPr/>
              <a:tblGrid>
                <a:gridCol w="4391900"/>
                <a:gridCol w="3500000"/>
                <a:gridCol w="3500000"/>
              </a:tblGrid>
              <a:tr h="470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Uji efek KD (paired, 5 seed)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K6: Δ akurasi (p)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K5: Δ akurasi (p)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KD → 256K  (R7 − R6)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−0,5pp  (p=0,68)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+0,6pp  (p=0,68)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TA-KD → 128K  (R5)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−0,7pp  (p=0,20)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−0,5pp  (p=0,23)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TA-KD → 256K  (R8)  ★</a:t>
                      </a:r>
                    </a:p>
                  </a:txBody>
                  <a:tcPr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23A0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+1,0pp  (p=0,024) · 5/5</a:t>
                      </a:r>
                    </a:p>
                  </a:txBody>
                  <a:tcPr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23A0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+1,4pp  (p=0,045) · 5/5</a:t>
                      </a:r>
                    </a:p>
                  </a:txBody>
                  <a:tcPr>
                    <a:solidFill>
                      <a:srgbClr val="FFE3D6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Self-KD → 256K  (R9, BAN)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+0,5pp  (p=0,51)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+1,4pp  (p=0,38)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akeaways"/>
          <p:cNvSpPr/>
          <p:nvPr/>
        </p:nvSpPr>
        <p:spPr>
          <a:xfrm>
            <a:off x="400050" y="4260000"/>
            <a:ext cx="11391900" cy="185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Hanya TA-KD 256K (R8) yang menang &amp; konsisten 5/5 seed.</a:t>
            </a:r>
          </a:p>
          <a:p>
            <a:pPr marL="228600" indent="-228600">
              <a:spcAft>
                <a:spcPts val="500"/>
              </a:spcAft>
              <a:buClr>
                <a:srgbClr val="FF6B35"/>
              </a:buClr>
              <a:buFont typeface="Arial"/>
              <a:buChar char="•"/>
            </a:pPr>
            <a:r>
              <a:rPr sz="11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Guru besar (EfficientNet-B4) langsung ke student → wash (R4/R7): gejala capacity gap.</a:t>
            </a:r>
          </a:p>
          <a:p>
            <a:pPr marL="228600" indent="-228600">
              <a:spcAft>
                <a:spcPts val="500"/>
              </a:spcAft>
              <a:buClr>
                <a:srgbClr val="FF6B35"/>
              </a:buClr>
              <a:buFont typeface="Arial"/>
              <a:buChar char="•"/>
            </a:pPr>
            <a:r>
              <a:rPr sz="11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Assistant menengah menolong hanya saat student cukup besar → R8 = student terbaik: 78,7% (K6) / 82,4% (K5).</a:t>
            </a:r>
          </a:p>
          <a:p>
            <a:pPr marL="228600" indent="-228600">
              <a:spcAft>
                <a:spcPts val="500"/>
              </a:spcAft>
              <a:buClr>
                <a:srgbClr val="FF6B35"/>
              </a:buClr>
              <a:buFont typeface="Arial"/>
              <a:buChar char="•"/>
            </a:pPr>
            <a:r>
              <a:rPr sz="115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Self-distillation (BAN, R9) directional/wash → penentu: kapasitas guru harus menengah, bukan besar atau sama.</a:t>
            </a:r>
          </a:p>
        </p:txBody>
      </p:sp>
      <p:sp>
        <p:nvSpPr>
          <p:cNvPr id="31" name="footer"/>
          <p:cNvSpPr/>
          <p:nvPr/>
        </p:nvSpPr>
        <p:spPr>
          <a:xfrm>
            <a:off x="400050" y="6270000"/>
            <a:ext cx="11391900" cy="33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r>
              <a:rPr sz="1000" i="1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Batas atas guru EfficientNet-B4: 94,5% (K6) / 95,8% (K5). Sumber angka: RESULTS_SUMMARY_K5_K6.md, test set 5 seed.</a:t>
            </a:r>
          </a:p>
        </p:txBody>
      </p:sp>
    </p:spTree>
    <p:extLst>
      <p:ext uri="{BB962C8B-B14F-4D97-AF65-F5344CB8AC3E}">
        <p14:creationId xmlns:p14="http://schemas.microsoft.com/office/powerpoint/2010/main" val="2010172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/>
          <p:cNvSpPr>
            <a:spLocks noGrp="1"/>
          </p:cNvSpPr>
          <p:nvPr/>
        </p:nvSpPr>
        <p:spPr>
          <a:xfrm>
            <a:off x="400050" y="342900"/>
            <a:ext cx="1000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R8: di mana TA-KD menolong</a:t>
            </a:r>
          </a:p>
        </p:txBody>
      </p:sp>
      <p:sp>
        <p:nvSpPr>
          <p:cNvPr id="17" name="tag"/>
          <p:cNvSpPr/>
          <p:nvPr/>
        </p:nvSpPr>
        <p:spPr>
          <a:xfrm>
            <a:off x="10450000" y="360000"/>
            <a:ext cx="1340000" cy="360000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0">
            <a:noFill/>
          </a:ln>
        </p:spPr>
        <p:txBody>
          <a:bodyPr wrap="square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CADANGAN</a:t>
            </a:r>
          </a:p>
        </p:txBody>
      </p:sp>
      <p:sp>
        <p:nvSpPr>
          <p:cNvPr id="41" name="t"/>
          <p:cNvSpPr/>
          <p:nvPr/>
        </p:nvSpPr>
        <p:spPr>
          <a:xfrm>
            <a:off x="400050" y="1080000"/>
            <a:ext cx="100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50" i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ΔF1 per kelas = TA-KD (R8) − kontrol CE, rata-rata 5 seed (pp)</a:t>
            </a:r>
          </a:p>
        </p:txBody>
      </p:sp>
      <p:sp>
        <p:nvSpPr>
          <p:cNvPr id="42" name="t"/>
          <p:cNvSpPr/>
          <p:nvPr/>
        </p:nvSpPr>
        <p:spPr>
          <a:xfrm>
            <a:off x="400050" y="1430000"/>
            <a:ext cx="5400000" cy="38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K6 — 6 kelas</a:t>
            </a:r>
          </a:p>
        </p:txBody>
      </p:sp>
      <p:sp>
        <p:nvSpPr>
          <p:cNvPr id="43" name="bar"/>
          <p:cNvSpPr/>
          <p:nvPr/>
        </p:nvSpPr>
        <p:spPr>
          <a:xfrm>
            <a:off x="2020050" y="1980000"/>
            <a:ext cx="12700" cy="2980000"/>
          </a:xfrm>
          <a:prstGeom prst="rect">
            <a:avLst/>
          </a:prstGeom>
          <a:solidFill>
            <a:srgbClr val="D0D0D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"/>
          <p:cNvSpPr/>
          <p:nvPr/>
        </p:nvSpPr>
        <p:spPr>
          <a:xfrm>
            <a:off x="400050" y="204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glass</a:t>
            </a:r>
          </a:p>
        </p:txBody>
      </p:sp>
      <p:sp>
        <p:nvSpPr>
          <p:cNvPr id="45" name="bar"/>
          <p:cNvSpPr/>
          <p:nvPr/>
        </p:nvSpPr>
        <p:spPr>
          <a:xfrm>
            <a:off x="2020050" y="2080000"/>
            <a:ext cx="936600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"/>
          <p:cNvSpPr/>
          <p:nvPr/>
        </p:nvSpPr>
        <p:spPr>
          <a:xfrm>
            <a:off x="3026650" y="203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+2,23</a:t>
            </a:r>
          </a:p>
        </p:txBody>
      </p:sp>
      <p:sp>
        <p:nvSpPr>
          <p:cNvPr id="47" name="t"/>
          <p:cNvSpPr/>
          <p:nvPr/>
        </p:nvSpPr>
        <p:spPr>
          <a:xfrm>
            <a:off x="400050" y="256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metal</a:t>
            </a:r>
          </a:p>
        </p:txBody>
      </p:sp>
      <p:sp>
        <p:nvSpPr>
          <p:cNvPr id="48" name="bar"/>
          <p:cNvSpPr/>
          <p:nvPr/>
        </p:nvSpPr>
        <p:spPr>
          <a:xfrm>
            <a:off x="2020050" y="2600000"/>
            <a:ext cx="705600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t"/>
          <p:cNvSpPr/>
          <p:nvPr/>
        </p:nvSpPr>
        <p:spPr>
          <a:xfrm>
            <a:off x="2795650" y="255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+1,68</a:t>
            </a:r>
          </a:p>
        </p:txBody>
      </p:sp>
      <p:sp>
        <p:nvSpPr>
          <p:cNvPr id="50" name="t"/>
          <p:cNvSpPr/>
          <p:nvPr/>
        </p:nvSpPr>
        <p:spPr>
          <a:xfrm>
            <a:off x="400050" y="308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paper</a:t>
            </a:r>
          </a:p>
        </p:txBody>
      </p:sp>
      <p:sp>
        <p:nvSpPr>
          <p:cNvPr id="51" name="bar"/>
          <p:cNvSpPr/>
          <p:nvPr/>
        </p:nvSpPr>
        <p:spPr>
          <a:xfrm>
            <a:off x="2020050" y="3120000"/>
            <a:ext cx="344400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"/>
          <p:cNvSpPr/>
          <p:nvPr/>
        </p:nvSpPr>
        <p:spPr>
          <a:xfrm>
            <a:off x="2434450" y="307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+0,82</a:t>
            </a:r>
          </a:p>
        </p:txBody>
      </p:sp>
      <p:sp>
        <p:nvSpPr>
          <p:cNvPr id="53" name="t"/>
          <p:cNvSpPr/>
          <p:nvPr/>
        </p:nvSpPr>
        <p:spPr>
          <a:xfrm>
            <a:off x="400050" y="360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cardboard</a:t>
            </a:r>
          </a:p>
        </p:txBody>
      </p:sp>
      <p:sp>
        <p:nvSpPr>
          <p:cNvPr id="54" name="bar"/>
          <p:cNvSpPr/>
          <p:nvPr/>
        </p:nvSpPr>
        <p:spPr>
          <a:xfrm>
            <a:off x="2020050" y="3640000"/>
            <a:ext cx="243599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t"/>
          <p:cNvSpPr/>
          <p:nvPr/>
        </p:nvSpPr>
        <p:spPr>
          <a:xfrm>
            <a:off x="2333649" y="359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+0,58</a:t>
            </a:r>
          </a:p>
        </p:txBody>
      </p:sp>
      <p:sp>
        <p:nvSpPr>
          <p:cNvPr id="56" name="t"/>
          <p:cNvSpPr/>
          <p:nvPr/>
        </p:nvSpPr>
        <p:spPr>
          <a:xfrm>
            <a:off x="400050" y="412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plastic</a:t>
            </a:r>
          </a:p>
        </p:txBody>
      </p:sp>
      <p:sp>
        <p:nvSpPr>
          <p:cNvPr id="57" name="bar"/>
          <p:cNvSpPr/>
          <p:nvPr/>
        </p:nvSpPr>
        <p:spPr>
          <a:xfrm>
            <a:off x="2020050" y="4160000"/>
            <a:ext cx="138600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t"/>
          <p:cNvSpPr/>
          <p:nvPr/>
        </p:nvSpPr>
        <p:spPr>
          <a:xfrm>
            <a:off x="2228650" y="411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+0,33</a:t>
            </a:r>
          </a:p>
        </p:txBody>
      </p:sp>
      <p:sp>
        <p:nvSpPr>
          <p:cNvPr id="59" name="t"/>
          <p:cNvSpPr/>
          <p:nvPr/>
        </p:nvSpPr>
        <p:spPr>
          <a:xfrm>
            <a:off x="400050" y="464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trash</a:t>
            </a:r>
          </a:p>
        </p:txBody>
      </p:sp>
      <p:sp>
        <p:nvSpPr>
          <p:cNvPr id="60" name="bar"/>
          <p:cNvSpPr/>
          <p:nvPr/>
        </p:nvSpPr>
        <p:spPr>
          <a:xfrm>
            <a:off x="1587450" y="4680000"/>
            <a:ext cx="432600" cy="200000"/>
          </a:xfrm>
          <a:prstGeom prst="rect">
            <a:avLst/>
          </a:prstGeom>
          <a:solidFill>
            <a:srgbClr val="9AA0A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"/>
          <p:cNvSpPr/>
          <p:nvPr/>
        </p:nvSpPr>
        <p:spPr>
          <a:xfrm>
            <a:off x="967450" y="4634000"/>
            <a:ext cx="56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-1,03</a:t>
            </a:r>
          </a:p>
        </p:txBody>
      </p:sp>
      <p:sp>
        <p:nvSpPr>
          <p:cNvPr id="62" name="t"/>
          <p:cNvSpPr/>
          <p:nvPr/>
        </p:nvSpPr>
        <p:spPr>
          <a:xfrm>
            <a:off x="6350000" y="1430000"/>
            <a:ext cx="5400000" cy="38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K5 — 5 kelas (tanpa trash)</a:t>
            </a:r>
          </a:p>
        </p:txBody>
      </p:sp>
      <p:sp>
        <p:nvSpPr>
          <p:cNvPr id="63" name="bar"/>
          <p:cNvSpPr/>
          <p:nvPr/>
        </p:nvSpPr>
        <p:spPr>
          <a:xfrm>
            <a:off x="7970000" y="1980000"/>
            <a:ext cx="12700" cy="2460000"/>
          </a:xfrm>
          <a:prstGeom prst="rect">
            <a:avLst/>
          </a:prstGeom>
          <a:solidFill>
            <a:srgbClr val="D0D0D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"/>
          <p:cNvSpPr/>
          <p:nvPr/>
        </p:nvSpPr>
        <p:spPr>
          <a:xfrm>
            <a:off x="6350000" y="204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plastic</a:t>
            </a:r>
          </a:p>
        </p:txBody>
      </p:sp>
      <p:sp>
        <p:nvSpPr>
          <p:cNvPr id="65" name="bar"/>
          <p:cNvSpPr/>
          <p:nvPr/>
        </p:nvSpPr>
        <p:spPr>
          <a:xfrm>
            <a:off x="7970000" y="2080000"/>
            <a:ext cx="982799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"/>
          <p:cNvSpPr/>
          <p:nvPr/>
        </p:nvSpPr>
        <p:spPr>
          <a:xfrm>
            <a:off x="9022799" y="203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+2,34</a:t>
            </a:r>
          </a:p>
        </p:txBody>
      </p:sp>
      <p:sp>
        <p:nvSpPr>
          <p:cNvPr id="67" name="t"/>
          <p:cNvSpPr/>
          <p:nvPr/>
        </p:nvSpPr>
        <p:spPr>
          <a:xfrm>
            <a:off x="6350000" y="256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glass</a:t>
            </a:r>
          </a:p>
        </p:txBody>
      </p:sp>
      <p:sp>
        <p:nvSpPr>
          <p:cNvPr id="68" name="bar"/>
          <p:cNvSpPr/>
          <p:nvPr/>
        </p:nvSpPr>
        <p:spPr>
          <a:xfrm>
            <a:off x="7970000" y="2600000"/>
            <a:ext cx="831600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"/>
          <p:cNvSpPr/>
          <p:nvPr/>
        </p:nvSpPr>
        <p:spPr>
          <a:xfrm>
            <a:off x="8871600" y="255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+1,98</a:t>
            </a:r>
          </a:p>
        </p:txBody>
      </p:sp>
      <p:sp>
        <p:nvSpPr>
          <p:cNvPr id="70" name="t"/>
          <p:cNvSpPr/>
          <p:nvPr/>
        </p:nvSpPr>
        <p:spPr>
          <a:xfrm>
            <a:off x="6350000" y="308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paper</a:t>
            </a:r>
          </a:p>
        </p:txBody>
      </p:sp>
      <p:sp>
        <p:nvSpPr>
          <p:cNvPr id="71" name="bar"/>
          <p:cNvSpPr/>
          <p:nvPr/>
        </p:nvSpPr>
        <p:spPr>
          <a:xfrm>
            <a:off x="7970000" y="3120000"/>
            <a:ext cx="516600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"/>
          <p:cNvSpPr/>
          <p:nvPr/>
        </p:nvSpPr>
        <p:spPr>
          <a:xfrm>
            <a:off x="8556600" y="307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+1,23</a:t>
            </a:r>
          </a:p>
        </p:txBody>
      </p:sp>
      <p:sp>
        <p:nvSpPr>
          <p:cNvPr id="73" name="t"/>
          <p:cNvSpPr/>
          <p:nvPr/>
        </p:nvSpPr>
        <p:spPr>
          <a:xfrm>
            <a:off x="6350000" y="360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cardboard</a:t>
            </a:r>
          </a:p>
        </p:txBody>
      </p:sp>
      <p:sp>
        <p:nvSpPr>
          <p:cNvPr id="74" name="bar"/>
          <p:cNvSpPr/>
          <p:nvPr/>
        </p:nvSpPr>
        <p:spPr>
          <a:xfrm>
            <a:off x="7970000" y="3640000"/>
            <a:ext cx="289800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t"/>
          <p:cNvSpPr/>
          <p:nvPr/>
        </p:nvSpPr>
        <p:spPr>
          <a:xfrm>
            <a:off x="8329800" y="359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+0,69</a:t>
            </a:r>
          </a:p>
        </p:txBody>
      </p:sp>
      <p:sp>
        <p:nvSpPr>
          <p:cNvPr id="76" name="t"/>
          <p:cNvSpPr/>
          <p:nvPr/>
        </p:nvSpPr>
        <p:spPr>
          <a:xfrm>
            <a:off x="6350000" y="4120000"/>
            <a:ext cx="1500000" cy="34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metal</a:t>
            </a:r>
          </a:p>
        </p:txBody>
      </p:sp>
      <p:sp>
        <p:nvSpPr>
          <p:cNvPr id="77" name="bar"/>
          <p:cNvSpPr/>
          <p:nvPr/>
        </p:nvSpPr>
        <p:spPr>
          <a:xfrm>
            <a:off x="7970000" y="4160000"/>
            <a:ext cx="285600" cy="2000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t"/>
          <p:cNvSpPr/>
          <p:nvPr/>
        </p:nvSpPr>
        <p:spPr>
          <a:xfrm>
            <a:off x="8325600" y="4114000"/>
            <a:ext cx="7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050" b="1">
                <a:solidFill>
                  <a:srgbClr val="B23A0F"/>
                </a:solidFill>
                <a:latin typeface="Helvetica Neue"/>
                <a:ea typeface="Helvetica Neue"/>
                <a:cs typeface="Helvetica Neue"/>
              </a:rPr>
              <a:t>+0,68</a:t>
            </a:r>
          </a:p>
        </p:txBody>
      </p:sp>
      <p:sp>
        <p:nvSpPr>
          <p:cNvPr id="79" name="t"/>
          <p:cNvSpPr/>
          <p:nvPr/>
        </p:nvSpPr>
        <p:spPr>
          <a:xfrm>
            <a:off x="400050" y="5900000"/>
            <a:ext cx="11391900" cy="600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Gain terkonsentrasi di trio kelas tersulit (glass, metal, plastic) — bukti transfer dark knowledge, bukan noise. Kelas trash (K6) justru sedikit turun → sebab K5 menunjukkan gain lebih bersih.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Office PowerPoint</Application>
  <DocSecurity>0</DocSecurity>
  <PresentationFormat>Layar Lebar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13</vt:i4>
      </vt:variant>
    </vt:vector>
  </HeadingPairs>
  <TitlesOfParts>
    <vt:vector size="16" baseType="lpstr">
      <vt:lpstr>Calibri</vt:lpstr>
      <vt:lpstr>Helvetica Neue</vt:lpstr>
      <vt:lpstr>ChatGPT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Hamza Pratama</cp:lastModifiedBy>
  <cp:revision>1</cp:revision>
  <dcterms:created xsi:type="dcterms:W3CDTF">2026-07-01T06:15:18Z</dcterms:created>
  <dcterms:modified xsi:type="dcterms:W3CDTF">2026-07-01T06:32:17Z</dcterms:modified>
</cp:coreProperties>
</file>