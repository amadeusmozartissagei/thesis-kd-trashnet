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8" r:id="rId3"/>
    <p:sldId id="259" r:id="rId4"/>
    <p:sldId id="260" r:id="rId5"/>
    <p:sldId id="261" r:id="rId6"/>
    <p:sldId id="263" r:id="rId7"/>
    <p:sldId id="266" r:id="rId8"/>
    <p:sldId id="274" r:id="rId9"/>
    <p:sldId id="275" r:id="rId10"/>
    <p:sldId id="276" r:id="rId11"/>
    <p:sldId id="273" r:id="rId12"/>
    <p:sldId id="277" r:id="rId13"/>
    <p:sldId id="278" r:id="rId14"/>
    <p:sldId id="279" r:id="rId15"/>
    <p:sldId id="270" r:id="rId16"/>
    <p:sldId id="271" r:id="rId17"/>
    <p:sldId id="272" r:id="rId18"/>
    <p:sldId id="280" r:id="rId19"/>
    <p:sldId id="281" r:id="rId20"/>
    <p:sldId id="282" r:id="rId21"/>
    <p:sldId id="283" r:id="rId22"/>
    <p:sldId id="284" r:id="rId23"/>
    <p:sldId id="285" r:id="rId24"/>
    <p:sldId id="286" r:id="rId2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312" autoAdjust="0"/>
  </p:normalViewPr>
  <p:slideViewPr>
    <p:cSldViewPr snapToGrid="0">
      <p:cViewPr varScale="1">
        <p:scale>
          <a:sx n="63" d="100"/>
          <a:sy n="63" d="100"/>
        </p:scale>
        <p:origin x="186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[0:20]  Sampul   —   selesai di menit 0:20</a:t>
            </a:r>
          </a:p>
          <a:p>
            <a:r>
              <a:rPr sz="1200"/>
              <a:t>Bismillah. Selamat pagi, Bapak dan Ibu dewan penguji.</a:t>
            </a:r>
          </a:p>
          <a:p>
            <a:r>
              <a:rPr sz="1200"/>
              <a:t>Perkenalkan, saya Hamza Pratama, NIM 4611422068, dari Program Studi Teknik Informatika. Pada kesempatan ini saya akan memaparkan hasil penelitian skripsi saya yang berjudul "Knowledge Distillation Berbasis Teacher-Assistant untuk Model Ringan WasteNet pada Klasifikasi Citra Sampah TrashNet". Izin memulai.</a:t>
            </a:r>
          </a:p>
          <a:p>
            <a:endParaRPr sz="1200"/>
          </a:p>
          <a:p>
            <a:r>
              <a:rPr sz="1200"/>
              <a:t>CATATAN: Tarik napas dulu. Jangan langsung ngebut.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[0:40]  Masalah   —   selesai di menit 1:00</a:t>
            </a:r>
          </a:p>
          <a:p>
            <a:r>
              <a:rPr sz="1200"/>
              <a:t>Penelitian ini berangkat dari satu ketegangan praktis.</a:t>
            </a:r>
          </a:p>
          <a:p>
            <a:r>
              <a:rPr sz="1200"/>
              <a:t>Pemilahan sampah secara manual masih rentan tidak konsisten, sehingga klasifikasi otomatis dibutuhkan. Masalahnya, model CNN yang akurat umumnya berat, sedangkan perangkat sasaran seperti smart bin atau perangkat tepi memiliki komputasi yang terbatas.</a:t>
            </a:r>
          </a:p>
          <a:p>
            <a:r>
              <a:rPr sz="1200"/>
              <a:t>Knowledge distillation menawarkan jalan tengah: memindahkan dark knowledge dari model besar ke model kecil, sehingga model kecil dapat belajar lebih dari sekadar label benar atau salah.</a:t>
            </a:r>
          </a:p>
          <a:p>
            <a:endParaRPr sz="1200"/>
          </a:p>
          <a:p>
            <a:r>
              <a:rPr sz="1200"/>
              <a:t>CATATAN: Kalimat kunci: akurasi harus bertemu efisiensi.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[0:45]  Celah riset   —   selesai di menit 1:45</a:t>
            </a:r>
          </a:p>
          <a:p>
            <a:r>
              <a:rPr sz="1200"/>
              <a:t>Penelitian terdahulu, khususnya Focus-RCNet oleh Zheng dan kawan-kawan tahun 2023, melaporkan akurasi sekitar 92 persen pada TrashNet dengan distilasi dari EfficientNet-B4.</a:t>
            </a:r>
          </a:p>
          <a:p>
            <a:r>
              <a:rPr sz="1200"/>
              <a:t>Namun fokusnya belum pada perbandingan sistematis kapasitas guru untuk student yang sangat ringan. Di sinilah celahnya.</a:t>
            </a:r>
          </a:p>
          <a:p>
            <a:r>
              <a:rPr sz="1200"/>
              <a:t>Penelitian ini menguji tiga jenis guru — guru besar, asisten menengah, dan guru berkapasitas sama — secara terkontrol, pada student di rentang 128 sampai 256 ribu parameter, dengan dua ruang label, dan divalidasi secara statistik.</a:t>
            </a:r>
          </a:p>
          <a:p>
            <a:endParaRPr sz="1200"/>
          </a:p>
          <a:p>
            <a:r>
              <a:rPr sz="1200"/>
              <a:t>CATATAN: Jangan bilang 'penelitian terdahulu kurang'. Bilang 'fokusnya berbeda'.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[0:35]  Rumusan &amp; tujuan   —   selesai di menit 2:20</a:t>
            </a:r>
          </a:p>
          <a:p>
            <a:r>
              <a:rPr sz="1200"/>
              <a:t>Dari celah tersebut disusun tiga rumusan masalah.</a:t>
            </a:r>
          </a:p>
          <a:p>
            <a:r>
              <a:rPr sz="1200"/>
              <a:t>Pertama, bagaimana membangun WasteNet ringan untuk klasifikasi citra sampah dengan knowledge distillation.</a:t>
            </a:r>
            <a:br/>
            <a:r>
              <a:rPr sz="1200"/>
              <a:t>Kedua, bagaimana pengaruh kapasitas guru terhadap performa student.</a:t>
            </a:r>
            <a:br/>
            <a:r>
              <a:rPr sz="1200"/>
              <a:t>Ketiga, apakah perbedaan performanya signifikan dibandingkan baseline tanpa distilasi.</a:t>
            </a:r>
          </a:p>
          <a:p>
            <a:r>
              <a:rPr sz="1200"/>
              <a:t>Ketiganya akan saya jawab satu per satu pada bagian simpulan.</a:t>
            </a:r>
          </a:p>
          <a:p>
            <a:endParaRPr sz="1200"/>
          </a:p>
          <a:p>
            <a:r>
              <a:rPr sz="1200"/>
              <a:t>CATATAN: Janji ini WAJIB ditepati di slide 13 — penguji sering mengecek.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[0:40]  Dataset   —   selesai di menit 3:00</a:t>
            </a:r>
          </a:p>
          <a:p>
            <a:r>
              <a:rPr sz="1200"/>
              <a:t>Data yang dipakai adalah TrashNet: 2.527 citra dalam enam kelas.</a:t>
            </a:r>
          </a:p>
          <a:p>
            <a:r>
              <a:rPr sz="1200"/>
              <a:t>Setelah deduplikasi dengan SHA-256, enam duplikat yang berkonflik label dibuang, sehingga tersisa 2.521 citra. Pembagian stratified 70/15/15 dikunci lebih dahulu, sebelum pelatihan apa pun dijalankan.</a:t>
            </a:r>
          </a:p>
          <a:p>
            <a:r>
              <a:rPr sz="1200"/>
              <a:t>Selain skema enam kelas, saya juga menguji skema lima kelas tanpa kelas trash, karena kelas trash bersifat heterogen dan jumlahnya paling sedikit, yaitu hanya 137 citra.</a:t>
            </a:r>
          </a:p>
          <a:p>
            <a:endParaRPr sz="1200"/>
          </a:p>
          <a:p>
            <a:r>
              <a:rPr sz="1200"/>
              <a:t>CATATAN: Kalau Pak Anggyi mendalami data/leakage → lompat ke slide cadangan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[1:10]  Alur &amp; strategi distilasi   —   selesai di menit 4:10</a:t>
            </a:r>
          </a:p>
          <a:p>
            <a:r>
              <a:rPr sz="1200"/>
              <a:t>Ada tiga peran model di sepanjang kurva kapasitas.</a:t>
            </a:r>
          </a:p>
          <a:p>
            <a:r>
              <a:rPr sz="1200"/>
              <a:t>EfficientNet-B4, 17,6 juta parameter, sebagai guru besar sekaligus batas atas performa.</a:t>
            </a:r>
            <a:br/>
            <a:r>
              <a:rPr sz="1200"/>
              <a:t>Focus-RCNet, 520 ribu parameter, sebagai asisten menengah.</a:t>
            </a:r>
            <a:br/>
            <a:r>
              <a:rPr sz="1200"/>
              <a:t>WasteNet 128K dan 256K sebagai student, yaitu target deployment.</a:t>
            </a:r>
          </a:p>
          <a:p>
            <a:r>
              <a:rPr sz="1200"/>
              <a:t>Dari ketiganya diuji tiga strategi: distilasi langsung dari guru besar; TA-KD, yaitu distilasi melalui asisten menengah; dan self-distillation, yaitu guru berkapasitas sama dari generasi sebelumnya.</a:t>
            </a:r>
          </a:p>
          <a:p>
            <a:r>
              <a:rPr sz="1200"/>
              <a:t>Fungsi kerugiannya menggabungkan cross-entropy dengan KL-divergence yang dibobot alfa dan disuhu T.</a:t>
            </a:r>
          </a:p>
          <a:p>
            <a:r>
              <a:rPr sz="1200"/>
              <a:t>Satu hal yang perlu saya sampaikan terus terang. Pada Mirzadeh dan kawan-kawan, asisten lebih dahulu didistilasi dari guru besar. Dalam penelitian ini asisten dilatih dengan cross-entropy, lalu berperan sebagai guru — itu sebabnya panah ini saya gambar abu-abu. Yang saya adopsi adalah gagasan intinya, yaitu guru berkapasitas menengah sebagai jembatan. Rantai penuh versi Mirzadeh tetap saya jalankan sebagai ablasi, dan perbedaannya tidak signifikan.</a:t>
            </a:r>
          </a:p>
          <a:p>
            <a:endParaRPr sz="1200"/>
          </a:p>
          <a:p>
            <a:r>
              <a:rPr sz="1200"/>
              <a:t>CATATAN: Tunjuk kotak diagramnya satu per satu, jangan baca teksnya.</a:t>
            </a:r>
          </a:p>
          <a:p>
            <a:r>
              <a:rPr sz="1200"/>
              <a:t>PARAGRAF TERAKHIR JANGAN DILEWATI — sampaikan duluan sebelum ditanya.</a:t>
            </a:r>
          </a:p>
          <a:p>
            <a:r>
              <a:rPr sz="1200"/>
              <a:t>Kalau didalami → slide cadangan 24: pada 256K selisihnya cuma +0,11 pp (p=0,83), jadi penyimpangan ini tidak menciptakan kemenangan R8.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[0:45]  Skenario pengujian   —   selesai di menit 4:55</a:t>
            </a:r>
          </a:p>
          <a:p>
            <a:r>
              <a:rPr sz="1200"/>
              <a:t>Seluruhnya ada sebelas skenario. R1 sampai R9 membentuk benchmark dari baseline, distilasi langsung, teacher-assistant, hingga self-distillation. R10 dan R11 adalah ablasi komponen arsitektur.</a:t>
            </a:r>
          </a:p>
          <a:p>
            <a:r>
              <a:rPr sz="1200"/>
              <a:t>Yang perlu saya tekankan: seluruh skenario memakai pembagian data, jumlah epoch, dan optimizer yang identik — 100 epoch, SGD dengan momentum 0,9, cosine annealing, dan lima seed.</a:t>
            </a:r>
          </a:p>
          <a:p>
            <a:r>
              <a:rPr sz="1200"/>
              <a:t>Jadi ketika dua lengan dibandingkan, satu-satunya yang berbeda memang faktor yang sedang diuji.</a:t>
            </a:r>
          </a:p>
          <a:p>
            <a:endParaRPr sz="1200"/>
          </a:p>
          <a:p>
            <a:r>
              <a:rPr sz="1200"/>
              <a:t>CATATAN: Ini fondasi klaim validitas lo. Ucapkan pelan dan jelas.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[1:15]  Tangga hasil R1–R9   —   selesai di menit 6:10</a:t>
            </a:r>
          </a:p>
          <a:p>
            <a:r>
              <a:rPr sz="1200"/>
              <a:t>Ini hasil lengkapnya, akurasi uji rata-rata dari lima seed.</a:t>
            </a:r>
          </a:p>
          <a:p>
            <a:r>
              <a:rPr sz="1200"/>
              <a:t>Guru besar mencapai 0,9446 pada skema enam kelas — itu batas atasnya. Asisten 0,8507. Student baseline tanpa distilasi 0,7652 untuk varian 128K dan 0,7784 untuk 256K.</a:t>
            </a:r>
          </a:p>
          <a:p>
            <a:r>
              <a:rPr sz="1200"/>
              <a:t>Student terbaik adalah R8, yaitu WasteNet-256K dengan TA-KD: 0,7873 pada enam kelas dan 0,8235 pada lima kelas.</a:t>
            </a:r>
          </a:p>
          <a:p>
            <a:r>
              <a:rPr sz="1200"/>
              <a:t>Satu catatan penting. Angka pada tabel ini tidak sah dibandingkan bebas antar-baris, karena setiap baris memiliki kondisi yang berbeda. Yang sah adalah membandingkan setiap lengan dengan kontrol berpasangannya, dan itulah yang saya tampilkan pada slide berikutnya.</a:t>
            </a:r>
          </a:p>
          <a:p>
            <a:endParaRPr sz="1200"/>
          </a:p>
          <a:p>
            <a:r>
              <a:rPr sz="1200"/>
              <a:t>CATATAN: JANGAN membacakan seluruh tabel. Sebut 4 angka saja lalu lanjut.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[1:30]  Uji berpasangan R8   —   selesai di menit 7:40</a:t>
            </a:r>
          </a:p>
          <a:p>
            <a:r>
              <a:rPr sz="1200"/>
              <a:t>Ini bukti utama penelitian saya.</a:t>
            </a:r>
          </a:p>
          <a:p>
            <a:r>
              <a:rPr sz="1200"/>
              <a:t>Setiap garis mewakili satu seed. Titik di kiri adalah kontrol tanpa distilasi, titik di kanan adalah lengan TA-KD. Kedua lengan identik — pembagian data sama, inisialisasi sama, jumlah epoch sama — yang berbeda hanya distilasi dinyalakan atau dimatikan.</a:t>
            </a:r>
          </a:p>
          <a:p>
            <a:r>
              <a:rPr sz="1200"/>
              <a:t>Hasilnya, kelima seed naik tanpa kecuali, dan itu terjadi di kedua skema label. Selisihnya 1,00 poin persen pada enam kelas dengan p sama dengan 0,024, dan 1,40 poin persen pada lima kelas dengan p sama dengan 0,045.</a:t>
            </a:r>
          </a:p>
          <a:p>
            <a:r>
              <a:rPr sz="1200"/>
              <a:t>Saya menyadari kenaikan ini tidak besar. Yang saya klaim bukan besarnya, melainkan konsistensinya: lima dari lima seed, pada dua ruang label yang berbeda, dan konsisten di lebih dari satu uji statistik.</a:t>
            </a:r>
          </a:p>
          <a:p>
            <a:endParaRPr sz="1200"/>
          </a:p>
          <a:p>
            <a:r>
              <a:rPr sz="1200"/>
              <a:t>CATATAN: SLIDE PALING PENTING. Pelan. Paragraf terakhir hafalkan.</a:t>
            </a:r>
          </a:p>
          <a:p>
            <a:r>
              <a:rPr sz="1200"/>
              <a:t>Kalau ditanya Wilcoxon 0,062 → itu p terkecil yang mungkin untuk n=5, jadi hasil TERBAIK, bukan kegagalan. Slide cadangan 18.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[1:10]  Capacity gap   —   selesai di menit 8:50</a:t>
            </a:r>
          </a:p>
          <a:p>
            <a:r>
              <a:rPr sz="1200"/>
              <a:t>Slide ini merangkum temuan inti penelitian.</a:t>
            </a:r>
          </a:p>
          <a:p>
            <a:r>
              <a:rPr sz="1200"/>
              <a:t>Kelima panel memakai sumbu-y yang sama dan diurutkan menurut kapasitas guru.</a:t>
            </a:r>
          </a:p>
          <a:p>
            <a:r>
              <a:rPr sz="1200"/>
              <a:t>Panel satu dan tiga memakai guru besar EfficientNet-B4: polanya acak, ada yang naik dan ada yang turun, tidak signifikan.</a:t>
            </a:r>
            <a:br/>
            <a:r>
              <a:rPr sz="1200"/>
              <a:t>Panel empat memakai guru berkapasitas sama melalui self-distillation: arahnya positif, tetapi belum konsisten.</a:t>
            </a:r>
            <a:br/>
            <a:r>
              <a:rPr sz="1200"/>
              <a:t>Panel lima memakai asisten menengah pada student 256K: kelimanya naik.</a:t>
            </a:r>
          </a:p>
          <a:p>
            <a:r>
              <a:rPr sz="1200"/>
              <a:t>Jadi yang menentukan bukan jadwal pelatihannya, melainkan kapasitas gurunya. Guru yang terlalu besar justru gagal — ini gejala capacity gap yang dilaporkan Cho dan Hariharan. Guru harus berkapasitas menengah.</a:t>
            </a:r>
          </a:p>
          <a:p>
            <a:endParaRPr sz="1200"/>
          </a:p>
          <a:p>
            <a:r>
              <a:rPr sz="1200"/>
              <a:t>CATATAN: Hasil yang 'wash' itu KONTRIBUSI, bukan kegagalan. Sampaikan dengan percaya diri.</a:t>
            </a:r>
          </a:p>
          <a:p>
            <a:r>
              <a:rPr sz="1200"/>
              <a:t>Kalau lo terdengar defensif di sini, penguji akan mengulik terus.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[0:55]  ΔF1 per kelas   —   selesai di menit 9:45</a:t>
            </a:r>
          </a:p>
          <a:p>
            <a:r>
              <a:rPr sz="1200"/>
              <a:t>Kalau kenaikan tadi hanya kebetulan, sebarannya akan acak antar-kelas. Ternyata tidak.</a:t>
            </a:r>
          </a:p>
          <a:p>
            <a:r>
              <a:rPr sz="1200"/>
              <a:t>Gain terkonsentrasi di glass, metal, dan plastic — trio kelas yang paling sering tertukar satu sama lain. Itu justru yang diharapkan apabila yang berpindah memang informasi kemiripan antar-kelas, bukan sekadar derau.</a:t>
            </a:r>
          </a:p>
          <a:p>
            <a:r>
              <a:rPr sz="1200"/>
              <a:t>Sebaliknya, kelas trash sedikit menurun, dan hal itu masuk akal: trash adalah kelas buangan yang heterogen, sehingga struktur soft-label dari guru kurang berguna di sana. Ini sekaligus menjelaskan mengapa skema lima kelas menunjukkan gain yang lebih bersih.</a:t>
            </a:r>
          </a:p>
          <a:p>
            <a:endParaRPr sz="1200"/>
          </a:p>
          <a:p>
            <a:r>
              <a:rPr sz="1200"/>
              <a:t>CATATAN: Ini yang membedakan 'angka naik' dari 'ada mekanisme nyata'.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[1:10]  Ablasi arsitektur   —   selesai di menit 10:55</a:t>
            </a:r>
          </a:p>
          <a:p>
            <a:r>
              <a:rPr sz="1200"/>
              <a:t>Atas masukan pada seminar proposal, saya menambahkan ablasi komponen arsitektur, seluruhnya 40 run.</a:t>
            </a:r>
          </a:p>
          <a:p>
            <a:r>
              <a:rPr sz="1200"/>
              <a:t>Hasilnya, satu-satunya komponen yang berpengaruh nyata adalah fungsi aktivasi, dan pengaruhnya bergantung pada kapasitas. Mengganti SiLU dengan ReLU menurunkan varian 128K sebesar 5,33 poin persen dengan p sama dengan 0,004, tetapi pada varian 256K tidak signifikan.</a:t>
            </a:r>
          </a:p>
          <a:p>
            <a:r>
              <a:rPr sz="1200"/>
              <a:t>Yang menarik, expand ratio dapat diturunkan sehingga jumlah parameter berkurang drastis tanpa kehilangan akurasi — artinya arsitektur ini masih over-parameter pada sisi tersebut.</a:t>
            </a:r>
          </a:p>
          <a:p>
            <a:r>
              <a:rPr sz="1200"/>
              <a:t>Implikasinya bagi temuan utama: karena varian 256K terbukti tahan terhadap seluruh ablasi, kenaikan dari TA-KD tidak dapat dijelaskan oleh kekhususan arsitektur, melainkan memang berasal dari cara pelatihannya.</a:t>
            </a:r>
          </a:p>
          <a:p>
            <a:endParaRPr sz="1200"/>
          </a:p>
          <a:p>
            <a:r>
              <a:rPr sz="1200"/>
              <a:t>CATATAN: Paragraf terakhir yang paling penting — ablasi menyambung ke temuan utama.</a:t>
            </a:r>
          </a:p>
          <a:p>
            <a:r>
              <a:rPr sz="1200"/>
              <a:t>Detail per seed ada di slide cadangan 20.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[1:00]  Simpulan   —   selesai di menit 11:55</a:t>
            </a:r>
          </a:p>
          <a:p>
            <a:r>
              <a:rPr sz="1200"/>
              <a:t>Sekarang saya jawab ketiga rumusan masalah tadi.</a:t>
            </a:r>
          </a:p>
          <a:p>
            <a:r>
              <a:rPr sz="1200"/>
              <a:t>Pertama, WasteNet ringan berhasil dibangun dan dilatih dengan knowledge distillation — dua varian, 51 dan 84 mega-FLOPs, dengan student terbaik 0,7873 dan 0,8235.</a:t>
            </a:r>
          </a:p>
          <a:p>
            <a:r>
              <a:rPr sz="1200"/>
              <a:t>Kedua, kapasitas guru menentukan keberhasilan distilasi: guru besar dan guru berkapasitas sama tidak menolong; hanya asisten menengah yang menaikkan performa student, dan hanya ketika kapasitas student memadai.</a:t>
            </a:r>
          </a:p>
          <a:p>
            <a:r>
              <a:rPr sz="1200"/>
              <a:t>Ketiga, peningkatan tersebut signifikan secara statistik dan konsisten pada lima dari lima seed.</a:t>
            </a:r>
          </a:p>
          <a:p>
            <a:r>
              <a:rPr sz="1200"/>
              <a:t>Ditambah satu temuan dari ablasi: fungsi aktivasi bersifat kritis hanya ketika kapasitas langka.</a:t>
            </a:r>
          </a:p>
          <a:p>
            <a:endParaRPr sz="1200"/>
          </a:p>
          <a:p>
            <a:r>
              <a:rPr sz="1200"/>
              <a:t>CATATAN: Sebut 'pertama, kedua, ketiga' dengan tegas — penguji mencocokkan dengan slide 4.</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[0:50]  Keterbatasan &amp; saran   —   selesai di menit 12:45</a:t>
            </a:r>
          </a:p>
          <a:p>
            <a:r>
              <a:rPr sz="1200"/>
              <a:t>Saya juga ingin menyampaikan keterbatasan penelitian ini secara terbuka.</a:t>
            </a:r>
          </a:p>
          <a:p>
            <a:r>
              <a:rPr sz="1200"/>
              <a:t>Pertama, asisten yang saya pakai berjarak 2,03 kali terhadap student 256K, tetapi 4,06 kali terhadap student 128K. Karena itu hasil pada 128K sebaiknya dibaca sebagai "asisten yang tepat belum ditemukan", bukan "128K tidak dapat didistilasi".</a:t>
            </a:r>
          </a:p>
          <a:p>
            <a:r>
              <a:rPr sz="1200"/>
              <a:t>Kedua, learning rate dan resolusi pada lengan 128K mengikuti uji pendahuluan skema lima kelas, sehingga belum sepenuhnya sepadan dengan lengan 256K.</a:t>
            </a:r>
          </a:p>
          <a:p>
            <a:r>
              <a:rPr sz="1200"/>
              <a:t>Keduanya sudah saya tuliskan pada BAB 4 dan menjadi dasar saran penelitian lanjutan.</a:t>
            </a:r>
          </a:p>
          <a:p>
            <a:endParaRPr sz="1200"/>
          </a:p>
          <a:p>
            <a:r>
              <a:rPr sz="1200"/>
              <a:t>CATATAN: Menyebut kelemahan duluan = kredibilitas naik, dan mematikan pertanyaan jebakan.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[0:10]  Terima kasih   —   selesai di menit 12:55</a:t>
            </a:r>
          </a:p>
          <a:p>
            <a:r>
              <a:rPr sz="1200"/>
              <a:t>Demikian pemaparan saya. Terima kasih atas waktu Bapak dan Ibu. Saya persilakan untuk pertanyaan, saran, maupun masukan.</a:t>
            </a:r>
          </a:p>
          <a:p>
            <a:endParaRPr sz="1200"/>
          </a:p>
          <a:p>
            <a:r>
              <a:rPr sz="1200"/>
              <a:t>CATATAN: Berhenti bicara. Jangan mengisi keheningan.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[CADANGAN]  Protokol data &amp; anti-leakage</a:t>
            </a:r>
          </a:p>
          <a:p>
            <a:r>
              <a:rPr sz="1200"/>
              <a:t>PAKAI BILA: ditanya dataset, preprocessing, augmentasi, atau kebocoran data.</a:t>
            </a:r>
          </a:p>
          <a:p>
            <a:r>
              <a:rPr sz="1200"/>
              <a:t>Poin: split dikunci di Notebook R0 sebelum training; augmentasi hanya di train; test set tidak pernah dipakai memilih model, epoch, T, maupun alfa.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[CADANGAN]  Ringkasan uji efek KD</a:t>
            </a:r>
          </a:p>
          <a:p>
            <a:r>
              <a:rPr sz="1200"/>
              <a:t>PAKAI BILA: diminta rangkuman seluruh lengan dalam satu tabel.</a:t>
            </a:r>
          </a:p>
          <a:p>
            <a:r>
              <a:rPr sz="1200"/>
              <a:t>Poin: hanya R8 yang menang sekaligus konsisten 5/5 seed.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Tiga uji statistik + McNemar</a:t>
            </a:r>
          </a:p>
          <a:p>
            <a:r>
              <a:rPr sz="1200"/>
              <a:t>PAKAI BILA: ditanya kenapa tiga uji, atau kenapa Wilcoxon tidak signifikan, atau diminta angka McNemar.</a:t>
            </a:r>
          </a:p>
          <a:p>
            <a:r>
              <a:rPr sz="1200"/>
              <a:t>Poin 1: unit analisisnya berbeda — paired-t &amp; Wilcoxon per seed, McNemar per sampel.</a:t>
            </a:r>
          </a:p>
          <a:p>
            <a:r>
              <a:rPr sz="1200"/>
              <a:t>Poin 2: dengan n=5, p dua sisi terkecil Wilcoxon = 0,0625. Jadi 0,062 adalah hasil TERKUAT yang mungkin, dan muncul justru karena unggul 5/5.</a:t>
            </a:r>
          </a:p>
          <a:p>
            <a:r>
              <a:rPr sz="1200"/>
              <a:t>Poin 3: McNemar K5 signifikan (p=0,014), K6 belum (p=0,085) — sampaikan apa adanya, jangan ditutupi.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Error bar vs berpasangan</a:t>
            </a:r>
          </a:p>
          <a:p>
            <a:r>
              <a:rPr sz="1200"/>
              <a:t>PAKAI BILA: ada yang bilang "simpangan bakunya besar" atau "rentangnya tumpang tindih".</a:t>
            </a:r>
          </a:p>
          <a:p>
            <a:r>
              <a:rPr sz="1200"/>
              <a:t>Poin: variasi antar-seed berasal dari perbedaan split, bukan dari efek KD. Desain berpasangan menghilangkan sumber variasi itu — karena itulah uji berpasangan yang dipakai.</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Ablasi per seed</a:t>
            </a:r>
          </a:p>
          <a:p>
            <a:r>
              <a:rPr sz="1200"/>
              <a:t>PAKAI BILA: ditanya detail ablasi, atau kenapa sebagian varian mengubah jumlah parameter.</a:t>
            </a:r>
          </a:p>
          <a:p>
            <a:r>
              <a:rPr sz="1200"/>
              <a:t>Poin: hanya ReLU pada 128K yang kalah di SELURUH seed. Varian expand &amp; hidden-layer mengubah parameter sehingga confounded — jumlah parameter selalu dilaporkan berdampingan.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Arsitektur &amp; efisiensi</a:t>
            </a:r>
          </a:p>
          <a:p>
            <a:r>
              <a:rPr sz="1200"/>
              <a:t>PAKAI BILA: ditanya WasteNet itu arsitektur apa, kernelnya berapa, FLOPs-nya, atau definisi parameter.</a:t>
            </a:r>
          </a:p>
          <a:p>
            <a:r>
              <a:rPr sz="1200"/>
              <a:t>Poin: depthwise-separable + inverted residual; kernel 3x3 spasial dan 1x1 antar-kanal. Parameter = bobot + bias + gamma/beta BatchNorm. WasteNet White dkk. (2020) adalah model lain yang kebetulan senama.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Validasi silang berulang</a:t>
            </a:r>
          </a:p>
          <a:p>
            <a:r>
              <a:rPr sz="1200"/>
              <a:t>PAKAI BILA: diminta menambahkan k-fold cross validation.</a:t>
            </a:r>
          </a:p>
          <a:p>
            <a:r>
              <a:rPr sz="1200"/>
              <a:t>Poin: yang dijalankan adalah 5x hold-out berulang dengan split BERBEDA tiap seed = repeated / Monte-Carlo CV, jadi manfaat inti k-fold sudah didapat. Dietterich (1998) justru memperingatkan k-fold + paired-t punya Type I error meningkat dan menganjurkan McNemar — dan McNemar sudah dipakai.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Capacity gap K5</a:t>
            </a:r>
          </a:p>
          <a:p>
            <a:r>
              <a:rPr sz="1200"/>
              <a:t>PAKAI BILA: diminta bukti bahwa polanya tidak khusus skema enam kelas.</a:t>
            </a:r>
          </a:p>
          <a:p>
            <a:r>
              <a:rPr sz="1200"/>
              <a:t>Poin: pola yang sama berulang di lima kelas. Jujur sebutkan ada satu seed yang hasilnya seri pada lengan TA-KD 128K.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[CADANGAN]  Penyimpangan dari Mirzadeh</a:t>
            </a:r>
          </a:p>
          <a:p>
            <a:r>
              <a:rPr sz="1200"/>
              <a:t>PAKAI BILA: ditanya "asisten Anda dilatih CE, apakah itu masih TA-KD?" atau "kenapa tidak persis Mirzadeh?"</a:t>
            </a:r>
          </a:p>
          <a:p>
            <a:r>
              <a:rPr sz="1200"/>
              <a:t>Poin 1: yang diadopsi gagasan intinya — guru berkapasitas menengah sebagai jembatan capacity gap.</a:t>
            </a:r>
          </a:p>
          <a:p>
            <a:r>
              <a:rPr sz="1200"/>
              <a:t>Poin 2: cara melatih asisten diuji sebagai ablasi. Di tingkat asisten tidak signifikan (p=0,62 dan p=0,97; varian dua tahap p=0,77).</a:t>
            </a:r>
          </a:p>
          <a:p>
            <a:r>
              <a:rPr sz="1200"/>
              <a:t>Poin 3 (paling penting): di tingkat student pada lengan 256K — lengan yang membawa klaim utama — selisihnya hanya +0,11 pp dengan p=0,83. Jadi pilihan ini TIDAK menciptakan kemenangan R8.</a:t>
            </a:r>
          </a:p>
          <a:p>
            <a:r>
              <a:rPr sz="1200"/>
              <a:t>Poin 4 (jujur): pada 128K rantai penuh justru +1,85 pp, tetapi 4/5 seed dan p=0,07, belum signifikan — dan lengan 128K memang lengan yang keterbatasan hyperparameter-nya sudah diakui.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kicker">
            <a:extLst>
              <a:ext uri="{FF2B5EF4-FFF2-40B4-BE49-F238E27FC236}">
                <a16:creationId xmlns:a16="http://schemas.microsoft.com/office/drawing/2014/main" id="{7A2F13A5-557E-4A0A-99ED-914945420A5D}"/>
              </a:ext>
            </a:extLst>
          </p:cNvPr>
          <p:cNvSpPr>
            <a:spLocks noGrp="1"/>
          </p:cNvSpPr>
          <p:nvPr/>
        </p:nvSpPr>
        <p:spPr>
          <a:xfrm>
            <a:off x="400050" y="361950"/>
            <a:ext cx="2857500" cy="209550"/>
          </a:xfrm>
          <a:prstGeom prst="rect">
            <a:avLst/>
          </a:prstGeom>
          <a:noFill/>
          <a:ln w="0">
            <a:noFill/>
            <a:prstDash val="solid"/>
          </a:ln>
        </p:spPr>
        <p:txBody>
          <a:bodyPr wrap="square" anchor="t">
            <a:normAutofit fontScale="76389" lnSpcReduction="20000"/>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SIDANG SKRIPSI</a:t>
            </a:r>
          </a:p>
        </p:txBody>
      </p:sp>
      <p:sp>
        <p:nvSpPr>
          <p:cNvPr id="2" name="cover-title">
            <a:extLst>
              <a:ext uri="{FF2B5EF4-FFF2-40B4-BE49-F238E27FC236}">
                <a16:creationId xmlns:a16="http://schemas.microsoft.com/office/drawing/2014/main" id="{9CB26A92-682F-4A31-A790-C26161260624}"/>
              </a:ext>
            </a:extLst>
          </p:cNvPr>
          <p:cNvSpPr>
            <a:spLocks noGrp="1"/>
          </p:cNvSpPr>
          <p:nvPr/>
        </p:nvSpPr>
        <p:spPr>
          <a:xfrm>
            <a:off x="400050" y="1123950"/>
            <a:ext cx="9144000" cy="2333625"/>
          </a:xfrm>
          <a:prstGeom prst="rect">
            <a:avLst/>
          </a:prstGeom>
          <a:noFill/>
          <a:ln w="0">
            <a:noFill/>
            <a:prstDash val="solid"/>
          </a:ln>
        </p:spPr>
        <p:txBody>
          <a:bodyPr wrap="square" anchor="t">
            <a:normAutofit fontScale="90583" lnSpcReduction="20000"/>
          </a:bodyPr>
          <a:lstStyle/>
          <a:p>
            <a:pPr>
              <a:defRPr sz="3750" b="1">
                <a:solidFill>
                  <a:srgbClr val="000000"/>
                </a:solidFill>
                <a:latin typeface="Helvetica Neue"/>
                <a:ea typeface="Helvetica Neue"/>
                <a:cs typeface="Helvetica Neue"/>
              </a:defRPr>
            </a:pPr>
            <a:r>
              <a:rPr sz="3750" b="1" dirty="0">
                <a:solidFill>
                  <a:srgbClr val="000000"/>
                </a:solidFill>
                <a:latin typeface="Helvetica Neue"/>
                <a:ea typeface="Helvetica Neue"/>
                <a:cs typeface="Helvetica Neue"/>
              </a:rPr>
              <a:t>Knowledge Distillation Berbasis Teacher-Assistant untuk Model Ringan WasteNet pada Klasifikasi Citra Sampah TrashNet</a:t>
            </a:r>
            <a:endParaRPr lang="en-US" sz="3750" b="1" dirty="0">
              <a:solidFill>
                <a:srgbClr val="000000"/>
              </a:solidFill>
              <a:latin typeface="Helvetica Neue"/>
              <a:ea typeface="Helvetica Neue"/>
              <a:cs typeface="Helvetica Neue"/>
            </a:endParaRPr>
          </a:p>
        </p:txBody>
      </p:sp>
      <p:sp>
        <p:nvSpPr>
          <p:cNvPr id="3" name="cover-band">
            <a:extLst>
              <a:ext uri="{FF2B5EF4-FFF2-40B4-BE49-F238E27FC236}">
                <a16:creationId xmlns:a16="http://schemas.microsoft.com/office/drawing/2014/main" id="{9CBDA3A1-F263-4B46-92FF-FE187F962C1B}"/>
              </a:ext>
            </a:extLst>
          </p:cNvPr>
          <p:cNvSpPr>
            <a:spLocks noGrp="1"/>
          </p:cNvSpPr>
          <p:nvPr/>
        </p:nvSpPr>
        <p:spPr>
          <a:xfrm>
            <a:off x="0" y="4171950"/>
            <a:ext cx="12192000" cy="2686050"/>
          </a:xfrm>
          <a:prstGeom prst="rect">
            <a:avLst/>
          </a:prstGeom>
          <a:solidFill>
            <a:srgbClr val="EDEDED"/>
          </a:solidFill>
          <a:ln w="0">
            <a:noFill/>
            <a:prstDash val="solid"/>
          </a:ln>
        </p:spPr>
      </p:sp>
      <p:sp>
        <p:nvSpPr>
          <p:cNvPr id="4" name="marker">
            <a:extLst>
              <a:ext uri="{FF2B5EF4-FFF2-40B4-BE49-F238E27FC236}">
                <a16:creationId xmlns:a16="http://schemas.microsoft.com/office/drawing/2014/main" id="{3C1D9953-80F7-4357-A7B5-8F75D94B95E8}"/>
              </a:ext>
            </a:extLst>
          </p:cNvPr>
          <p:cNvSpPr>
            <a:spLocks noGrp="1"/>
          </p:cNvSpPr>
          <p:nvPr/>
        </p:nvSpPr>
        <p:spPr>
          <a:xfrm>
            <a:off x="4324350" y="4657725"/>
            <a:ext cx="257175" cy="257175"/>
          </a:xfrm>
          <a:prstGeom prst="rect">
            <a:avLst/>
          </a:prstGeom>
          <a:solidFill>
            <a:srgbClr val="FF6B35"/>
          </a:solidFill>
          <a:ln w="0">
            <a:noFill/>
            <a:prstDash val="solid"/>
          </a:ln>
        </p:spPr>
      </p:sp>
      <p:sp>
        <p:nvSpPr>
          <p:cNvPr id="5" name="marker">
            <a:extLst>
              <a:ext uri="{FF2B5EF4-FFF2-40B4-BE49-F238E27FC236}">
                <a16:creationId xmlns:a16="http://schemas.microsoft.com/office/drawing/2014/main" id="{6C0564C7-924F-4CB6-81D2-8D9DBDB65FED}"/>
              </a:ext>
            </a:extLst>
          </p:cNvPr>
          <p:cNvSpPr>
            <a:spLocks noGrp="1"/>
          </p:cNvSpPr>
          <p:nvPr/>
        </p:nvSpPr>
        <p:spPr>
          <a:xfrm>
            <a:off x="8239125" y="4657725"/>
            <a:ext cx="257175" cy="257175"/>
          </a:xfrm>
          <a:prstGeom prst="rect">
            <a:avLst/>
          </a:prstGeom>
          <a:solidFill>
            <a:srgbClr val="FF6B35"/>
          </a:solidFill>
          <a:ln w="0">
            <a:noFill/>
            <a:prstDash val="solid"/>
          </a:ln>
        </p:spPr>
      </p:sp>
      <p:sp>
        <p:nvSpPr>
          <p:cNvPr id="6" name="author-label">
            <a:extLst>
              <a:ext uri="{FF2B5EF4-FFF2-40B4-BE49-F238E27FC236}">
                <a16:creationId xmlns:a16="http://schemas.microsoft.com/office/drawing/2014/main" id="{30BC7525-10EA-45F8-A674-886764865658}"/>
              </a:ext>
            </a:extLst>
          </p:cNvPr>
          <p:cNvSpPr>
            <a:spLocks noGrp="1"/>
          </p:cNvSpPr>
          <p:nvPr/>
        </p:nvSpPr>
        <p:spPr>
          <a:xfrm>
            <a:off x="4324350" y="5095875"/>
            <a:ext cx="3238500" cy="26670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Mahasiswa</a:t>
            </a:r>
          </a:p>
        </p:txBody>
      </p:sp>
      <p:sp>
        <p:nvSpPr>
          <p:cNvPr id="7" name="author">
            <a:extLst>
              <a:ext uri="{FF2B5EF4-FFF2-40B4-BE49-F238E27FC236}">
                <a16:creationId xmlns:a16="http://schemas.microsoft.com/office/drawing/2014/main" id="{425B0154-D782-4700-8038-202879265225}"/>
              </a:ext>
            </a:extLst>
          </p:cNvPr>
          <p:cNvSpPr>
            <a:spLocks noGrp="1"/>
          </p:cNvSpPr>
          <p:nvPr/>
        </p:nvSpPr>
        <p:spPr>
          <a:xfrm>
            <a:off x="4324350" y="5391150"/>
            <a:ext cx="3238500" cy="666750"/>
          </a:xfrm>
          <a:prstGeom prst="rect">
            <a:avLst/>
          </a:prstGeom>
          <a:noFill/>
          <a:ln w="0">
            <a:noFill/>
            <a:prstDash val="solid"/>
          </a:ln>
        </p:spPr>
        <p:txBody>
          <a:bodyPr wrap="square" anchor="t">
            <a:normAutofit fontScale="96795" lnSpcReduction="10000"/>
          </a:bodyPr>
          <a:lstStyle/>
          <a:p>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Hamza Pratama</a:t>
            </a:r>
          </a:p>
          <a:p>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4611422068</a:t>
            </a:r>
          </a:p>
        </p:txBody>
      </p:sp>
      <p:sp>
        <p:nvSpPr>
          <p:cNvPr id="8" name="program-label">
            <a:extLst>
              <a:ext uri="{FF2B5EF4-FFF2-40B4-BE49-F238E27FC236}">
                <a16:creationId xmlns:a16="http://schemas.microsoft.com/office/drawing/2014/main" id="{AEC30C02-65B8-48E6-B2F6-3EC2176AD50F}"/>
              </a:ext>
            </a:extLst>
          </p:cNvPr>
          <p:cNvSpPr>
            <a:spLocks noGrp="1"/>
          </p:cNvSpPr>
          <p:nvPr/>
        </p:nvSpPr>
        <p:spPr>
          <a:xfrm>
            <a:off x="8239125" y="5095875"/>
            <a:ext cx="3238500" cy="26670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Program</a:t>
            </a:r>
          </a:p>
        </p:txBody>
      </p:sp>
      <p:sp>
        <p:nvSpPr>
          <p:cNvPr id="9" name="program">
            <a:extLst>
              <a:ext uri="{FF2B5EF4-FFF2-40B4-BE49-F238E27FC236}">
                <a16:creationId xmlns:a16="http://schemas.microsoft.com/office/drawing/2014/main" id="{F253EFF4-7D4B-486E-A060-E8866E05B040}"/>
              </a:ext>
            </a:extLst>
          </p:cNvPr>
          <p:cNvSpPr>
            <a:spLocks noGrp="1"/>
          </p:cNvSpPr>
          <p:nvPr/>
        </p:nvSpPr>
        <p:spPr>
          <a:xfrm>
            <a:off x="8239125" y="5391150"/>
            <a:ext cx="3238500" cy="666750"/>
          </a:xfrm>
          <a:prstGeom prst="rect">
            <a:avLst/>
          </a:prstGeom>
          <a:noFill/>
          <a:ln w="0">
            <a:noFill/>
            <a:prstDash val="solid"/>
          </a:ln>
        </p:spPr>
        <p:txBody>
          <a:bodyPr wrap="square" anchor="t">
            <a:normAutofit fontScale="84981" lnSpcReduction="20000"/>
          </a:bodyPr>
          <a:lstStyle/>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S1 Teknik Informatika</a:t>
            </a:r>
          </a:p>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FMIPA Universitas Negeri Semarang - 2026</a:t>
            </a:r>
          </a:p>
        </p:txBody>
      </p:sp>
      <p:sp>
        <p:nvSpPr>
          <p:cNvPr id="10" name="slide-number">
            <a:extLst>
              <a:ext uri="{FF2B5EF4-FFF2-40B4-BE49-F238E27FC236}">
                <a16:creationId xmlns:a16="http://schemas.microsoft.com/office/drawing/2014/main" id="{359197C7-BE63-45B6-94C5-A85FE504BADF}"/>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01</a:t>
            </a:r>
          </a:p>
        </p:txBody>
      </p:sp>
    </p:spTree>
    <p:extLst>
      <p:ext uri="{BB962C8B-B14F-4D97-AF65-F5344CB8AC3E}">
        <p14:creationId xmlns:p14="http://schemas.microsoft.com/office/powerpoint/2010/main" val="1307397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A5268F15-0D32-4331-A3BF-65D1204095CA}"/>
              </a:ext>
            </a:extLst>
          </p:cNvPr>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Masalah utama: akurasi perlu bertemu efisiensi</a:t>
            </a:r>
          </a:p>
        </p:txBody>
      </p:sp>
      <p:sp>
        <p:nvSpPr>
          <p:cNvPr id="2"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02</a:t>
            </a:r>
          </a:p>
        </p:txBody>
      </p:sp>
      <p:sp>
        <p:nvSpPr>
          <p:cNvPr id="3" name="lead">
            <a:extLst>
              <a:ext uri="{FF2B5EF4-FFF2-40B4-BE49-F238E27FC236}">
                <a16:creationId xmlns:a16="http://schemas.microsoft.com/office/drawing/2014/main" id="{2601C068-4580-4216-83FC-A117B11EE0EE}"/>
              </a:ext>
            </a:extLst>
          </p:cNvPr>
          <p:cNvSpPr>
            <a:spLocks noGrp="1"/>
          </p:cNvSpPr>
          <p:nvPr/>
        </p:nvSpPr>
        <p:spPr>
          <a:xfrm>
            <a:off x="400050" y="1257300"/>
            <a:ext cx="10668000" cy="876300"/>
          </a:xfrm>
          <a:prstGeom prst="rect">
            <a:avLst/>
          </a:prstGeom>
          <a:noFill/>
          <a:ln w="0">
            <a:noFill/>
            <a:prstDash val="solid"/>
          </a:ln>
        </p:spPr>
        <p:txBody>
          <a:bodyPr wrap="square" anchor="t">
            <a:normAutofit/>
          </a:bodyPr>
          <a:lstStyle/>
          <a:p>
            <a:pPr>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Pemilahan sampah manual masih rentan tidak konsisten, sementara CNN akurat sering terlalu berat untuk smart bin atau edge device.</a:t>
            </a:r>
          </a:p>
        </p:txBody>
      </p:sp>
      <p:sp>
        <p:nvSpPr>
          <p:cNvPr id="4" name="context-card-0">
            <a:extLst>
              <a:ext uri="{FF2B5EF4-FFF2-40B4-BE49-F238E27FC236}">
                <a16:creationId xmlns:a16="http://schemas.microsoft.com/office/drawing/2014/main" id="{EA8C3D38-0127-437F-9FCA-C5BD550E9619}"/>
              </a:ext>
            </a:extLst>
          </p:cNvPr>
          <p:cNvSpPr>
            <a:spLocks noGrp="1"/>
          </p:cNvSpPr>
          <p:nvPr/>
        </p:nvSpPr>
        <p:spPr>
          <a:xfrm>
            <a:off x="400050" y="2686050"/>
            <a:ext cx="3571875" cy="2819400"/>
          </a:xfrm>
          <a:prstGeom prst="rect">
            <a:avLst/>
          </a:prstGeom>
          <a:solidFill>
            <a:srgbClr val="EDEDED"/>
          </a:solidFill>
          <a:ln w="0">
            <a:noFill/>
            <a:prstDash val="solid"/>
          </a:ln>
        </p:spPr>
      </p:sp>
      <p:sp>
        <p:nvSpPr>
          <p:cNvPr id="5" name="context-head-0">
            <a:extLst>
              <a:ext uri="{FF2B5EF4-FFF2-40B4-BE49-F238E27FC236}">
                <a16:creationId xmlns:a16="http://schemas.microsoft.com/office/drawing/2014/main" id="{C21147DD-0476-49F0-9572-90221931DC9F}"/>
              </a:ext>
            </a:extLst>
          </p:cNvPr>
          <p:cNvSpPr>
            <a:spLocks noGrp="1"/>
          </p:cNvSpPr>
          <p:nvPr/>
        </p:nvSpPr>
        <p:spPr>
          <a:xfrm>
            <a:off x="666750" y="2990850"/>
            <a:ext cx="3000375" cy="457200"/>
          </a:xfrm>
          <a:prstGeom prst="rect">
            <a:avLst/>
          </a:prstGeom>
          <a:noFill/>
          <a:ln w="0">
            <a:noFill/>
            <a:prstDash val="solid"/>
          </a:ln>
        </p:spPr>
        <p:txBody>
          <a:bodyPr wrap="square" anchor="t">
            <a:normAutofit/>
          </a:bodyPr>
          <a:lstStyle/>
          <a:p>
            <a:pPr>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Kebutuhan aplikasi</a:t>
            </a:r>
          </a:p>
        </p:txBody>
      </p:sp>
      <p:sp>
        <p:nvSpPr>
          <p:cNvPr id="6" name="context-body-0">
            <a:extLst>
              <a:ext uri="{FF2B5EF4-FFF2-40B4-BE49-F238E27FC236}">
                <a16:creationId xmlns:a16="http://schemas.microsoft.com/office/drawing/2014/main" id="{E72E9B99-F752-4E81-94E0-B497B244E737}"/>
              </a:ext>
            </a:extLst>
          </p:cNvPr>
          <p:cNvSpPr>
            <a:spLocks noGrp="1"/>
          </p:cNvSpPr>
          <p:nvPr/>
        </p:nvSpPr>
        <p:spPr>
          <a:xfrm>
            <a:off x="666750" y="3695700"/>
            <a:ext cx="3000375" cy="1190625"/>
          </a:xfrm>
          <a:prstGeom prst="rect">
            <a:avLst/>
          </a:prstGeom>
          <a:noFill/>
          <a:ln w="0">
            <a:noFill/>
            <a:prstDash val="solid"/>
          </a:ln>
        </p:spPr>
        <p:txBody>
          <a:bodyPr wrap="square" anchor="t">
            <a:normAutofit/>
          </a:bodyPr>
          <a:lstStyle/>
          <a:p>
            <a:pPr>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Klasifikasi cepat untuk cardboard, glass, metal, paper, plastic, dan trash.</a:t>
            </a:r>
          </a:p>
        </p:txBody>
      </p:sp>
      <p:sp>
        <p:nvSpPr>
          <p:cNvPr id="7" name="context-card-1">
            <a:extLst>
              <a:ext uri="{FF2B5EF4-FFF2-40B4-BE49-F238E27FC236}">
                <a16:creationId xmlns:a16="http://schemas.microsoft.com/office/drawing/2014/main" id="{328D8880-9135-4F2F-A4F5-B22DB4931533}"/>
              </a:ext>
            </a:extLst>
          </p:cNvPr>
          <p:cNvSpPr>
            <a:spLocks noGrp="1"/>
          </p:cNvSpPr>
          <p:nvPr/>
        </p:nvSpPr>
        <p:spPr>
          <a:xfrm>
            <a:off x="4314825" y="2686050"/>
            <a:ext cx="3571875" cy="2819400"/>
          </a:xfrm>
          <a:prstGeom prst="rect">
            <a:avLst/>
          </a:prstGeom>
          <a:solidFill>
            <a:srgbClr val="EDEDED"/>
          </a:solidFill>
          <a:ln w="0">
            <a:noFill/>
            <a:prstDash val="solid"/>
          </a:ln>
        </p:spPr>
      </p:sp>
      <p:sp>
        <p:nvSpPr>
          <p:cNvPr id="8" name="context-head-1">
            <a:extLst>
              <a:ext uri="{FF2B5EF4-FFF2-40B4-BE49-F238E27FC236}">
                <a16:creationId xmlns:a16="http://schemas.microsoft.com/office/drawing/2014/main" id="{9EDEF905-E9AC-40C7-81AB-0262DB4690DF}"/>
              </a:ext>
            </a:extLst>
          </p:cNvPr>
          <p:cNvSpPr>
            <a:spLocks noGrp="1"/>
          </p:cNvSpPr>
          <p:nvPr/>
        </p:nvSpPr>
        <p:spPr>
          <a:xfrm>
            <a:off x="4581525" y="2990850"/>
            <a:ext cx="3000375" cy="457200"/>
          </a:xfrm>
          <a:prstGeom prst="rect">
            <a:avLst/>
          </a:prstGeom>
          <a:noFill/>
          <a:ln w="0">
            <a:noFill/>
            <a:prstDash val="solid"/>
          </a:ln>
        </p:spPr>
        <p:txBody>
          <a:bodyPr wrap="square" anchor="t">
            <a:normAutofit/>
          </a:bodyPr>
          <a:lstStyle/>
          <a:p>
            <a:pPr>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Kendala deployment</a:t>
            </a:r>
          </a:p>
        </p:txBody>
      </p:sp>
      <p:sp>
        <p:nvSpPr>
          <p:cNvPr id="9" name="context-body-1">
            <a:extLst>
              <a:ext uri="{FF2B5EF4-FFF2-40B4-BE49-F238E27FC236}">
                <a16:creationId xmlns:a16="http://schemas.microsoft.com/office/drawing/2014/main" id="{90993F08-90C9-47C1-A949-FC6C7AA4097B}"/>
              </a:ext>
            </a:extLst>
          </p:cNvPr>
          <p:cNvSpPr>
            <a:spLocks noGrp="1"/>
          </p:cNvSpPr>
          <p:nvPr/>
        </p:nvSpPr>
        <p:spPr>
          <a:xfrm>
            <a:off x="4581525" y="3695700"/>
            <a:ext cx="3000375" cy="1190625"/>
          </a:xfrm>
          <a:prstGeom prst="rect">
            <a:avLst/>
          </a:prstGeom>
          <a:noFill/>
          <a:ln w="0">
            <a:noFill/>
            <a:prstDash val="solid"/>
          </a:ln>
        </p:spPr>
        <p:txBody>
          <a:bodyPr wrap="square" anchor="t">
            <a:normAutofit/>
          </a:bodyPr>
          <a:lstStyle/>
          <a:p>
            <a:pPr>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Model besar membutuhkan komputasi tinggi, tidak ideal untuk perangkat terbatas.</a:t>
            </a:r>
          </a:p>
        </p:txBody>
      </p:sp>
      <p:sp>
        <p:nvSpPr>
          <p:cNvPr id="10" name="context-card-2">
            <a:extLst>
              <a:ext uri="{FF2B5EF4-FFF2-40B4-BE49-F238E27FC236}">
                <a16:creationId xmlns:a16="http://schemas.microsoft.com/office/drawing/2014/main" id="{2001BADF-D680-45AD-8710-4FFDC19ED5A0}"/>
              </a:ext>
            </a:extLst>
          </p:cNvPr>
          <p:cNvSpPr>
            <a:spLocks noGrp="1"/>
          </p:cNvSpPr>
          <p:nvPr/>
        </p:nvSpPr>
        <p:spPr>
          <a:xfrm>
            <a:off x="8229600" y="2686050"/>
            <a:ext cx="3571875" cy="2819400"/>
          </a:xfrm>
          <a:prstGeom prst="rect">
            <a:avLst/>
          </a:prstGeom>
          <a:solidFill>
            <a:srgbClr val="EDEDED"/>
          </a:solidFill>
          <a:ln w="0">
            <a:noFill/>
            <a:prstDash val="solid"/>
          </a:ln>
        </p:spPr>
      </p:sp>
      <p:sp>
        <p:nvSpPr>
          <p:cNvPr id="11" name="context-head-2">
            <a:extLst>
              <a:ext uri="{FF2B5EF4-FFF2-40B4-BE49-F238E27FC236}">
                <a16:creationId xmlns:a16="http://schemas.microsoft.com/office/drawing/2014/main" id="{DC7EAB8C-12D5-4F6B-92DE-0AAB417AB4B4}"/>
              </a:ext>
            </a:extLst>
          </p:cNvPr>
          <p:cNvSpPr>
            <a:spLocks noGrp="1"/>
          </p:cNvSpPr>
          <p:nvPr/>
        </p:nvSpPr>
        <p:spPr>
          <a:xfrm>
            <a:off x="8496300" y="2990850"/>
            <a:ext cx="3000375" cy="457200"/>
          </a:xfrm>
          <a:prstGeom prst="rect">
            <a:avLst/>
          </a:prstGeom>
          <a:noFill/>
          <a:ln w="0">
            <a:noFill/>
            <a:prstDash val="solid"/>
          </a:ln>
        </p:spPr>
        <p:txBody>
          <a:bodyPr wrap="square" anchor="t">
            <a:normAutofit/>
          </a:bodyPr>
          <a:lstStyle/>
          <a:p>
            <a:pPr>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Solusi riset</a:t>
            </a:r>
          </a:p>
        </p:txBody>
      </p:sp>
      <p:sp>
        <p:nvSpPr>
          <p:cNvPr id="12" name="context-body-2">
            <a:extLst>
              <a:ext uri="{FF2B5EF4-FFF2-40B4-BE49-F238E27FC236}">
                <a16:creationId xmlns:a16="http://schemas.microsoft.com/office/drawing/2014/main" id="{D0AFFF09-0D2F-4848-A5B4-C076F4D2CB75}"/>
              </a:ext>
            </a:extLst>
          </p:cNvPr>
          <p:cNvSpPr>
            <a:spLocks noGrp="1"/>
          </p:cNvSpPr>
          <p:nvPr/>
        </p:nvSpPr>
        <p:spPr>
          <a:xfrm>
            <a:off x="8496300" y="3695700"/>
            <a:ext cx="3000375" cy="1190625"/>
          </a:xfrm>
          <a:prstGeom prst="rect">
            <a:avLst/>
          </a:prstGeom>
          <a:noFill/>
          <a:ln w="0">
            <a:noFill/>
            <a:prstDash val="solid"/>
          </a:ln>
        </p:spPr>
        <p:txBody>
          <a:bodyPr wrap="square" anchor="t">
            <a:normAutofit/>
          </a:bodyPr>
          <a:lstStyle/>
          <a:p>
            <a:pPr>
              <a:defRPr sz="165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Knowledge distillation mentransfer dark knowledge dari teacher ke student ringan.</a:t>
            </a:r>
          </a:p>
        </p:txBody>
      </p:sp>
    </p:spTree>
    <p:extLst>
      <p:ext uri="{BB962C8B-B14F-4D97-AF65-F5344CB8AC3E}">
        <p14:creationId xmlns:p14="http://schemas.microsoft.com/office/powerpoint/2010/main" val="122333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CA53979-4A65-4D27-85FE-BF7F4A077D6A}"/>
              </a:ext>
            </a:extLst>
          </p:cNvPr>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Celah riset: capacity gap pada student sangat kecil</a:t>
            </a:r>
          </a:p>
        </p:txBody>
      </p:sp>
      <p:sp>
        <p:nvSpPr>
          <p:cNvPr id="2" name="slide-number">
            <a:extLst>
              <a:ext uri="{FF2B5EF4-FFF2-40B4-BE49-F238E27FC236}">
                <a16:creationId xmlns:a16="http://schemas.microsoft.com/office/drawing/2014/main" id="{45EF55E3-A5F5-4610-8574-AFB7ABA0ADE6}"/>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03</a:t>
            </a:r>
          </a:p>
        </p:txBody>
      </p:sp>
      <p:sp>
        <p:nvSpPr>
          <p:cNvPr id="3" name="left">
            <a:extLst>
              <a:ext uri="{FF2B5EF4-FFF2-40B4-BE49-F238E27FC236}">
                <a16:creationId xmlns:a16="http://schemas.microsoft.com/office/drawing/2014/main" id="{B886424F-4555-48E0-B17A-FF77CE8155CC}"/>
              </a:ext>
            </a:extLst>
          </p:cNvPr>
          <p:cNvSpPr>
            <a:spLocks noGrp="1"/>
          </p:cNvSpPr>
          <p:nvPr/>
        </p:nvSpPr>
        <p:spPr>
          <a:xfrm>
            <a:off x="400050" y="1447800"/>
            <a:ext cx="4953000" cy="2238375"/>
          </a:xfrm>
          <a:prstGeom prst="rect">
            <a:avLst/>
          </a:prstGeom>
          <a:noFill/>
          <a:ln w="0">
            <a:noFill/>
            <a:prstDash val="solid"/>
          </a:ln>
        </p:spPr>
        <p:txBody>
          <a:bodyPr wrap="square" anchor="t">
            <a:normAutofit/>
          </a:bodyPr>
          <a:lstStyle/>
          <a:p>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Penelitian terdahulu seperti Focus-RCNet melaporkan akurasi sekitar 92% pada TrashNet dengan KD dari EfficientNet-B4. Namun, fokusnya belum pada perbandingan sistematis kapasitas teacher untuk student ultra-ringan.</a:t>
            </a:r>
          </a:p>
        </p:txBody>
      </p:sp>
      <p:sp>
        <p:nvSpPr>
          <p:cNvPr id="4" name="right-panel">
            <a:extLst>
              <a:ext uri="{FF2B5EF4-FFF2-40B4-BE49-F238E27FC236}">
                <a16:creationId xmlns:a16="http://schemas.microsoft.com/office/drawing/2014/main" id="{AEE0C7F7-5A85-437A-8406-AD5369AD2C25}"/>
              </a:ext>
            </a:extLst>
          </p:cNvPr>
          <p:cNvSpPr>
            <a:spLocks noGrp="1"/>
          </p:cNvSpPr>
          <p:nvPr/>
        </p:nvSpPr>
        <p:spPr>
          <a:xfrm>
            <a:off x="6172200" y="1200150"/>
            <a:ext cx="5619750" cy="4048125"/>
          </a:xfrm>
          <a:prstGeom prst="rect">
            <a:avLst/>
          </a:prstGeom>
          <a:solidFill>
            <a:srgbClr val="EDEDED"/>
          </a:solidFill>
          <a:ln w="0">
            <a:noFill/>
            <a:prstDash val="solid"/>
          </a:ln>
        </p:spPr>
      </p:sp>
      <p:sp>
        <p:nvSpPr>
          <p:cNvPr id="5" name="gap-label">
            <a:extLst>
              <a:ext uri="{FF2B5EF4-FFF2-40B4-BE49-F238E27FC236}">
                <a16:creationId xmlns:a16="http://schemas.microsoft.com/office/drawing/2014/main" id="{04667828-F072-4C0E-BB27-F83C40D7917C}"/>
              </a:ext>
            </a:extLst>
          </p:cNvPr>
          <p:cNvSpPr>
            <a:spLocks noGrp="1"/>
          </p:cNvSpPr>
          <p:nvPr/>
        </p:nvSpPr>
        <p:spPr>
          <a:xfrm>
            <a:off x="6572250" y="1524000"/>
            <a:ext cx="3429000" cy="26670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Kebaruan yang diuji</a:t>
            </a:r>
          </a:p>
        </p:txBody>
      </p:sp>
      <p:sp>
        <p:nvSpPr>
          <p:cNvPr id="6" name="gap-points">
            <a:extLst>
              <a:ext uri="{FF2B5EF4-FFF2-40B4-BE49-F238E27FC236}">
                <a16:creationId xmlns:a16="http://schemas.microsoft.com/office/drawing/2014/main" id="{17434EE7-5E26-4AE9-8C32-EB82448CD60A}"/>
              </a:ext>
            </a:extLst>
          </p:cNvPr>
          <p:cNvSpPr>
            <a:spLocks noGrp="1"/>
          </p:cNvSpPr>
          <p:nvPr/>
        </p:nvSpPr>
        <p:spPr>
          <a:xfrm>
            <a:off x="6572250" y="2000250"/>
            <a:ext cx="4762500" cy="2667000"/>
          </a:xfrm>
          <a:prstGeom prst="rect">
            <a:avLst/>
          </a:prstGeom>
          <a:noFill/>
          <a:ln w="0">
            <a:noFill/>
            <a:prstDash val="solid"/>
          </a:ln>
        </p:spPr>
        <p:txBody>
          <a:bodyPr wrap="square" anchor="t">
            <a:normAutofit lnSpcReduction="10000"/>
          </a:bodyPr>
          <a:lstStyle/>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 Menggunakan WasteNet-128K dan WasteNet-256K sebagai target student ringan.</a:t>
            </a:r>
          </a:p>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 Membandingkan large-teacher, teacher-assistant, dan self-distillation secara terkontrol.</a:t>
            </a:r>
          </a:p>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 Menggunakan dua ruang label: K6 dan K5 tanpa kelas trash.</a:t>
            </a:r>
          </a:p>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 Memvalidasi selisih performa dengan uji statistik.</a:t>
            </a:r>
          </a:p>
        </p:txBody>
      </p:sp>
    </p:spTree>
    <p:extLst>
      <p:ext uri="{BB962C8B-B14F-4D97-AF65-F5344CB8AC3E}">
        <p14:creationId xmlns:p14="http://schemas.microsoft.com/office/powerpoint/2010/main" val="926651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F99C13D1-DF1F-4F0B-A6C0-F48D1925EFF0}"/>
              </a:ext>
            </a:extLst>
          </p:cNvPr>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Rumusan masalah dan tujuan penelitian</a:t>
            </a:r>
          </a:p>
        </p:txBody>
      </p:sp>
      <p:sp>
        <p:nvSpPr>
          <p:cNvPr id="2" name="slide-number">
            <a:extLst>
              <a:ext uri="{FF2B5EF4-FFF2-40B4-BE49-F238E27FC236}">
                <a16:creationId xmlns:a16="http://schemas.microsoft.com/office/drawing/2014/main" id="{DAE51DD4-26DE-493C-A5C7-EECF52B0775F}"/>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04</a:t>
            </a:r>
          </a:p>
        </p:txBody>
      </p:sp>
      <p:sp>
        <p:nvSpPr>
          <p:cNvPr id="3" name="marker">
            <a:extLst>
              <a:ext uri="{FF2B5EF4-FFF2-40B4-BE49-F238E27FC236}">
                <a16:creationId xmlns:a16="http://schemas.microsoft.com/office/drawing/2014/main" id="{3FABA172-B92B-4B15-A5E1-5F678BCFD91E}"/>
              </a:ext>
            </a:extLst>
          </p:cNvPr>
          <p:cNvSpPr>
            <a:spLocks noGrp="1"/>
          </p:cNvSpPr>
          <p:nvPr/>
        </p:nvSpPr>
        <p:spPr>
          <a:xfrm>
            <a:off x="400050" y="1504950"/>
            <a:ext cx="266700" cy="266700"/>
          </a:xfrm>
          <a:prstGeom prst="rect">
            <a:avLst/>
          </a:prstGeom>
          <a:solidFill>
            <a:srgbClr val="FF6B35"/>
          </a:solidFill>
          <a:ln w="0">
            <a:noFill/>
            <a:prstDash val="solid"/>
          </a:ln>
        </p:spPr>
      </p:sp>
      <p:sp>
        <p:nvSpPr>
          <p:cNvPr id="4" name="q-no-0">
            <a:extLst>
              <a:ext uri="{FF2B5EF4-FFF2-40B4-BE49-F238E27FC236}">
                <a16:creationId xmlns:a16="http://schemas.microsoft.com/office/drawing/2014/main" id="{5098CC79-649D-449E-8D3E-91BBE38E6D89}"/>
              </a:ext>
            </a:extLst>
          </p:cNvPr>
          <p:cNvSpPr>
            <a:spLocks noGrp="1"/>
          </p:cNvSpPr>
          <p:nvPr/>
        </p:nvSpPr>
        <p:spPr>
          <a:xfrm>
            <a:off x="876300" y="1428750"/>
            <a:ext cx="590550" cy="400050"/>
          </a:xfrm>
          <a:prstGeom prst="rect">
            <a:avLst/>
          </a:prstGeom>
          <a:noFill/>
          <a:ln w="0">
            <a:noFill/>
            <a:prstDash val="solid"/>
          </a:ln>
        </p:spPr>
        <p:txBody>
          <a:bodyPr wrap="square" anchor="t">
            <a:normAutofit fontScale="97500" lnSpcReduction="10000"/>
          </a:bodyPr>
          <a:lstStyle/>
          <a:p>
            <a:pP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01</a:t>
            </a:r>
          </a:p>
        </p:txBody>
      </p:sp>
      <p:sp>
        <p:nvSpPr>
          <p:cNvPr id="5" name="q-text-0">
            <a:extLst>
              <a:ext uri="{FF2B5EF4-FFF2-40B4-BE49-F238E27FC236}">
                <a16:creationId xmlns:a16="http://schemas.microsoft.com/office/drawing/2014/main" id="{7030E50B-593A-418F-A299-81DAB9C87747}"/>
              </a:ext>
            </a:extLst>
          </p:cNvPr>
          <p:cNvSpPr>
            <a:spLocks noGrp="1"/>
          </p:cNvSpPr>
          <p:nvPr/>
        </p:nvSpPr>
        <p:spPr>
          <a:xfrm>
            <a:off x="1695450" y="1428750"/>
            <a:ext cx="9144000" cy="666750"/>
          </a:xfrm>
          <a:prstGeom prst="rect">
            <a:avLst/>
          </a:prstGeom>
          <a:noFill/>
          <a:ln w="0">
            <a:noFill/>
            <a:prstDash val="solid"/>
          </a:ln>
        </p:spPr>
        <p:txBody>
          <a:bodyPr wrap="square" anchor="t">
            <a:normAutofit fontScale="83889" lnSpcReduction="10000"/>
          </a:bodyPr>
          <a:lstStyle/>
          <a:p>
            <a:pPr>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Bagaimana membangun WasteNet ringan untuk klasifikasi citra sampah TrashNet dengan KD?</a:t>
            </a:r>
          </a:p>
        </p:txBody>
      </p:sp>
      <p:sp>
        <p:nvSpPr>
          <p:cNvPr id="6" name="rule">
            <a:extLst>
              <a:ext uri="{FF2B5EF4-FFF2-40B4-BE49-F238E27FC236}">
                <a16:creationId xmlns:a16="http://schemas.microsoft.com/office/drawing/2014/main" id="{23CCC51A-E148-4186-B7CF-19BFFD9F01DC}"/>
              </a:ext>
            </a:extLst>
          </p:cNvPr>
          <p:cNvSpPr>
            <a:spLocks noGrp="1"/>
          </p:cNvSpPr>
          <p:nvPr/>
        </p:nvSpPr>
        <p:spPr>
          <a:xfrm>
            <a:off x="1695450" y="2324100"/>
            <a:ext cx="7429500" cy="9525"/>
          </a:xfrm>
          <a:prstGeom prst="rect">
            <a:avLst/>
          </a:prstGeom>
          <a:solidFill>
            <a:srgbClr val="B8BCC4"/>
          </a:solidFill>
          <a:ln w="0">
            <a:noFill/>
            <a:prstDash val="solid"/>
          </a:ln>
        </p:spPr>
      </p:sp>
      <p:sp>
        <p:nvSpPr>
          <p:cNvPr id="7" name="marker">
            <a:extLst>
              <a:ext uri="{FF2B5EF4-FFF2-40B4-BE49-F238E27FC236}">
                <a16:creationId xmlns:a16="http://schemas.microsoft.com/office/drawing/2014/main" id="{3D66B239-75EE-44DB-922B-AB2F4EAC6BD5}"/>
              </a:ext>
            </a:extLst>
          </p:cNvPr>
          <p:cNvSpPr>
            <a:spLocks noGrp="1"/>
          </p:cNvSpPr>
          <p:nvPr/>
        </p:nvSpPr>
        <p:spPr>
          <a:xfrm>
            <a:off x="400050" y="2800350"/>
            <a:ext cx="266700" cy="266700"/>
          </a:xfrm>
          <a:prstGeom prst="rect">
            <a:avLst/>
          </a:prstGeom>
          <a:solidFill>
            <a:srgbClr val="FF6B35"/>
          </a:solidFill>
          <a:ln w="0">
            <a:noFill/>
            <a:prstDash val="solid"/>
          </a:ln>
        </p:spPr>
      </p:sp>
      <p:sp>
        <p:nvSpPr>
          <p:cNvPr id="8" name="q-no-1">
            <a:extLst>
              <a:ext uri="{FF2B5EF4-FFF2-40B4-BE49-F238E27FC236}">
                <a16:creationId xmlns:a16="http://schemas.microsoft.com/office/drawing/2014/main" id="{2AF4128F-8EE5-4DE9-94DB-19D79A6F3BC4}"/>
              </a:ext>
            </a:extLst>
          </p:cNvPr>
          <p:cNvSpPr>
            <a:spLocks noGrp="1"/>
          </p:cNvSpPr>
          <p:nvPr/>
        </p:nvSpPr>
        <p:spPr>
          <a:xfrm>
            <a:off x="876300" y="2724150"/>
            <a:ext cx="590550" cy="400050"/>
          </a:xfrm>
          <a:prstGeom prst="rect">
            <a:avLst/>
          </a:prstGeom>
          <a:noFill/>
          <a:ln w="0">
            <a:noFill/>
            <a:prstDash val="solid"/>
          </a:ln>
        </p:spPr>
        <p:txBody>
          <a:bodyPr wrap="square" anchor="t">
            <a:normAutofit fontScale="97500" lnSpcReduction="10000"/>
          </a:bodyPr>
          <a:lstStyle/>
          <a:p>
            <a:pP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02</a:t>
            </a:r>
          </a:p>
        </p:txBody>
      </p:sp>
      <p:sp>
        <p:nvSpPr>
          <p:cNvPr id="9" name="q-text-1">
            <a:extLst>
              <a:ext uri="{FF2B5EF4-FFF2-40B4-BE49-F238E27FC236}">
                <a16:creationId xmlns:a16="http://schemas.microsoft.com/office/drawing/2014/main" id="{013A1B62-DB0B-40B8-9663-4EF67760D45F}"/>
              </a:ext>
            </a:extLst>
          </p:cNvPr>
          <p:cNvSpPr>
            <a:spLocks noGrp="1"/>
          </p:cNvSpPr>
          <p:nvPr/>
        </p:nvSpPr>
        <p:spPr>
          <a:xfrm>
            <a:off x="1695450" y="2724150"/>
            <a:ext cx="9144000" cy="666750"/>
          </a:xfrm>
          <a:prstGeom prst="rect">
            <a:avLst/>
          </a:prstGeom>
          <a:noFill/>
          <a:ln w="0">
            <a:noFill/>
            <a:prstDash val="solid"/>
          </a:ln>
        </p:spPr>
        <p:txBody>
          <a:bodyPr wrap="square" anchor="t">
            <a:normAutofit fontScale="90945"/>
          </a:bodyPr>
          <a:lstStyle/>
          <a:p>
            <a:pPr>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Bagaimana pengaruh kapasitas teacher terhadap performa student WasteNet?</a:t>
            </a:r>
          </a:p>
        </p:txBody>
      </p:sp>
      <p:sp>
        <p:nvSpPr>
          <p:cNvPr id="10" name="rule">
            <a:extLst>
              <a:ext uri="{FF2B5EF4-FFF2-40B4-BE49-F238E27FC236}">
                <a16:creationId xmlns:a16="http://schemas.microsoft.com/office/drawing/2014/main" id="{191F37FF-6050-428D-BCCA-5C559C8BCE16}"/>
              </a:ext>
            </a:extLst>
          </p:cNvPr>
          <p:cNvSpPr>
            <a:spLocks noGrp="1"/>
          </p:cNvSpPr>
          <p:nvPr/>
        </p:nvSpPr>
        <p:spPr>
          <a:xfrm>
            <a:off x="1695450" y="3619500"/>
            <a:ext cx="7429500" cy="9525"/>
          </a:xfrm>
          <a:prstGeom prst="rect">
            <a:avLst/>
          </a:prstGeom>
          <a:solidFill>
            <a:srgbClr val="B8BCC4"/>
          </a:solidFill>
          <a:ln w="0">
            <a:noFill/>
            <a:prstDash val="solid"/>
          </a:ln>
        </p:spPr>
      </p:sp>
      <p:sp>
        <p:nvSpPr>
          <p:cNvPr id="11" name="marker">
            <a:extLst>
              <a:ext uri="{FF2B5EF4-FFF2-40B4-BE49-F238E27FC236}">
                <a16:creationId xmlns:a16="http://schemas.microsoft.com/office/drawing/2014/main" id="{CCE90A47-015B-44DC-8B0E-054F7A623D90}"/>
              </a:ext>
            </a:extLst>
          </p:cNvPr>
          <p:cNvSpPr>
            <a:spLocks noGrp="1"/>
          </p:cNvSpPr>
          <p:nvPr/>
        </p:nvSpPr>
        <p:spPr>
          <a:xfrm>
            <a:off x="400050" y="4095750"/>
            <a:ext cx="266700" cy="266700"/>
          </a:xfrm>
          <a:prstGeom prst="rect">
            <a:avLst/>
          </a:prstGeom>
          <a:solidFill>
            <a:srgbClr val="FF6B35"/>
          </a:solidFill>
          <a:ln w="0">
            <a:noFill/>
            <a:prstDash val="solid"/>
          </a:ln>
        </p:spPr>
      </p:sp>
      <p:sp>
        <p:nvSpPr>
          <p:cNvPr id="12" name="q-no-2">
            <a:extLst>
              <a:ext uri="{FF2B5EF4-FFF2-40B4-BE49-F238E27FC236}">
                <a16:creationId xmlns:a16="http://schemas.microsoft.com/office/drawing/2014/main" id="{695CE69A-2281-48BE-9546-4428DA12EAD8}"/>
              </a:ext>
            </a:extLst>
          </p:cNvPr>
          <p:cNvSpPr>
            <a:spLocks noGrp="1"/>
          </p:cNvSpPr>
          <p:nvPr/>
        </p:nvSpPr>
        <p:spPr>
          <a:xfrm>
            <a:off x="876300" y="4019550"/>
            <a:ext cx="590550" cy="400050"/>
          </a:xfrm>
          <a:prstGeom prst="rect">
            <a:avLst/>
          </a:prstGeom>
          <a:noFill/>
          <a:ln w="0">
            <a:noFill/>
            <a:prstDash val="solid"/>
          </a:ln>
        </p:spPr>
        <p:txBody>
          <a:bodyPr wrap="square" anchor="t">
            <a:normAutofit fontScale="97500" lnSpcReduction="10000"/>
          </a:bodyPr>
          <a:lstStyle/>
          <a:p>
            <a:pPr>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03</a:t>
            </a:r>
          </a:p>
        </p:txBody>
      </p:sp>
      <p:sp>
        <p:nvSpPr>
          <p:cNvPr id="13" name="q-text-2">
            <a:extLst>
              <a:ext uri="{FF2B5EF4-FFF2-40B4-BE49-F238E27FC236}">
                <a16:creationId xmlns:a16="http://schemas.microsoft.com/office/drawing/2014/main" id="{7E79B147-5297-4BEA-98B0-7D3D3BE9A49E}"/>
              </a:ext>
            </a:extLst>
          </p:cNvPr>
          <p:cNvSpPr>
            <a:spLocks noGrp="1"/>
          </p:cNvSpPr>
          <p:nvPr/>
        </p:nvSpPr>
        <p:spPr>
          <a:xfrm>
            <a:off x="1695450" y="4019550"/>
            <a:ext cx="9144000" cy="666750"/>
          </a:xfrm>
          <a:prstGeom prst="rect">
            <a:avLst/>
          </a:prstGeom>
          <a:noFill/>
          <a:ln w="0">
            <a:noFill/>
            <a:prstDash val="solid"/>
          </a:ln>
        </p:spPr>
        <p:txBody>
          <a:bodyPr wrap="square" anchor="t">
            <a:normAutofit fontScale="92500"/>
          </a:bodyPr>
          <a:lstStyle/>
          <a:p>
            <a:pPr>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Apakah performa model berbeda signifikan dibanding baseline tanpa KD?</a:t>
            </a:r>
          </a:p>
        </p:txBody>
      </p:sp>
      <p:sp>
        <p:nvSpPr>
          <p:cNvPr id="14" name="rule">
            <a:extLst>
              <a:ext uri="{FF2B5EF4-FFF2-40B4-BE49-F238E27FC236}">
                <a16:creationId xmlns:a16="http://schemas.microsoft.com/office/drawing/2014/main" id="{BBC1ADD8-AB97-4F5B-A4EC-9D9F72479046}"/>
              </a:ext>
            </a:extLst>
          </p:cNvPr>
          <p:cNvSpPr>
            <a:spLocks noGrp="1"/>
          </p:cNvSpPr>
          <p:nvPr/>
        </p:nvSpPr>
        <p:spPr>
          <a:xfrm>
            <a:off x="1695450" y="4914900"/>
            <a:ext cx="7429500" cy="9525"/>
          </a:xfrm>
          <a:prstGeom prst="rect">
            <a:avLst/>
          </a:prstGeom>
          <a:solidFill>
            <a:srgbClr val="B8BCC4"/>
          </a:solidFill>
          <a:ln w="0">
            <a:noFill/>
            <a:prstDash val="solid"/>
          </a:ln>
        </p:spPr>
      </p:sp>
      <p:sp>
        <p:nvSpPr>
          <p:cNvPr id="15" name="objective">
            <a:extLst>
              <a:ext uri="{FF2B5EF4-FFF2-40B4-BE49-F238E27FC236}">
                <a16:creationId xmlns:a16="http://schemas.microsoft.com/office/drawing/2014/main" id="{E012F864-5CC7-4CD7-B38A-D044FC2C6937}"/>
              </a:ext>
            </a:extLst>
          </p:cNvPr>
          <p:cNvSpPr>
            <a:spLocks noGrp="1"/>
          </p:cNvSpPr>
          <p:nvPr/>
        </p:nvSpPr>
        <p:spPr>
          <a:xfrm>
            <a:off x="1695450" y="5572125"/>
            <a:ext cx="8001000" cy="5524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Tujuan akhirnya adalah menentukan strategi distilasi paling efektif untuk student berkapasitas kecil pada klasifikasi sampah.</a:t>
            </a:r>
          </a:p>
        </p:txBody>
      </p:sp>
    </p:spTree>
    <p:extLst>
      <p:ext uri="{BB962C8B-B14F-4D97-AF65-F5344CB8AC3E}">
        <p14:creationId xmlns:p14="http://schemas.microsoft.com/office/powerpoint/2010/main" val="109081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2C80FD03-7122-496C-9D63-C1E55C54672B}"/>
              </a:ext>
            </a:extLst>
          </p:cNvPr>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Dataset: TrashNet sebagai benchmark utama</a:t>
            </a:r>
          </a:p>
        </p:txBody>
      </p:sp>
      <p:sp>
        <p:nvSpPr>
          <p:cNvPr id="2" name="slide-number">
            <a:extLst>
              <a:ext uri="{FF2B5EF4-FFF2-40B4-BE49-F238E27FC236}">
                <a16:creationId xmlns:a16="http://schemas.microsoft.com/office/drawing/2014/main" id="{4C51E0EA-B7A2-4CE4-A51C-F40D825773F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05</a:t>
            </a:r>
          </a:p>
        </p:txBody>
      </p:sp>
      <p:sp>
        <p:nvSpPr>
          <p:cNvPr id="3" name="metric-1">
            <a:extLst>
              <a:ext uri="{FF2B5EF4-FFF2-40B4-BE49-F238E27FC236}">
                <a16:creationId xmlns:a16="http://schemas.microsoft.com/office/drawing/2014/main" id="{69F5B560-D224-4679-BA3E-98C0237D3D2B}"/>
              </a:ext>
            </a:extLst>
          </p:cNvPr>
          <p:cNvSpPr>
            <a:spLocks noGrp="1"/>
          </p:cNvSpPr>
          <p:nvPr/>
        </p:nvSpPr>
        <p:spPr>
          <a:xfrm>
            <a:off x="400050" y="1619250"/>
            <a:ext cx="2571750" cy="2190750"/>
          </a:xfrm>
          <a:prstGeom prst="rect">
            <a:avLst/>
          </a:prstGeom>
          <a:solidFill>
            <a:srgbClr val="EDEDED"/>
          </a:solidFill>
          <a:ln w="0">
            <a:noFill/>
            <a:prstDash val="solid"/>
          </a:ln>
        </p:spPr>
      </p:sp>
      <p:sp>
        <p:nvSpPr>
          <p:cNvPr id="4" name="metric-2">
            <a:extLst>
              <a:ext uri="{FF2B5EF4-FFF2-40B4-BE49-F238E27FC236}">
                <a16:creationId xmlns:a16="http://schemas.microsoft.com/office/drawing/2014/main" id="{67429B02-2B5A-4756-B794-D6A621F0B4F6}"/>
              </a:ext>
            </a:extLst>
          </p:cNvPr>
          <p:cNvSpPr>
            <a:spLocks noGrp="1"/>
          </p:cNvSpPr>
          <p:nvPr/>
        </p:nvSpPr>
        <p:spPr>
          <a:xfrm>
            <a:off x="3371850" y="1619250"/>
            <a:ext cx="2571750" cy="2190750"/>
          </a:xfrm>
          <a:prstGeom prst="rect">
            <a:avLst/>
          </a:prstGeom>
          <a:solidFill>
            <a:srgbClr val="EDEDED"/>
          </a:solidFill>
          <a:ln w="0">
            <a:noFill/>
            <a:prstDash val="solid"/>
          </a:ln>
        </p:spPr>
      </p:sp>
      <p:sp>
        <p:nvSpPr>
          <p:cNvPr id="5" name="metric-3">
            <a:extLst>
              <a:ext uri="{FF2B5EF4-FFF2-40B4-BE49-F238E27FC236}">
                <a16:creationId xmlns:a16="http://schemas.microsoft.com/office/drawing/2014/main" id="{C90E38BC-ADDD-47A4-A7FC-29C7D0DB0878}"/>
              </a:ext>
            </a:extLst>
          </p:cNvPr>
          <p:cNvSpPr>
            <a:spLocks noGrp="1"/>
          </p:cNvSpPr>
          <p:nvPr/>
        </p:nvSpPr>
        <p:spPr>
          <a:xfrm>
            <a:off x="6343650" y="1619250"/>
            <a:ext cx="2571750" cy="2190750"/>
          </a:xfrm>
          <a:prstGeom prst="rect">
            <a:avLst/>
          </a:prstGeom>
          <a:solidFill>
            <a:srgbClr val="EDEDED"/>
          </a:solidFill>
          <a:ln w="0">
            <a:noFill/>
            <a:prstDash val="solid"/>
          </a:ln>
        </p:spPr>
      </p:sp>
      <p:sp>
        <p:nvSpPr>
          <p:cNvPr id="6" name="metric-4">
            <a:extLst>
              <a:ext uri="{FF2B5EF4-FFF2-40B4-BE49-F238E27FC236}">
                <a16:creationId xmlns:a16="http://schemas.microsoft.com/office/drawing/2014/main" id="{368D3840-3D08-4CB4-90CF-E8995080F32F}"/>
              </a:ext>
            </a:extLst>
          </p:cNvPr>
          <p:cNvSpPr>
            <a:spLocks noGrp="1"/>
          </p:cNvSpPr>
          <p:nvPr/>
        </p:nvSpPr>
        <p:spPr>
          <a:xfrm>
            <a:off x="9315450" y="1619250"/>
            <a:ext cx="2476500" cy="2190750"/>
          </a:xfrm>
          <a:prstGeom prst="rect">
            <a:avLst/>
          </a:prstGeom>
          <a:solidFill>
            <a:srgbClr val="EDEDED"/>
          </a:solidFill>
          <a:ln w="0">
            <a:noFill/>
            <a:prstDash val="solid"/>
          </a:ln>
        </p:spPr>
      </p:sp>
      <p:sp>
        <p:nvSpPr>
          <p:cNvPr id="7" name="m-0">
            <a:extLst>
              <a:ext uri="{FF2B5EF4-FFF2-40B4-BE49-F238E27FC236}">
                <a16:creationId xmlns:a16="http://schemas.microsoft.com/office/drawing/2014/main" id="{089727E8-FDBC-4E29-8E23-6D667182AA37}"/>
              </a:ext>
            </a:extLst>
          </p:cNvPr>
          <p:cNvSpPr>
            <a:spLocks noGrp="1"/>
          </p:cNvSpPr>
          <p:nvPr/>
        </p:nvSpPr>
        <p:spPr>
          <a:xfrm>
            <a:off x="666750" y="2047875"/>
            <a:ext cx="1952625" cy="552450"/>
          </a:xfrm>
          <a:prstGeom prst="rect">
            <a:avLst/>
          </a:prstGeom>
          <a:noFill/>
          <a:ln w="0">
            <a:noFill/>
            <a:prstDash val="solid"/>
          </a:ln>
        </p:spPr>
        <p:txBody>
          <a:bodyPr wrap="square" anchor="t">
            <a:normAutofit fontScale="96032"/>
          </a:bodyPr>
          <a:lstStyle/>
          <a:p>
            <a:pPr>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2.527</a:t>
            </a:r>
          </a:p>
        </p:txBody>
      </p:sp>
      <p:sp>
        <p:nvSpPr>
          <p:cNvPr id="8" name="md-0">
            <a:extLst>
              <a:ext uri="{FF2B5EF4-FFF2-40B4-BE49-F238E27FC236}">
                <a16:creationId xmlns:a16="http://schemas.microsoft.com/office/drawing/2014/main" id="{41A41BE8-244B-4D57-93EA-68BC3CD3DDF6}"/>
              </a:ext>
            </a:extLst>
          </p:cNvPr>
          <p:cNvSpPr>
            <a:spLocks noGrp="1"/>
          </p:cNvSpPr>
          <p:nvPr/>
        </p:nvSpPr>
        <p:spPr>
          <a:xfrm>
            <a:off x="666750" y="2876550"/>
            <a:ext cx="1952625" cy="7429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citra berlabel (2.521 dipakai setelah dedup)</a:t>
            </a:r>
          </a:p>
        </p:txBody>
      </p:sp>
      <p:sp>
        <p:nvSpPr>
          <p:cNvPr id="9" name="m-1">
            <a:extLst>
              <a:ext uri="{FF2B5EF4-FFF2-40B4-BE49-F238E27FC236}">
                <a16:creationId xmlns:a16="http://schemas.microsoft.com/office/drawing/2014/main" id="{418CB7AC-0897-437A-B70E-83FB947F88B3}"/>
              </a:ext>
            </a:extLst>
          </p:cNvPr>
          <p:cNvSpPr>
            <a:spLocks noGrp="1"/>
          </p:cNvSpPr>
          <p:nvPr/>
        </p:nvSpPr>
        <p:spPr>
          <a:xfrm>
            <a:off x="3638550" y="2047875"/>
            <a:ext cx="1952625" cy="552450"/>
          </a:xfrm>
          <a:prstGeom prst="rect">
            <a:avLst/>
          </a:prstGeom>
          <a:noFill/>
          <a:ln w="0">
            <a:noFill/>
            <a:prstDash val="solid"/>
          </a:ln>
        </p:spPr>
        <p:txBody>
          <a:bodyPr wrap="square" anchor="t">
            <a:normAutofit fontScale="96032"/>
          </a:bodyPr>
          <a:lstStyle/>
          <a:p>
            <a:pPr>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6</a:t>
            </a:r>
          </a:p>
        </p:txBody>
      </p:sp>
      <p:sp>
        <p:nvSpPr>
          <p:cNvPr id="10" name="md-1">
            <a:extLst>
              <a:ext uri="{FF2B5EF4-FFF2-40B4-BE49-F238E27FC236}">
                <a16:creationId xmlns:a16="http://schemas.microsoft.com/office/drawing/2014/main" id="{3AB86E13-4342-4DAF-84DD-127102CFF311}"/>
              </a:ext>
            </a:extLst>
          </p:cNvPr>
          <p:cNvSpPr>
            <a:spLocks noGrp="1"/>
          </p:cNvSpPr>
          <p:nvPr/>
        </p:nvSpPr>
        <p:spPr>
          <a:xfrm>
            <a:off x="3638550" y="2876550"/>
            <a:ext cx="1952625" cy="7429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kelas: cardboard, glass, metal, paper, plastic, trash</a:t>
            </a:r>
          </a:p>
        </p:txBody>
      </p:sp>
      <p:sp>
        <p:nvSpPr>
          <p:cNvPr id="11" name="m-2">
            <a:extLst>
              <a:ext uri="{FF2B5EF4-FFF2-40B4-BE49-F238E27FC236}">
                <a16:creationId xmlns:a16="http://schemas.microsoft.com/office/drawing/2014/main" id="{5AA76F13-CB56-4E91-885F-536D96A8F276}"/>
              </a:ext>
            </a:extLst>
          </p:cNvPr>
          <p:cNvSpPr>
            <a:spLocks noGrp="1"/>
          </p:cNvSpPr>
          <p:nvPr/>
        </p:nvSpPr>
        <p:spPr>
          <a:xfrm>
            <a:off x="6610350" y="2047875"/>
            <a:ext cx="1952625" cy="552450"/>
          </a:xfrm>
          <a:prstGeom prst="rect">
            <a:avLst/>
          </a:prstGeom>
          <a:noFill/>
          <a:ln w="0">
            <a:noFill/>
            <a:prstDash val="solid"/>
          </a:ln>
        </p:spPr>
        <p:txBody>
          <a:bodyPr wrap="square" anchor="t">
            <a:normAutofit fontScale="96032"/>
          </a:bodyPr>
          <a:lstStyle/>
          <a:p>
            <a:pPr>
              <a:defRPr sz="3150" b="1">
                <a:solidFill>
                  <a:srgbClr val="FF6B35"/>
                </a:solidFill>
                <a:latin typeface="Helvetica Neue"/>
                <a:ea typeface="Helvetica Neue"/>
                <a:cs typeface="Helvetica Neue"/>
              </a:defRPr>
            </a:pPr>
            <a:r>
              <a:rPr sz="3150" b="1">
                <a:solidFill>
                  <a:srgbClr val="FF6B35"/>
                </a:solidFill>
                <a:latin typeface="Helvetica Neue"/>
                <a:ea typeface="Helvetica Neue"/>
                <a:cs typeface="Helvetica Neue"/>
              </a:rPr>
              <a:t>K6 / K5</a:t>
            </a:r>
          </a:p>
        </p:txBody>
      </p:sp>
      <p:sp>
        <p:nvSpPr>
          <p:cNvPr id="12" name="md-2">
            <a:extLst>
              <a:ext uri="{FF2B5EF4-FFF2-40B4-BE49-F238E27FC236}">
                <a16:creationId xmlns:a16="http://schemas.microsoft.com/office/drawing/2014/main" id="{DCAEFE77-A74B-4649-8A8F-1C5366A056A3}"/>
              </a:ext>
            </a:extLst>
          </p:cNvPr>
          <p:cNvSpPr>
            <a:spLocks noGrp="1"/>
          </p:cNvSpPr>
          <p:nvPr/>
        </p:nvSpPr>
        <p:spPr>
          <a:xfrm>
            <a:off x="6610350" y="2876550"/>
            <a:ext cx="1952625" cy="7429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dua ruang label untuk menguji pengaruh kelas trash</a:t>
            </a:r>
          </a:p>
        </p:txBody>
      </p:sp>
      <p:sp>
        <p:nvSpPr>
          <p:cNvPr id="13" name="m-3">
            <a:extLst>
              <a:ext uri="{FF2B5EF4-FFF2-40B4-BE49-F238E27FC236}">
                <a16:creationId xmlns:a16="http://schemas.microsoft.com/office/drawing/2014/main" id="{EFB2E9CB-F8F1-4961-B050-6AE53F2AB9D9}"/>
              </a:ext>
            </a:extLst>
          </p:cNvPr>
          <p:cNvSpPr>
            <a:spLocks noGrp="1"/>
          </p:cNvSpPr>
          <p:nvPr/>
        </p:nvSpPr>
        <p:spPr>
          <a:xfrm>
            <a:off x="9582150" y="2047875"/>
            <a:ext cx="1952625" cy="552450"/>
          </a:xfrm>
          <a:prstGeom prst="rect">
            <a:avLst/>
          </a:prstGeom>
          <a:noFill/>
          <a:ln w="0">
            <a:noFill/>
            <a:prstDash val="solid"/>
          </a:ln>
        </p:spPr>
        <p:txBody>
          <a:bodyPr wrap="square" anchor="t">
            <a:normAutofit fontScale="96032"/>
          </a:bodyPr>
          <a:lstStyle/>
          <a:p>
            <a:pPr>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70/15/15</a:t>
            </a:r>
          </a:p>
        </p:txBody>
      </p:sp>
      <p:sp>
        <p:nvSpPr>
          <p:cNvPr id="14" name="md-3">
            <a:extLst>
              <a:ext uri="{FF2B5EF4-FFF2-40B4-BE49-F238E27FC236}">
                <a16:creationId xmlns:a16="http://schemas.microsoft.com/office/drawing/2014/main" id="{161202A6-E6ED-4FB1-8224-394BA870612C}"/>
              </a:ext>
            </a:extLst>
          </p:cNvPr>
          <p:cNvSpPr>
            <a:spLocks noGrp="1"/>
          </p:cNvSpPr>
          <p:nvPr/>
        </p:nvSpPr>
        <p:spPr>
          <a:xfrm>
            <a:off x="9582150" y="2876550"/>
            <a:ext cx="1952625" cy="7429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split train, validation, test secara stratified</a:t>
            </a:r>
          </a:p>
        </p:txBody>
      </p:sp>
      <p:sp>
        <p:nvSpPr>
          <p:cNvPr id="15" name="note">
            <a:extLst>
              <a:ext uri="{FF2B5EF4-FFF2-40B4-BE49-F238E27FC236}">
                <a16:creationId xmlns:a16="http://schemas.microsoft.com/office/drawing/2014/main" id="{B2605DC2-2CBD-4B58-AFC3-6560A7E95B79}"/>
              </a:ext>
            </a:extLst>
          </p:cNvPr>
          <p:cNvSpPr>
            <a:spLocks noGrp="1"/>
          </p:cNvSpPr>
          <p:nvPr/>
        </p:nvSpPr>
        <p:spPr>
          <a:xfrm>
            <a:off x="400050" y="4629150"/>
            <a:ext cx="10287000" cy="762000"/>
          </a:xfrm>
          <a:prstGeom prst="rect">
            <a:avLst/>
          </a:prstGeom>
          <a:noFill/>
          <a:ln w="0">
            <a:noFill/>
            <a:prstDash val="solid"/>
          </a:ln>
        </p:spPr>
        <p:txBody>
          <a:bodyPr wrap="square" anchor="t">
            <a:normAutofit/>
          </a:bodyPr>
          <a:lstStyle/>
          <a:p>
            <a:pPr>
              <a:defRPr sz="1875">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Kelas trash bersifat heterogen dan memiliki jumlah citra paling sedikit, sehingga proposal menguji skema K5 untuk melihat konsistensi efektivitas distilasi.</a:t>
            </a:r>
          </a:p>
        </p:txBody>
      </p:sp>
    </p:spTree>
    <p:extLst>
      <p:ext uri="{BB962C8B-B14F-4D97-AF65-F5344CB8AC3E}">
        <p14:creationId xmlns:p14="http://schemas.microsoft.com/office/powerpoint/2010/main" val="1178160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Alur &amp; strategi distilasi</a:t>
            </a:r>
          </a:p>
        </p:txBody>
      </p:sp>
      <p:sp>
        <p:nvSpPr>
          <p:cNvPr id="2" name="slide-numbe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06</a:t>
            </a:r>
          </a:p>
        </p:txBody>
      </p:sp>
      <p:sp>
        <p:nvSpPr>
          <p:cNvPr id="30" name="direct-arrow"/>
          <p:cNvSpPr/>
          <p:nvPr/>
        </p:nvSpPr>
        <p:spPr>
          <a:xfrm>
            <a:off x="1700000" y="1500000"/>
            <a:ext cx="8700000" cy="320000"/>
          </a:xfrm>
          <a:prstGeom prst="rightArrow">
            <a:avLst>
              <a:gd name="adj1" fmla="val 50000"/>
              <a:gd name="adj2" fmla="val 55000"/>
            </a:avLst>
          </a:prstGeom>
          <a:solidFill>
            <a:srgbClr val="000000"/>
          </a:solidFill>
          <a:ln w="0">
            <a:noFill/>
          </a:ln>
        </p:spPr>
        <p:txBody>
          <a:bodyPr rtlCol="0" anchor="ctr"/>
          <a:lstStyle/>
          <a:p>
            <a:pPr algn="ctr"/>
            <a:r>
              <a:rPr sz="1050" b="1">
                <a:solidFill>
                  <a:srgbClr val="FFFFFF"/>
                </a:solidFill>
                <a:latin typeface="Helvetica Neue"/>
                <a:ea typeface="Helvetica Neue"/>
                <a:cs typeface="Helvetica Neue"/>
              </a:rPr>
              <a:t>Direct KD  (langsung, melewati asisten)</a:t>
            </a:r>
          </a:p>
        </p:txBody>
      </p:sp>
      <p:sp>
        <p:nvSpPr>
          <p:cNvPr id="31" name="ta-arrow-1"/>
          <p:cNvSpPr/>
          <p:nvPr/>
        </p:nvSpPr>
        <p:spPr>
          <a:xfrm>
            <a:off x="3200000" y="2800000"/>
            <a:ext cx="1500000" cy="300000"/>
          </a:xfrm>
          <a:prstGeom prst="rightArrow">
            <a:avLst/>
          </a:prstGeom>
          <a:solidFill>
            <a:srgbClr val="B5B5B5"/>
          </a:solidFill>
          <a:ln w="0">
            <a:noFill/>
          </a:ln>
        </p:spPr>
        <p:txBody>
          <a:bodyPr rtlCol="0" anchor="ctr"/>
          <a:lstStyle/>
          <a:p>
            <a:pPr algn="ctr"/>
            <a:endParaRPr/>
          </a:p>
        </p:txBody>
      </p:sp>
      <p:sp>
        <p:nvSpPr>
          <p:cNvPr id="32" name="ta-arrow-2"/>
          <p:cNvSpPr/>
          <p:nvPr/>
        </p:nvSpPr>
        <p:spPr>
          <a:xfrm>
            <a:off x="7480000" y="2800000"/>
            <a:ext cx="1500000" cy="300000"/>
          </a:xfrm>
          <a:prstGeom prst="rightArrow">
            <a:avLst/>
          </a:prstGeom>
          <a:solidFill>
            <a:srgbClr val="FF6B35"/>
          </a:solidFill>
          <a:ln w="0">
            <a:noFill/>
          </a:ln>
        </p:spPr>
        <p:txBody>
          <a:bodyPr rtlCol="0" anchor="ctr"/>
          <a:lstStyle/>
          <a:p>
            <a:pPr algn="ctr"/>
            <a:endParaRPr/>
          </a:p>
        </p:txBody>
      </p:sp>
      <p:sp>
        <p:nvSpPr>
          <p:cNvPr id="33" name="self-arrow"/>
          <p:cNvSpPr/>
          <p:nvPr/>
        </p:nvSpPr>
        <p:spPr>
          <a:xfrm>
            <a:off x="10057000" y="3540000"/>
            <a:ext cx="620000" cy="620000"/>
          </a:xfrm>
          <a:prstGeom prst="circularArrow">
            <a:avLst/>
          </a:prstGeom>
          <a:solidFill>
            <a:srgbClr val="777777"/>
          </a:solidFill>
          <a:ln w="0">
            <a:noFill/>
          </a:ln>
        </p:spPr>
        <p:txBody>
          <a:bodyPr rtlCol="0" anchor="ctr"/>
          <a:lstStyle/>
          <a:p>
            <a:pPr algn="ctr"/>
            <a:endParaRPr/>
          </a:p>
        </p:txBody>
      </p:sp>
      <p:sp>
        <p:nvSpPr>
          <p:cNvPr id="35" name="self-label"/>
          <p:cNvSpPr/>
          <p:nvPr/>
        </p:nvSpPr>
        <p:spPr>
          <a:xfrm>
            <a:off x="9767000" y="4210000"/>
            <a:ext cx="1200000" cy="300000"/>
          </a:xfrm>
          <a:prstGeom prst="rect">
            <a:avLst/>
          </a:prstGeom>
          <a:noFill/>
          <a:ln w="0">
            <a:noFill/>
          </a:ln>
        </p:spPr>
        <p:txBody>
          <a:bodyPr wrap="square" anchor="t">
            <a:normAutofit/>
          </a:bodyPr>
          <a:lstStyle/>
          <a:p>
            <a:pPr algn="ctr"/>
            <a:r>
              <a:rPr sz="1050" b="1">
                <a:solidFill>
                  <a:srgbClr val="777777"/>
                </a:solidFill>
                <a:latin typeface="Helvetica Neue"/>
                <a:ea typeface="Helvetica Neue"/>
                <a:cs typeface="Helvetica Neue"/>
              </a:rPr>
              <a:t>Self-KD</a:t>
            </a:r>
          </a:p>
        </p:txBody>
      </p:sp>
      <p:sp>
        <p:nvSpPr>
          <p:cNvPr id="20" name="box-teacher"/>
          <p:cNvSpPr/>
          <p:nvPr/>
        </p:nvSpPr>
        <p:spPr>
          <a:xfrm>
            <a:off x="500000" y="2350000"/>
            <a:ext cx="2650000" cy="1200000"/>
          </a:xfrm>
          <a:prstGeom prst="roundRect">
            <a:avLst>
              <a:gd name="adj" fmla="val 8000"/>
            </a:avLst>
          </a:prstGeom>
          <a:solidFill>
            <a:srgbClr val="FFFFFF"/>
          </a:solidFill>
          <a:ln w="15875">
            <a:solidFill>
              <a:srgbClr val="000000"/>
            </a:solidFill>
          </a:ln>
        </p:spPr>
        <p:txBody>
          <a:bodyPr wrap="square" anchor="ctr">
            <a:normAutofit/>
          </a:bodyPr>
          <a:lstStyle/>
          <a:p>
            <a:pPr algn="ctr"/>
            <a:r>
              <a:rPr sz="1350" b="1">
                <a:solidFill>
                  <a:srgbClr val="000000"/>
                </a:solidFill>
                <a:latin typeface="Helvetica Neue"/>
                <a:ea typeface="Helvetica Neue"/>
                <a:cs typeface="Helvetica Neue"/>
              </a:rPr>
              <a:t>EfficientNet-B4</a:t>
            </a:r>
          </a:p>
          <a:p>
            <a:pPr algn="ctr"/>
            <a:r>
              <a:rPr sz="1000">
                <a:solidFill>
                  <a:srgbClr val="555555"/>
                </a:solidFill>
                <a:latin typeface="Helvetica Neue"/>
                <a:ea typeface="Helvetica Neue"/>
                <a:cs typeface="Helvetica Neue"/>
              </a:rPr>
              <a:t>17,6 juta parameter</a:t>
            </a:r>
          </a:p>
          <a:p>
            <a:pPr algn="ctr"/>
            <a:r>
              <a:rPr sz="950" b="1">
                <a:solidFill>
                  <a:srgbClr val="FF6B35"/>
                </a:solidFill>
                <a:latin typeface="Helvetica Neue"/>
                <a:ea typeface="Helvetica Neue"/>
                <a:cs typeface="Helvetica Neue"/>
              </a:rPr>
              <a:t>Guru besar</a:t>
            </a:r>
          </a:p>
        </p:txBody>
      </p:sp>
      <p:sp>
        <p:nvSpPr>
          <p:cNvPr id="21" name="box-assistant"/>
          <p:cNvSpPr/>
          <p:nvPr/>
        </p:nvSpPr>
        <p:spPr>
          <a:xfrm>
            <a:off x="4771000" y="2350000"/>
            <a:ext cx="2650000" cy="1200000"/>
          </a:xfrm>
          <a:prstGeom prst="roundRect">
            <a:avLst>
              <a:gd name="adj" fmla="val 8000"/>
            </a:avLst>
          </a:prstGeom>
          <a:solidFill>
            <a:srgbClr val="FFFFFF"/>
          </a:solidFill>
          <a:ln w="15875">
            <a:solidFill>
              <a:srgbClr val="FF6B35"/>
            </a:solidFill>
          </a:ln>
        </p:spPr>
        <p:txBody>
          <a:bodyPr wrap="square" anchor="ctr">
            <a:normAutofit/>
          </a:bodyPr>
          <a:lstStyle/>
          <a:p>
            <a:pPr algn="ctr"/>
            <a:r>
              <a:rPr sz="1350" b="1">
                <a:solidFill>
                  <a:srgbClr val="000000"/>
                </a:solidFill>
                <a:latin typeface="Helvetica Neue"/>
                <a:ea typeface="Helvetica Neue"/>
                <a:cs typeface="Helvetica Neue"/>
              </a:rPr>
              <a:t>Focus-RCNet</a:t>
            </a:r>
          </a:p>
          <a:p>
            <a:pPr algn="ctr"/>
            <a:r>
              <a:rPr sz="1000">
                <a:solidFill>
                  <a:srgbClr val="555555"/>
                </a:solidFill>
                <a:latin typeface="Helvetica Neue"/>
                <a:ea typeface="Helvetica Neue"/>
                <a:cs typeface="Helvetica Neue"/>
              </a:rPr>
              <a:t>520 ribu parameter</a:t>
            </a:r>
          </a:p>
          <a:p>
            <a:pPr algn="ctr"/>
            <a:r>
              <a:rPr sz="950" b="1">
                <a:solidFill>
                  <a:srgbClr val="FF6B35"/>
                </a:solidFill>
                <a:latin typeface="Helvetica Neue"/>
                <a:ea typeface="Helvetica Neue"/>
                <a:cs typeface="Helvetica Neue"/>
              </a:rPr>
              <a:t>Asisten menengah</a:t>
            </a:r>
          </a:p>
        </p:txBody>
      </p:sp>
      <p:sp>
        <p:nvSpPr>
          <p:cNvPr id="22" name="box-student"/>
          <p:cNvSpPr/>
          <p:nvPr/>
        </p:nvSpPr>
        <p:spPr>
          <a:xfrm>
            <a:off x="9042000" y="2350000"/>
            <a:ext cx="2650000" cy="1200000"/>
          </a:xfrm>
          <a:prstGeom prst="roundRect">
            <a:avLst>
              <a:gd name="adj" fmla="val 8000"/>
            </a:avLst>
          </a:prstGeom>
          <a:solidFill>
            <a:srgbClr val="FFF3EE"/>
          </a:solidFill>
          <a:ln w="15875">
            <a:solidFill>
              <a:srgbClr val="000000"/>
            </a:solidFill>
          </a:ln>
        </p:spPr>
        <p:txBody>
          <a:bodyPr wrap="square" anchor="ctr">
            <a:normAutofit/>
          </a:bodyPr>
          <a:lstStyle/>
          <a:p>
            <a:pPr algn="ctr"/>
            <a:r>
              <a:rPr sz="1350" b="1">
                <a:solidFill>
                  <a:srgbClr val="000000"/>
                </a:solidFill>
                <a:latin typeface="Helvetica Neue"/>
                <a:ea typeface="Helvetica Neue"/>
                <a:cs typeface="Helvetica Neue"/>
              </a:rPr>
              <a:t>WasteNet</a:t>
            </a:r>
          </a:p>
          <a:p>
            <a:pPr algn="ctr"/>
            <a:r>
              <a:rPr sz="1000">
                <a:solidFill>
                  <a:srgbClr val="555555"/>
                </a:solidFill>
                <a:latin typeface="Helvetica Neue"/>
                <a:ea typeface="Helvetica Neue"/>
                <a:cs typeface="Helvetica Neue"/>
              </a:rPr>
              <a:t>128K / 256K parameter</a:t>
            </a:r>
          </a:p>
          <a:p>
            <a:pPr algn="ctr"/>
            <a:r>
              <a:rPr sz="950" b="1">
                <a:solidFill>
                  <a:srgbClr val="FF6B35"/>
                </a:solidFill>
                <a:latin typeface="Helvetica Neue"/>
                <a:ea typeface="Helvetica Neue"/>
                <a:cs typeface="Helvetica Neue"/>
              </a:rPr>
              <a:t>Student (target)</a:t>
            </a:r>
          </a:p>
        </p:txBody>
      </p:sp>
      <p:sp>
        <p:nvSpPr>
          <p:cNvPr id="40" name="lg-sq-1"/>
          <p:cNvSpPr/>
          <p:nvPr/>
        </p:nvSpPr>
        <p:spPr>
          <a:xfrm>
            <a:off x="500000" y="4700000"/>
            <a:ext cx="230000" cy="230000"/>
          </a:xfrm>
          <a:prstGeom prst="rect">
            <a:avLst/>
          </a:prstGeom>
          <a:solidFill>
            <a:srgbClr val="FF6B35"/>
          </a:solidFill>
          <a:ln w="0">
            <a:noFill/>
          </a:ln>
        </p:spPr>
        <p:txBody>
          <a:bodyPr/>
          <a:lstStyle/>
          <a:p>
            <a:endParaRPr/>
          </a:p>
        </p:txBody>
      </p:sp>
      <p:sp>
        <p:nvSpPr>
          <p:cNvPr id="41" name="lg-tx-1"/>
          <p:cNvSpPr/>
          <p:nvPr/>
        </p:nvSpPr>
        <p:spPr>
          <a:xfrm>
            <a:off x="850000" y="4640000"/>
            <a:ext cx="10800000" cy="360000"/>
          </a:xfrm>
          <a:prstGeom prst="rect">
            <a:avLst/>
          </a:prstGeom>
          <a:noFill/>
          <a:ln w="0">
            <a:noFill/>
          </a:ln>
        </p:spPr>
        <p:txBody>
          <a:bodyPr wrap="square" anchor="ctr">
            <a:normAutofit/>
          </a:bodyPr>
          <a:lstStyle/>
          <a:p>
            <a:r>
              <a:rPr sz="1300" b="1">
                <a:solidFill>
                  <a:srgbClr val="000000"/>
                </a:solidFill>
                <a:latin typeface="Helvetica Neue"/>
                <a:ea typeface="Helvetica Neue"/>
                <a:cs typeface="Helvetica Neue"/>
              </a:rPr>
              <a:t>TA-KD  —  Focus-RCNet (dilatih CE) → WasteNet   ·   asisten berperan sebagai guru, bukan rantai terdistilasi</a:t>
            </a:r>
          </a:p>
        </p:txBody>
      </p:sp>
      <p:sp>
        <p:nvSpPr>
          <p:cNvPr id="42" name="lg-sq-2"/>
          <p:cNvSpPr/>
          <p:nvPr/>
        </p:nvSpPr>
        <p:spPr>
          <a:xfrm>
            <a:off x="500000" y="5130000"/>
            <a:ext cx="230000" cy="230000"/>
          </a:xfrm>
          <a:prstGeom prst="rect">
            <a:avLst/>
          </a:prstGeom>
          <a:solidFill>
            <a:srgbClr val="000000"/>
          </a:solidFill>
          <a:ln w="0">
            <a:noFill/>
          </a:ln>
        </p:spPr>
        <p:txBody>
          <a:bodyPr/>
          <a:lstStyle/>
          <a:p>
            <a:endParaRPr/>
          </a:p>
        </p:txBody>
      </p:sp>
      <p:sp>
        <p:nvSpPr>
          <p:cNvPr id="43" name="lg-tx-2"/>
          <p:cNvSpPr/>
          <p:nvPr/>
        </p:nvSpPr>
        <p:spPr>
          <a:xfrm>
            <a:off x="850000" y="5070000"/>
            <a:ext cx="10800000" cy="360000"/>
          </a:xfrm>
          <a:prstGeom prst="rect">
            <a:avLst/>
          </a:prstGeom>
          <a:noFill/>
          <a:ln w="0">
            <a:noFill/>
          </a:ln>
        </p:spPr>
        <p:txBody>
          <a:bodyPr wrap="square" anchor="ctr">
            <a:normAutofit/>
          </a:bodyPr>
          <a:lstStyle/>
          <a:p>
            <a:r>
              <a:rPr sz="1300" b="1">
                <a:solidFill>
                  <a:srgbClr val="000000"/>
                </a:solidFill>
                <a:latin typeface="Helvetica Neue"/>
                <a:ea typeface="Helvetica Neue"/>
                <a:cs typeface="Helvetica Neue"/>
              </a:rPr>
              <a:t>Direct KD</a:t>
            </a:r>
            <a:r>
              <a:rPr sz="1300">
                <a:solidFill>
                  <a:srgbClr val="333333"/>
                </a:solidFill>
                <a:latin typeface="Helvetica Neue"/>
                <a:ea typeface="Helvetica Neue"/>
                <a:cs typeface="Helvetica Neue"/>
              </a:rPr>
              <a:t>  (vanilla / Hinton)  —  EfficientNet-B4 → WasteNet</a:t>
            </a:r>
          </a:p>
        </p:txBody>
      </p:sp>
      <p:sp>
        <p:nvSpPr>
          <p:cNvPr id="44" name="lg-sq-3"/>
          <p:cNvSpPr/>
          <p:nvPr/>
        </p:nvSpPr>
        <p:spPr>
          <a:xfrm>
            <a:off x="500000" y="5560000"/>
            <a:ext cx="230000" cy="230000"/>
          </a:xfrm>
          <a:prstGeom prst="rect">
            <a:avLst/>
          </a:prstGeom>
          <a:solidFill>
            <a:srgbClr val="777777"/>
          </a:solidFill>
          <a:ln w="0">
            <a:noFill/>
          </a:ln>
        </p:spPr>
        <p:txBody>
          <a:bodyPr/>
          <a:lstStyle/>
          <a:p>
            <a:endParaRPr/>
          </a:p>
        </p:txBody>
      </p:sp>
      <p:sp>
        <p:nvSpPr>
          <p:cNvPr id="45" name="lg-tx-3"/>
          <p:cNvSpPr/>
          <p:nvPr/>
        </p:nvSpPr>
        <p:spPr>
          <a:xfrm>
            <a:off x="850000" y="5500000"/>
            <a:ext cx="10800000" cy="360000"/>
          </a:xfrm>
          <a:prstGeom prst="rect">
            <a:avLst/>
          </a:prstGeom>
          <a:noFill/>
          <a:ln w="0">
            <a:noFill/>
          </a:ln>
        </p:spPr>
        <p:txBody>
          <a:bodyPr wrap="square" anchor="ctr">
            <a:normAutofit/>
          </a:bodyPr>
          <a:lstStyle/>
          <a:p>
            <a:r>
              <a:rPr sz="1300" b="1">
                <a:solidFill>
                  <a:srgbClr val="000000"/>
                </a:solidFill>
                <a:latin typeface="Helvetica Neue"/>
                <a:ea typeface="Helvetica Neue"/>
                <a:cs typeface="Helvetica Neue"/>
              </a:rPr>
              <a:t>Self-distillation</a:t>
            </a:r>
            <a:r>
              <a:rPr sz="1300">
                <a:solidFill>
                  <a:srgbClr val="333333"/>
                </a:solidFill>
                <a:latin typeface="Helvetica Neue"/>
                <a:ea typeface="Helvetica Neue"/>
                <a:cs typeface="Helvetica Neue"/>
              </a:rPr>
              <a:t>  —  WasteNet → WasteNet (Born-Again)</a:t>
            </a:r>
          </a:p>
        </p:txBody>
      </p:sp>
      <p:sp>
        <p:nvSpPr>
          <p:cNvPr id="15" name="formula"/>
          <p:cNvSpPr>
            <a:spLocks noGrp="1"/>
          </p:cNvSpPr>
          <p:nvPr/>
        </p:nvSpPr>
        <p:spPr>
          <a:xfrm>
            <a:off x="400050" y="6100000"/>
            <a:ext cx="9144000" cy="3619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L_KD = (1 − α)·L_CE + α·T²·D_KL(p_teacher ‖ p_student)      ·   semua strategi = KD berbasis response/logits (bukan feature-based)</a:t>
            </a:r>
          </a:p>
        </p:txBody>
      </p:sp>
      <p:sp>
        <p:nvSpPr>
          <p:cNvPr id="46" name="ta-arrow-1-note"/>
          <p:cNvSpPr txBox="1"/>
          <p:nvPr/>
        </p:nvSpPr>
        <p:spPr>
          <a:xfrm>
            <a:off x="3063240" y="3127248"/>
            <a:ext cx="1783080" cy="411480"/>
          </a:xfrm>
          <a:prstGeom prst="rect">
            <a:avLst/>
          </a:prstGeom>
          <a:noFill/>
        </p:spPr>
        <p:txBody>
          <a:bodyPr wrap="square">
            <a:spAutoFit/>
          </a:bodyPr>
          <a:lstStyle/>
          <a:p>
            <a:pPr algn="ctr"/>
            <a:r>
              <a:rPr sz="850" b="0" i="0">
                <a:solidFill>
                  <a:srgbClr val="555555"/>
                </a:solidFill>
                <a:latin typeface="Helvetica Neue"/>
              </a:rPr>
              <a:t>dilatih CE,</a:t>
            </a:r>
          </a:p>
          <a:p>
            <a:pPr algn="ctr"/>
            <a:r>
              <a:rPr sz="850" b="0" i="0">
                <a:solidFill>
                  <a:srgbClr val="555555"/>
                </a:solidFill>
                <a:latin typeface="Helvetica Neue"/>
              </a:rPr>
              <a:t>bukan distilasi</a:t>
            </a:r>
          </a:p>
        </p:txBody>
      </p:sp>
    </p:spTree>
    <p:extLst>
      <p:ext uri="{BB962C8B-B14F-4D97-AF65-F5344CB8AC3E}">
        <p14:creationId xmlns:p14="http://schemas.microsoft.com/office/powerpoint/2010/main" val="2010172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title">
            <a:extLst>
              <a:ext uri="{FF2B5EF4-FFF2-40B4-BE49-F238E27FC236}">
                <a16:creationId xmlns:a16="http://schemas.microsoft.com/office/drawing/2014/main" id="{786BE454-9D56-4F50-8F99-5069046F90E6}"/>
              </a:ext>
            </a:extLst>
          </p:cNvPr>
          <p:cNvSpPr>
            <a:spLocks noGrp="1"/>
          </p:cNvSpPr>
          <p:nvPr/>
        </p:nvSpPr>
        <p:spPr>
          <a:xfrm>
            <a:off x="400050" y="342900"/>
            <a:ext cx="93345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Skenario pengujian model</a:t>
            </a:r>
          </a:p>
        </p:txBody>
      </p:sp>
      <p:sp>
        <p:nvSpPr>
          <p:cNvPr id="2" name="slide-number">
            <a:extLst>
              <a:ext uri="{FF2B5EF4-FFF2-40B4-BE49-F238E27FC236}">
                <a16:creationId xmlns:a16="http://schemas.microsoft.com/office/drawing/2014/main" id="{A05A94FC-3119-4410-83A2-5CCC5E4883C0}"/>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07</a:t>
            </a:r>
          </a:p>
        </p:txBody>
      </p:sp>
      <p:sp>
        <p:nvSpPr>
          <p:cNvPr id="3" name="intro">
            <a:extLst>
              <a:ext uri="{FF2B5EF4-FFF2-40B4-BE49-F238E27FC236}">
                <a16:creationId xmlns:a16="http://schemas.microsoft.com/office/drawing/2014/main" id="{3EAF09B4-CF5E-463F-8C73-AF4C23936D74}"/>
              </a:ext>
            </a:extLst>
          </p:cNvPr>
          <p:cNvSpPr>
            <a:spLocks noGrp="1"/>
          </p:cNvSpPr>
          <p:nvPr/>
        </p:nvSpPr>
        <p:spPr>
          <a:xfrm>
            <a:off x="400050" y="1066800"/>
            <a:ext cx="8572500" cy="400050"/>
          </a:xfrm>
          <a:prstGeom prst="rect">
            <a:avLst/>
          </a:prstGeom>
          <a:noFill/>
          <a:ln w="0">
            <a:noFill/>
            <a:prstDash val="solid"/>
          </a:ln>
        </p:spPr>
        <p:txBody>
          <a:bodyPr wrap="square" anchor="t">
            <a:normAutofit/>
          </a:bodyPr>
          <a:lstStyle/>
          <a:p>
            <a:pPr>
              <a:defRPr sz="1200">
                <a:solidFill>
                  <a:srgbClr val="555555"/>
                </a:solidFill>
                <a:latin typeface="Helvetica Neue"/>
                <a:ea typeface="Helvetica Neue"/>
                <a:cs typeface="Helvetica Neue"/>
              </a:defRPr>
            </a:pPr>
            <a:r>
              <a:rPr sz="1200">
                <a:solidFill>
                  <a:srgbClr val="555555"/>
                </a:solidFill>
                <a:latin typeface="Helvetica Neue"/>
                <a:ea typeface="Helvetica Neue"/>
                <a:cs typeface="Helvetica Neue"/>
              </a:rPr>
              <a:t>R1–R9 membentuk benchmark dari baseline, direct KD, teacher-assistant, hingga self-distillation; R10–R11 adalah ablasi komponen arsitektur WasteNet.</a:t>
            </a:r>
          </a:p>
        </p:txBody>
      </p:sp>
      <p:graphicFrame>
        <p:nvGraphicFramePr>
          <p:cNvPr id="8" name="Tabel 7"/>
          <p:cNvGraphicFramePr/>
          <p:nvPr/>
        </p:nvGraphicFramePr>
        <p:xfrm>
          <a:off x="400050" y="1695450"/>
          <a:ext cx="11391900" cy="3989832"/>
        </p:xfrm>
        <a:graphic>
          <a:graphicData uri="http://schemas.openxmlformats.org/drawingml/2006/table">
            <a:tbl>
              <a:tblPr/>
              <a:tblGrid>
                <a:gridCol w="7620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gridCol w="4295775">
                  <a:extLst>
                    <a:ext uri="{9D8B030D-6E8A-4147-A177-3AD203B41FA5}">
                      <a16:colId xmlns:a16="http://schemas.microsoft.com/office/drawing/2014/main" val="20003"/>
                    </a:ext>
                  </a:extLst>
                </a:gridCol>
              </a:tblGrid>
              <a:tr h="419100">
                <a:tc>
                  <a:txBody>
                    <a:bodyPr/>
                    <a:lstStyle/>
                    <a:p>
                      <a:r>
                        <a:rPr sz="1125" b="1">
                          <a:solidFill>
                            <a:srgbClr val="FFFFFF"/>
                          </a:solidFill>
                          <a:latin typeface="Helvetica Neue"/>
                          <a:ea typeface="Helvetica Neue"/>
                          <a:cs typeface="Helvetica Neue"/>
                        </a:rPr>
                        <a:t>Kode</a:t>
                      </a:r>
                    </a:p>
                  </a:txBody>
                  <a:tcPr>
                    <a:solidFill>
                      <a:srgbClr val="000000"/>
                    </a:solidFill>
                  </a:tcPr>
                </a:tc>
                <a:tc>
                  <a:txBody>
                    <a:bodyPr/>
                    <a:lstStyle/>
                    <a:p>
                      <a:r>
                        <a:rPr sz="1125" b="1">
                          <a:solidFill>
                            <a:srgbClr val="FFFFFF"/>
                          </a:solidFill>
                          <a:latin typeface="Helvetica Neue"/>
                          <a:ea typeface="Helvetica Neue"/>
                          <a:cs typeface="Helvetica Neue"/>
                        </a:rPr>
                        <a:t>Student</a:t>
                      </a:r>
                    </a:p>
                  </a:txBody>
                  <a:tcPr>
                    <a:solidFill>
                      <a:srgbClr val="000000"/>
                    </a:solidFill>
                  </a:tcPr>
                </a:tc>
                <a:tc>
                  <a:txBody>
                    <a:bodyPr/>
                    <a:lstStyle/>
                    <a:p>
                      <a:r>
                        <a:rPr sz="1125" b="1">
                          <a:solidFill>
                            <a:srgbClr val="FFFFFF"/>
                          </a:solidFill>
                          <a:latin typeface="Helvetica Neue"/>
                          <a:ea typeface="Helvetica Neue"/>
                          <a:cs typeface="Helvetica Neue"/>
                        </a:rPr>
                        <a:t>Guru soft-label</a:t>
                      </a:r>
                    </a:p>
                  </a:txBody>
                  <a:tcPr>
                    <a:solidFill>
                      <a:srgbClr val="000000"/>
                    </a:solidFill>
                  </a:tcPr>
                </a:tc>
                <a:tc>
                  <a:txBody>
                    <a:bodyPr/>
                    <a:lstStyle/>
                    <a:p>
                      <a:r>
                        <a:rPr sz="1125" b="1">
                          <a:solidFill>
                            <a:srgbClr val="FFFFFF"/>
                          </a:solidFill>
                          <a:latin typeface="Helvetica Neue"/>
                          <a:ea typeface="Helvetica Neue"/>
                          <a:cs typeface="Helvetica Neue"/>
                        </a:rPr>
                        <a:t>Peran</a:t>
                      </a:r>
                    </a:p>
                  </a:txBody>
                  <a:tcPr>
                    <a:solidFill>
                      <a:srgbClr val="000000"/>
                    </a:solidFill>
                  </a:tcPr>
                </a:tc>
                <a:extLst>
                  <a:ext uri="{0D108BD9-81ED-4DB2-BD59-A6C34878D82A}">
                    <a16:rowId xmlns:a16="http://schemas.microsoft.com/office/drawing/2014/main" val="10000"/>
                  </a:ext>
                </a:extLst>
              </a:tr>
              <a:tr h="324612">
                <a:tc>
                  <a:txBody>
                    <a:bodyPr/>
                    <a:lstStyle/>
                    <a:p>
                      <a:r>
                        <a:rPr sz="1050">
                          <a:solidFill>
                            <a:srgbClr val="000000"/>
                          </a:solidFill>
                          <a:latin typeface="Helvetica Neue"/>
                          <a:ea typeface="Helvetica Neue"/>
                          <a:cs typeface="Helvetica Neue"/>
                        </a:rPr>
                        <a:t>R1</a:t>
                      </a:r>
                    </a:p>
                  </a:txBody>
                  <a:tcPr marL="57150" marR="57150" marT="28575" marB="28575"/>
                </a:tc>
                <a:tc>
                  <a:txBody>
                    <a:bodyPr/>
                    <a:lstStyle/>
                    <a:p>
                      <a:r>
                        <a:rPr sz="1050">
                          <a:solidFill>
                            <a:srgbClr val="000000"/>
                          </a:solidFill>
                          <a:latin typeface="Helvetica Neue"/>
                          <a:ea typeface="Helvetica Neue"/>
                          <a:cs typeface="Helvetica Neue"/>
                        </a:rPr>
                        <a:t>EfficientNet-B4</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Guru besar / batas atas</a:t>
                      </a:r>
                    </a:p>
                  </a:txBody>
                  <a:tcPr marL="57150" marR="57150" marT="28575" marB="28575"/>
                </a:tc>
                <a:extLst>
                  <a:ext uri="{0D108BD9-81ED-4DB2-BD59-A6C34878D82A}">
                    <a16:rowId xmlns:a16="http://schemas.microsoft.com/office/drawing/2014/main" val="10001"/>
                  </a:ext>
                </a:extLst>
              </a:tr>
              <a:tr h="324612">
                <a:tc>
                  <a:txBody>
                    <a:bodyPr/>
                    <a:lstStyle/>
                    <a:p>
                      <a:r>
                        <a:rPr sz="1050">
                          <a:solidFill>
                            <a:srgbClr val="000000"/>
                          </a:solidFill>
                          <a:latin typeface="Helvetica Neue"/>
                          <a:ea typeface="Helvetica Neue"/>
                          <a:cs typeface="Helvetica Neue"/>
                        </a:rPr>
                        <a:t>R2</a:t>
                      </a:r>
                    </a:p>
                  </a:txBody>
                  <a:tcPr marL="57150" marR="57150" marT="28575" marB="28575"/>
                </a:tc>
                <a:tc>
                  <a:txBody>
                    <a:bodyPr/>
                    <a:lstStyle/>
                    <a:p>
                      <a:r>
                        <a:rPr sz="1050">
                          <a:solidFill>
                            <a:srgbClr val="000000"/>
                          </a:solidFill>
                          <a:latin typeface="Helvetica Neue"/>
                          <a:ea typeface="Helvetica Neue"/>
                          <a:cs typeface="Helvetica Neue"/>
                        </a:rPr>
                        <a:t>Focus-RCNet</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Asisten menengah</a:t>
                      </a:r>
                    </a:p>
                  </a:txBody>
                  <a:tcPr marL="57150" marR="57150" marT="28575" marB="28575"/>
                </a:tc>
                <a:extLst>
                  <a:ext uri="{0D108BD9-81ED-4DB2-BD59-A6C34878D82A}">
                    <a16:rowId xmlns:a16="http://schemas.microsoft.com/office/drawing/2014/main" val="10002"/>
                  </a:ext>
                </a:extLst>
              </a:tr>
              <a:tr h="324612">
                <a:tc>
                  <a:txBody>
                    <a:bodyPr/>
                    <a:lstStyle/>
                    <a:p>
                      <a:r>
                        <a:rPr sz="1050">
                          <a:solidFill>
                            <a:srgbClr val="000000"/>
                          </a:solidFill>
                          <a:latin typeface="Helvetica Neue"/>
                          <a:ea typeface="Helvetica Neue"/>
                          <a:cs typeface="Helvetica Neue"/>
                        </a:rPr>
                        <a:t>R3</a:t>
                      </a:r>
                    </a:p>
                  </a:txBody>
                  <a:tcPr marL="57150" marR="57150" marT="28575" marB="28575"/>
                </a:tc>
                <a:tc>
                  <a:txBody>
                    <a:bodyPr/>
                    <a:lstStyle/>
                    <a:p>
                      <a:r>
                        <a:rPr sz="1050">
                          <a:solidFill>
                            <a:srgbClr val="000000"/>
                          </a:solidFill>
                          <a:latin typeface="Helvetica Neue"/>
                          <a:ea typeface="Helvetica Neue"/>
                          <a:cs typeface="Helvetica Neue"/>
                        </a:rPr>
                        <a:t>WasteNet-128K</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Baseline 128K</a:t>
                      </a:r>
                    </a:p>
                  </a:txBody>
                  <a:tcPr marL="57150" marR="57150" marT="28575" marB="28575"/>
                </a:tc>
                <a:extLst>
                  <a:ext uri="{0D108BD9-81ED-4DB2-BD59-A6C34878D82A}">
                    <a16:rowId xmlns:a16="http://schemas.microsoft.com/office/drawing/2014/main" val="10003"/>
                  </a:ext>
                </a:extLst>
              </a:tr>
              <a:tr h="324612">
                <a:tc>
                  <a:txBody>
                    <a:bodyPr/>
                    <a:lstStyle/>
                    <a:p>
                      <a:r>
                        <a:rPr sz="1050">
                          <a:solidFill>
                            <a:srgbClr val="000000"/>
                          </a:solidFill>
                          <a:latin typeface="Helvetica Neue"/>
                          <a:ea typeface="Helvetica Neue"/>
                          <a:cs typeface="Helvetica Neue"/>
                        </a:rPr>
                        <a:t>R4</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WasteNet-128K</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EfficientNet-B4</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Direct KD</a:t>
                      </a:r>
                    </a:p>
                  </a:txBody>
                  <a:tcPr marL="57150" marR="57150" marT="28575" marB="28575">
                    <a:solidFill>
                      <a:srgbClr val="FFF3EE"/>
                    </a:solidFill>
                  </a:tcPr>
                </a:tc>
                <a:extLst>
                  <a:ext uri="{0D108BD9-81ED-4DB2-BD59-A6C34878D82A}">
                    <a16:rowId xmlns:a16="http://schemas.microsoft.com/office/drawing/2014/main" val="10004"/>
                  </a:ext>
                </a:extLst>
              </a:tr>
              <a:tr h="324612">
                <a:tc>
                  <a:txBody>
                    <a:bodyPr/>
                    <a:lstStyle/>
                    <a:p>
                      <a:r>
                        <a:rPr sz="1050">
                          <a:solidFill>
                            <a:srgbClr val="000000"/>
                          </a:solidFill>
                          <a:latin typeface="Helvetica Neue"/>
                          <a:ea typeface="Helvetica Neue"/>
                          <a:cs typeface="Helvetica Neue"/>
                        </a:rPr>
                        <a:t>R5</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WasteNet-128K</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Focus-RCNet</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TA-KD 128K</a:t>
                      </a:r>
                    </a:p>
                  </a:txBody>
                  <a:tcPr marL="57150" marR="57150" marT="28575" marB="28575">
                    <a:solidFill>
                      <a:srgbClr val="FFF3EE"/>
                    </a:solidFill>
                  </a:tcPr>
                </a:tc>
                <a:extLst>
                  <a:ext uri="{0D108BD9-81ED-4DB2-BD59-A6C34878D82A}">
                    <a16:rowId xmlns:a16="http://schemas.microsoft.com/office/drawing/2014/main" val="10005"/>
                  </a:ext>
                </a:extLst>
              </a:tr>
              <a:tr h="324612">
                <a:tc>
                  <a:txBody>
                    <a:bodyPr/>
                    <a:lstStyle/>
                    <a:p>
                      <a:r>
                        <a:rPr sz="1050">
                          <a:solidFill>
                            <a:srgbClr val="000000"/>
                          </a:solidFill>
                          <a:latin typeface="Helvetica Neue"/>
                          <a:ea typeface="Helvetica Neue"/>
                          <a:cs typeface="Helvetica Neue"/>
                        </a:rPr>
                        <a:t>R6</a:t>
                      </a:r>
                    </a:p>
                  </a:txBody>
                  <a:tcPr marL="57150" marR="57150" marT="28575" marB="28575"/>
                </a:tc>
                <a:tc>
                  <a:txBody>
                    <a:bodyPr/>
                    <a:lstStyle/>
                    <a:p>
                      <a:r>
                        <a:rPr sz="1050">
                          <a:solidFill>
                            <a:srgbClr val="000000"/>
                          </a:solidFill>
                          <a:latin typeface="Helvetica Neue"/>
                          <a:ea typeface="Helvetica Neue"/>
                          <a:cs typeface="Helvetica Neue"/>
                        </a:rPr>
                        <a:t>WasteNet-256K</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Baseline 256K</a:t>
                      </a:r>
                    </a:p>
                  </a:txBody>
                  <a:tcPr marL="57150" marR="57150" marT="28575" marB="28575"/>
                </a:tc>
                <a:extLst>
                  <a:ext uri="{0D108BD9-81ED-4DB2-BD59-A6C34878D82A}">
                    <a16:rowId xmlns:a16="http://schemas.microsoft.com/office/drawing/2014/main" val="10006"/>
                  </a:ext>
                </a:extLst>
              </a:tr>
              <a:tr h="324612">
                <a:tc>
                  <a:txBody>
                    <a:bodyPr/>
                    <a:lstStyle/>
                    <a:p>
                      <a:r>
                        <a:rPr sz="1050">
                          <a:solidFill>
                            <a:srgbClr val="000000"/>
                          </a:solidFill>
                          <a:latin typeface="Helvetica Neue"/>
                          <a:ea typeface="Helvetica Neue"/>
                          <a:cs typeface="Helvetica Neue"/>
                        </a:rPr>
                        <a:t>R7</a:t>
                      </a:r>
                    </a:p>
                  </a:txBody>
                  <a:tcPr marL="57150" marR="57150" marT="28575" marB="28575"/>
                </a:tc>
                <a:tc>
                  <a:txBody>
                    <a:bodyPr/>
                    <a:lstStyle/>
                    <a:p>
                      <a:r>
                        <a:rPr sz="1050">
                          <a:solidFill>
                            <a:srgbClr val="000000"/>
                          </a:solidFill>
                          <a:latin typeface="Helvetica Neue"/>
                          <a:ea typeface="Helvetica Neue"/>
                          <a:cs typeface="Helvetica Neue"/>
                        </a:rPr>
                        <a:t>WasteNet-256K</a:t>
                      </a:r>
                    </a:p>
                  </a:txBody>
                  <a:tcPr marL="57150" marR="57150" marT="28575" marB="28575"/>
                </a:tc>
                <a:tc>
                  <a:txBody>
                    <a:bodyPr/>
                    <a:lstStyle/>
                    <a:p>
                      <a:r>
                        <a:rPr sz="1050">
                          <a:solidFill>
                            <a:srgbClr val="000000"/>
                          </a:solidFill>
                          <a:latin typeface="Helvetica Neue"/>
                          <a:ea typeface="Helvetica Neue"/>
                          <a:cs typeface="Helvetica Neue"/>
                        </a:rPr>
                        <a:t>EfficientNet-B4</a:t>
                      </a:r>
                    </a:p>
                  </a:txBody>
                  <a:tcPr marL="57150" marR="57150" marT="28575" marB="28575"/>
                </a:tc>
                <a:tc>
                  <a:txBody>
                    <a:bodyPr/>
                    <a:lstStyle/>
                    <a:p>
                      <a:r>
                        <a:rPr sz="1050">
                          <a:solidFill>
                            <a:srgbClr val="000000"/>
                          </a:solidFill>
                          <a:latin typeface="Helvetica Neue"/>
                          <a:ea typeface="Helvetica Neue"/>
                          <a:cs typeface="Helvetica Neue"/>
                        </a:rPr>
                        <a:t>Direct KD</a:t>
                      </a:r>
                    </a:p>
                  </a:txBody>
                  <a:tcPr marL="57150" marR="57150" marT="28575" marB="28575"/>
                </a:tc>
                <a:extLst>
                  <a:ext uri="{0D108BD9-81ED-4DB2-BD59-A6C34878D82A}">
                    <a16:rowId xmlns:a16="http://schemas.microsoft.com/office/drawing/2014/main" val="10007"/>
                  </a:ext>
                </a:extLst>
              </a:tr>
              <a:tr h="324612">
                <a:tc>
                  <a:txBody>
                    <a:bodyPr/>
                    <a:lstStyle/>
                    <a:p>
                      <a:r>
                        <a:rPr sz="1050">
                          <a:solidFill>
                            <a:srgbClr val="000000"/>
                          </a:solidFill>
                          <a:latin typeface="Helvetica Neue"/>
                          <a:ea typeface="Helvetica Neue"/>
                          <a:cs typeface="Helvetica Neue"/>
                        </a:rPr>
                        <a:t>R8</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WasteNet-256K</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Focus-RCNet</a:t>
                      </a:r>
                    </a:p>
                  </a:txBody>
                  <a:tcPr marL="57150" marR="57150" marT="28575" marB="28575">
                    <a:solidFill>
                      <a:srgbClr val="FFF3EE"/>
                    </a:solidFill>
                  </a:tcPr>
                </a:tc>
                <a:tc>
                  <a:txBody>
                    <a:bodyPr/>
                    <a:lstStyle/>
                    <a:p>
                      <a:r>
                        <a:rPr sz="1050">
                          <a:solidFill>
                            <a:srgbClr val="000000"/>
                          </a:solidFill>
                          <a:latin typeface="Helvetica Neue"/>
                          <a:ea typeface="Helvetica Neue"/>
                          <a:cs typeface="Helvetica Neue"/>
                        </a:rPr>
                        <a:t>TA-KD 256K</a:t>
                      </a:r>
                    </a:p>
                  </a:txBody>
                  <a:tcPr marL="57150" marR="57150" marT="28575" marB="28575">
                    <a:solidFill>
                      <a:srgbClr val="FFF3EE"/>
                    </a:solidFill>
                  </a:tcPr>
                </a:tc>
                <a:extLst>
                  <a:ext uri="{0D108BD9-81ED-4DB2-BD59-A6C34878D82A}">
                    <a16:rowId xmlns:a16="http://schemas.microsoft.com/office/drawing/2014/main" val="10008"/>
                  </a:ext>
                </a:extLst>
              </a:tr>
              <a:tr h="324612">
                <a:tc>
                  <a:txBody>
                    <a:bodyPr/>
                    <a:lstStyle/>
                    <a:p>
                      <a:r>
                        <a:rPr sz="1050">
                          <a:solidFill>
                            <a:srgbClr val="000000"/>
                          </a:solidFill>
                          <a:latin typeface="Helvetica Neue"/>
                          <a:ea typeface="Helvetica Neue"/>
                          <a:cs typeface="Helvetica Neue"/>
                        </a:rPr>
                        <a:t>R9</a:t>
                      </a:r>
                    </a:p>
                  </a:txBody>
                  <a:tcPr marL="57150" marR="57150" marT="28575" marB="28575"/>
                </a:tc>
                <a:tc>
                  <a:txBody>
                    <a:bodyPr/>
                    <a:lstStyle/>
                    <a:p>
                      <a:r>
                        <a:rPr sz="1050">
                          <a:solidFill>
                            <a:srgbClr val="000000"/>
                          </a:solidFill>
                          <a:latin typeface="Helvetica Neue"/>
                          <a:ea typeface="Helvetica Neue"/>
                          <a:cs typeface="Helvetica Neue"/>
                        </a:rPr>
                        <a:t>WasteNet-256K</a:t>
                      </a:r>
                    </a:p>
                  </a:txBody>
                  <a:tcPr marL="57150" marR="57150" marT="28575" marB="28575"/>
                </a:tc>
                <a:tc>
                  <a:txBody>
                    <a:bodyPr/>
                    <a:lstStyle/>
                    <a:p>
                      <a:r>
                        <a:rPr sz="1050">
                          <a:solidFill>
                            <a:srgbClr val="000000"/>
                          </a:solidFill>
                          <a:latin typeface="Helvetica Neue"/>
                          <a:ea typeface="Helvetica Neue"/>
                          <a:cs typeface="Helvetica Neue"/>
                        </a:rPr>
                        <a:t>WasteNet-256K gen. sebelumnya</a:t>
                      </a:r>
                    </a:p>
                  </a:txBody>
                  <a:tcPr marL="57150" marR="57150" marT="28575" marB="28575"/>
                </a:tc>
                <a:tc>
                  <a:txBody>
                    <a:bodyPr/>
                    <a:lstStyle/>
                    <a:p>
                      <a:r>
                        <a:rPr sz="1050">
                          <a:solidFill>
                            <a:srgbClr val="000000"/>
                          </a:solidFill>
                          <a:latin typeface="Helvetica Neue"/>
                          <a:ea typeface="Helvetica Neue"/>
                          <a:cs typeface="Helvetica Neue"/>
                        </a:rPr>
                        <a:t>Self-distillation</a:t>
                      </a:r>
                    </a:p>
                  </a:txBody>
                  <a:tcPr marL="57150" marR="57150" marT="28575" marB="28575"/>
                </a:tc>
                <a:extLst>
                  <a:ext uri="{0D108BD9-81ED-4DB2-BD59-A6C34878D82A}">
                    <a16:rowId xmlns:a16="http://schemas.microsoft.com/office/drawing/2014/main" val="10009"/>
                  </a:ext>
                </a:extLst>
              </a:tr>
              <a:tr h="324612">
                <a:tc>
                  <a:txBody>
                    <a:bodyPr/>
                    <a:lstStyle/>
                    <a:p>
                      <a:r>
                        <a:rPr sz="1050">
                          <a:solidFill>
                            <a:srgbClr val="000000"/>
                          </a:solidFill>
                          <a:latin typeface="Helvetica Neue"/>
                          <a:ea typeface="Helvetica Neue"/>
                          <a:cs typeface="Helvetica Neue"/>
                        </a:rPr>
                        <a:t>R10</a:t>
                      </a:r>
                    </a:p>
                  </a:txBody>
                  <a:tcPr marL="57150" marR="57150" marT="28575" marB="28575"/>
                </a:tc>
                <a:tc>
                  <a:txBody>
                    <a:bodyPr/>
                    <a:lstStyle/>
                    <a:p>
                      <a:r>
                        <a:rPr sz="1050">
                          <a:solidFill>
                            <a:srgbClr val="000000"/>
                          </a:solidFill>
                          <a:latin typeface="Helvetica Neue"/>
                          <a:ea typeface="Helvetica Neue"/>
                          <a:cs typeface="Helvetica Neue"/>
                        </a:rPr>
                        <a:t>WasteNet-128K</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Ablasi komponen arsitektur</a:t>
                      </a:r>
                    </a:p>
                  </a:txBody>
                  <a:tcPr marL="57150" marR="57150" marT="28575" marB="28575"/>
                </a:tc>
                <a:extLst>
                  <a:ext uri="{0D108BD9-81ED-4DB2-BD59-A6C34878D82A}">
                    <a16:rowId xmlns:a16="http://schemas.microsoft.com/office/drawing/2014/main" val="957920331"/>
                  </a:ext>
                </a:extLst>
              </a:tr>
              <a:tr h="324612">
                <a:tc>
                  <a:txBody>
                    <a:bodyPr/>
                    <a:lstStyle/>
                    <a:p>
                      <a:r>
                        <a:rPr sz="1050">
                          <a:solidFill>
                            <a:srgbClr val="000000"/>
                          </a:solidFill>
                          <a:latin typeface="Helvetica Neue"/>
                          <a:ea typeface="Helvetica Neue"/>
                          <a:cs typeface="Helvetica Neue"/>
                        </a:rPr>
                        <a:t>R11</a:t>
                      </a:r>
                    </a:p>
                  </a:txBody>
                  <a:tcPr marL="57150" marR="57150" marT="28575" marB="28575"/>
                </a:tc>
                <a:tc>
                  <a:txBody>
                    <a:bodyPr/>
                    <a:lstStyle/>
                    <a:p>
                      <a:r>
                        <a:rPr sz="1050">
                          <a:solidFill>
                            <a:srgbClr val="000000"/>
                          </a:solidFill>
                          <a:latin typeface="Helvetica Neue"/>
                          <a:ea typeface="Helvetica Neue"/>
                          <a:cs typeface="Helvetica Neue"/>
                        </a:rPr>
                        <a:t>WasteNet-256K</a:t>
                      </a:r>
                    </a:p>
                  </a:txBody>
                  <a:tcPr marL="57150" marR="57150" marT="28575" marB="28575"/>
                </a:tc>
                <a:tc>
                  <a:txBody>
                    <a:bodyPr/>
                    <a:lstStyle/>
                    <a:p>
                      <a:r>
                        <a:rPr sz="1050">
                          <a:solidFill>
                            <a:srgbClr val="000000"/>
                          </a:solidFill>
                          <a:latin typeface="Helvetica Neue"/>
                          <a:ea typeface="Helvetica Neue"/>
                          <a:cs typeface="Helvetica Neue"/>
                        </a:rPr>
                        <a:t>-</a:t>
                      </a:r>
                    </a:p>
                  </a:txBody>
                  <a:tcPr marL="57150" marR="57150" marT="28575" marB="28575"/>
                </a:tc>
                <a:tc>
                  <a:txBody>
                    <a:bodyPr/>
                    <a:lstStyle/>
                    <a:p>
                      <a:r>
                        <a:rPr sz="1050">
                          <a:solidFill>
                            <a:srgbClr val="000000"/>
                          </a:solidFill>
                          <a:latin typeface="Helvetica Neue"/>
                          <a:ea typeface="Helvetica Neue"/>
                          <a:cs typeface="Helvetica Neue"/>
                        </a:rPr>
                        <a:t>Ablasi komponen arsitektur</a:t>
                      </a:r>
                    </a:p>
                  </a:txBody>
                  <a:tcPr marL="57150" marR="57150" marT="28575" marB="28575"/>
                </a:tc>
                <a:extLst>
                  <a:ext uri="{0D108BD9-81ED-4DB2-BD59-A6C34878D82A}">
                    <a16:rowId xmlns:a16="http://schemas.microsoft.com/office/drawing/2014/main" val="671597963"/>
                  </a:ext>
                </a:extLst>
              </a:tr>
            </a:tbl>
          </a:graphicData>
        </a:graphic>
      </p:graphicFrame>
    </p:spTree>
    <p:extLst>
      <p:ext uri="{BB962C8B-B14F-4D97-AF65-F5344CB8AC3E}">
        <p14:creationId xmlns:p14="http://schemas.microsoft.com/office/powerpoint/2010/main" val="891859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Hasil: tangga performa R1–R9</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Akurasi uji, rata-rata ± simpangan baku dari 5 seed. Student terbaik = R8.</a:t>
            </a:r>
          </a:p>
        </p:txBody>
      </p:sp>
      <p:graphicFrame>
        <p:nvGraphicFramePr>
          <p:cNvPr id="4" name="Table 3"/>
          <p:cNvGraphicFramePr>
            <a:graphicFrameLocks noGrp="1"/>
          </p:cNvGraphicFramePr>
          <p:nvPr/>
        </p:nvGraphicFramePr>
        <p:xfrm>
          <a:off x="402336" y="1627632"/>
          <a:ext cx="11384280" cy="4023360"/>
        </p:xfrm>
        <a:graphic>
          <a:graphicData uri="http://schemas.openxmlformats.org/drawingml/2006/table">
            <a:tbl>
              <a:tblPr>
                <a:tableStyleId>{5C22544A-7EE6-4342-B048-85BDC9FD1C3A}</a:tableStyleId>
              </a:tblPr>
              <a:tblGrid>
                <a:gridCol w="7772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402336">
                <a:tc>
                  <a:txBody>
                    <a:bodyPr/>
                    <a:lstStyle/>
                    <a:p>
                      <a:r>
                        <a:rPr sz="1150" b="1" i="0">
                          <a:solidFill>
                            <a:srgbClr val="FFFFFF"/>
                          </a:solidFill>
                          <a:latin typeface="Helvetica Neue"/>
                        </a:rPr>
                        <a:t>Kode</a:t>
                      </a:r>
                    </a:p>
                  </a:txBody>
                  <a:tcPr marR="73152" marT="27432" marB="27432" anchor="ctr">
                    <a:solidFill>
                      <a:srgbClr val="000000"/>
                    </a:solidFill>
                  </a:tcPr>
                </a:tc>
                <a:tc>
                  <a:txBody>
                    <a:bodyPr/>
                    <a:lstStyle/>
                    <a:p>
                      <a:r>
                        <a:rPr sz="1150" b="1" i="0">
                          <a:solidFill>
                            <a:srgbClr val="FFFFFF"/>
                          </a:solidFill>
                          <a:latin typeface="Helvetica Neue"/>
                        </a:rPr>
                        <a:t>Model</a:t>
                      </a:r>
                    </a:p>
                  </a:txBody>
                  <a:tcPr marR="73152" marT="27432" marB="27432" anchor="ctr">
                    <a:solidFill>
                      <a:srgbClr val="000000"/>
                    </a:solidFill>
                  </a:tcPr>
                </a:tc>
                <a:tc>
                  <a:txBody>
                    <a:bodyPr/>
                    <a:lstStyle/>
                    <a:p>
                      <a:r>
                        <a:rPr sz="1150" b="1" i="0">
                          <a:solidFill>
                            <a:srgbClr val="FFFFFF"/>
                          </a:solidFill>
                          <a:latin typeface="Helvetica Neue"/>
                        </a:rPr>
                        <a:t>Peran / strategi</a:t>
                      </a:r>
                    </a:p>
                  </a:txBody>
                  <a:tcPr marR="73152" marT="27432" marB="27432" anchor="ctr">
                    <a:solidFill>
                      <a:srgbClr val="000000"/>
                    </a:solidFill>
                  </a:tcPr>
                </a:tc>
                <a:tc>
                  <a:txBody>
                    <a:bodyPr/>
                    <a:lstStyle/>
                    <a:p>
                      <a:pPr algn="r"/>
                      <a:r>
                        <a:rPr sz="1150" b="1" i="0">
                          <a:solidFill>
                            <a:srgbClr val="FFFFFF"/>
                          </a:solidFill>
                          <a:latin typeface="Helvetica Neue"/>
                        </a:rPr>
                        <a:t>K6 (6 kelas)</a:t>
                      </a:r>
                    </a:p>
                  </a:txBody>
                  <a:tcPr marR="73152" marT="27432" marB="27432" anchor="ctr">
                    <a:solidFill>
                      <a:srgbClr val="000000"/>
                    </a:solidFill>
                  </a:tcPr>
                </a:tc>
                <a:tc>
                  <a:txBody>
                    <a:bodyPr/>
                    <a:lstStyle/>
                    <a:p>
                      <a:pPr algn="r"/>
                      <a:r>
                        <a:rPr sz="1150" b="1" i="0">
                          <a:solidFill>
                            <a:srgbClr val="FFFFFF"/>
                          </a:solidFill>
                          <a:latin typeface="Helvetica Neue"/>
                        </a:rPr>
                        <a:t>K5 (5 kelas)</a:t>
                      </a:r>
                    </a:p>
                  </a:txBody>
                  <a:tcPr marR="73152" marT="27432" marB="27432" anchor="ctr">
                    <a:solidFill>
                      <a:srgbClr val="000000"/>
                    </a:solidFill>
                  </a:tcPr>
                </a:tc>
                <a:extLst>
                  <a:ext uri="{0D108BD9-81ED-4DB2-BD59-A6C34878D82A}">
                    <a16:rowId xmlns:a16="http://schemas.microsoft.com/office/drawing/2014/main" val="10000"/>
                  </a:ext>
                </a:extLst>
              </a:tr>
              <a:tr h="402336">
                <a:tc>
                  <a:txBody>
                    <a:bodyPr/>
                    <a:lstStyle/>
                    <a:p>
                      <a:r>
                        <a:rPr sz="1200" b="0" i="0">
                          <a:solidFill>
                            <a:srgbClr val="000000"/>
                          </a:solidFill>
                          <a:latin typeface="Helvetica Neue"/>
                        </a:rPr>
                        <a:t>R1</a:t>
                      </a:r>
                    </a:p>
                  </a:txBody>
                  <a:tcPr marR="73152" marT="27432" marB="27432" anchor="ctr">
                    <a:solidFill>
                      <a:srgbClr val="FFFFFF"/>
                    </a:solidFill>
                  </a:tcPr>
                </a:tc>
                <a:tc>
                  <a:txBody>
                    <a:bodyPr/>
                    <a:lstStyle/>
                    <a:p>
                      <a:r>
                        <a:rPr sz="1200" b="0" i="0">
                          <a:solidFill>
                            <a:srgbClr val="000000"/>
                          </a:solidFill>
                          <a:latin typeface="Helvetica Neue"/>
                        </a:rPr>
                        <a:t>EfficientNet-B4 (17,56 jt)</a:t>
                      </a:r>
                    </a:p>
                  </a:txBody>
                  <a:tcPr marR="73152" marT="27432" marB="27432" anchor="ctr">
                    <a:solidFill>
                      <a:srgbClr val="FFFFFF"/>
                    </a:solidFill>
                  </a:tcPr>
                </a:tc>
                <a:tc>
                  <a:txBody>
                    <a:bodyPr/>
                    <a:lstStyle/>
                    <a:p>
                      <a:r>
                        <a:rPr sz="1200" b="0" i="0">
                          <a:solidFill>
                            <a:srgbClr val="000000"/>
                          </a:solidFill>
                          <a:latin typeface="Helvetica Neue"/>
                        </a:rPr>
                        <a:t>Guru besar — batas atas</a:t>
                      </a:r>
                    </a:p>
                  </a:txBody>
                  <a:tcPr marR="73152" marT="27432" marB="27432" anchor="ctr">
                    <a:solidFill>
                      <a:srgbClr val="FFFFFF"/>
                    </a:solidFill>
                  </a:tcPr>
                </a:tc>
                <a:tc>
                  <a:txBody>
                    <a:bodyPr/>
                    <a:lstStyle/>
                    <a:p>
                      <a:pPr algn="r"/>
                      <a:r>
                        <a:rPr sz="1200" b="0" i="0">
                          <a:solidFill>
                            <a:srgbClr val="000000"/>
                          </a:solidFill>
                          <a:latin typeface="Helvetica Neue"/>
                        </a:rPr>
                        <a:t>0,9446 ± 0,0070</a:t>
                      </a:r>
                    </a:p>
                  </a:txBody>
                  <a:tcPr marR="73152" marT="27432" marB="27432" anchor="ctr">
                    <a:solidFill>
                      <a:srgbClr val="FFFFFF"/>
                    </a:solidFill>
                  </a:tcPr>
                </a:tc>
                <a:tc>
                  <a:txBody>
                    <a:bodyPr/>
                    <a:lstStyle/>
                    <a:p>
                      <a:pPr algn="r"/>
                      <a:r>
                        <a:rPr sz="1200" b="0" i="0">
                          <a:solidFill>
                            <a:srgbClr val="000000"/>
                          </a:solidFill>
                          <a:latin typeface="Helvetica Neue"/>
                        </a:rPr>
                        <a:t>0,9581 ± 0,0048</a:t>
                      </a:r>
                    </a:p>
                  </a:txBody>
                  <a:tcPr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00" b="0" i="0">
                          <a:solidFill>
                            <a:srgbClr val="000000"/>
                          </a:solidFill>
                          <a:latin typeface="Helvetica Neue"/>
                        </a:rPr>
                        <a:t>R2</a:t>
                      </a:r>
                    </a:p>
                  </a:txBody>
                  <a:tcPr marR="73152" marT="27432" marB="27432" anchor="ctr">
                    <a:solidFill>
                      <a:srgbClr val="FFFFFF"/>
                    </a:solidFill>
                  </a:tcPr>
                </a:tc>
                <a:tc>
                  <a:txBody>
                    <a:bodyPr/>
                    <a:lstStyle/>
                    <a:p>
                      <a:r>
                        <a:rPr sz="1200" b="0" i="0">
                          <a:solidFill>
                            <a:srgbClr val="000000"/>
                          </a:solidFill>
                          <a:latin typeface="Helvetica Neue"/>
                        </a:rPr>
                        <a:t>Focus-RCNet (520,6 rb)</a:t>
                      </a:r>
                    </a:p>
                  </a:txBody>
                  <a:tcPr marR="73152" marT="27432" marB="27432" anchor="ctr">
                    <a:solidFill>
                      <a:srgbClr val="FFFFFF"/>
                    </a:solidFill>
                  </a:tcPr>
                </a:tc>
                <a:tc>
                  <a:txBody>
                    <a:bodyPr/>
                    <a:lstStyle/>
                    <a:p>
                      <a:r>
                        <a:rPr sz="1200" b="0" i="0">
                          <a:solidFill>
                            <a:srgbClr val="000000"/>
                          </a:solidFill>
                          <a:latin typeface="Helvetica Neue"/>
                        </a:rPr>
                        <a:t>Asisten menengah</a:t>
                      </a:r>
                    </a:p>
                  </a:txBody>
                  <a:tcPr marR="73152" marT="27432" marB="27432" anchor="ctr">
                    <a:solidFill>
                      <a:srgbClr val="FFFFFF"/>
                    </a:solidFill>
                  </a:tcPr>
                </a:tc>
                <a:tc>
                  <a:txBody>
                    <a:bodyPr/>
                    <a:lstStyle/>
                    <a:p>
                      <a:pPr algn="r"/>
                      <a:r>
                        <a:rPr sz="1200" b="0" i="0">
                          <a:solidFill>
                            <a:srgbClr val="000000"/>
                          </a:solidFill>
                          <a:latin typeface="Helvetica Neue"/>
                        </a:rPr>
                        <a:t>0,8507 ± 0,0164</a:t>
                      </a:r>
                    </a:p>
                  </a:txBody>
                  <a:tcPr marR="73152" marT="27432" marB="27432" anchor="ctr">
                    <a:solidFill>
                      <a:srgbClr val="FFFFFF"/>
                    </a:solidFill>
                  </a:tcPr>
                </a:tc>
                <a:tc>
                  <a:txBody>
                    <a:bodyPr/>
                    <a:lstStyle/>
                    <a:p>
                      <a:pPr algn="r"/>
                      <a:r>
                        <a:rPr sz="1200" b="0" i="0">
                          <a:solidFill>
                            <a:srgbClr val="000000"/>
                          </a:solidFill>
                          <a:latin typeface="Helvetica Neue"/>
                        </a:rPr>
                        <a:t>0,8737 ± 0,0152</a:t>
                      </a:r>
                    </a:p>
                  </a:txBody>
                  <a:tcPr marR="73152" marT="27432" marB="27432" anchor="ctr">
                    <a:solidFill>
                      <a:srgbClr val="FFFFFF"/>
                    </a:solidFill>
                  </a:tcPr>
                </a:tc>
                <a:extLst>
                  <a:ext uri="{0D108BD9-81ED-4DB2-BD59-A6C34878D82A}">
                    <a16:rowId xmlns:a16="http://schemas.microsoft.com/office/drawing/2014/main" val="10002"/>
                  </a:ext>
                </a:extLst>
              </a:tr>
              <a:tr h="402336">
                <a:tc>
                  <a:txBody>
                    <a:bodyPr/>
                    <a:lstStyle/>
                    <a:p>
                      <a:r>
                        <a:rPr sz="1200" b="0" i="0">
                          <a:solidFill>
                            <a:srgbClr val="000000"/>
                          </a:solidFill>
                          <a:latin typeface="Helvetica Neue"/>
                        </a:rPr>
                        <a:t>R3</a:t>
                      </a:r>
                    </a:p>
                  </a:txBody>
                  <a:tcPr marR="73152" marT="27432" marB="27432" anchor="ctr">
                    <a:solidFill>
                      <a:srgbClr val="FFFFFF"/>
                    </a:solidFill>
                  </a:tcPr>
                </a:tc>
                <a:tc>
                  <a:txBody>
                    <a:bodyPr/>
                    <a:lstStyle/>
                    <a:p>
                      <a:r>
                        <a:rPr sz="1200" b="0" i="0">
                          <a:solidFill>
                            <a:srgbClr val="000000"/>
                          </a:solidFill>
                          <a:latin typeface="Helvetica Neue"/>
                        </a:rPr>
                        <a:t>WasteNet-128K</a:t>
                      </a:r>
                    </a:p>
                  </a:txBody>
                  <a:tcPr marR="73152" marT="27432" marB="27432" anchor="ctr">
                    <a:solidFill>
                      <a:srgbClr val="FFFFFF"/>
                    </a:solidFill>
                  </a:tcPr>
                </a:tc>
                <a:tc>
                  <a:txBody>
                    <a:bodyPr/>
                    <a:lstStyle/>
                    <a:p>
                      <a:r>
                        <a:rPr sz="1200" b="0" i="0">
                          <a:solidFill>
                            <a:srgbClr val="000000"/>
                          </a:solidFill>
                          <a:latin typeface="Helvetica Neue"/>
                        </a:rPr>
                        <a:t>Baseline CE (floor)</a:t>
                      </a:r>
                    </a:p>
                  </a:txBody>
                  <a:tcPr marR="73152" marT="27432" marB="27432" anchor="ctr">
                    <a:solidFill>
                      <a:srgbClr val="FFFFFF"/>
                    </a:solidFill>
                  </a:tcPr>
                </a:tc>
                <a:tc>
                  <a:txBody>
                    <a:bodyPr/>
                    <a:lstStyle/>
                    <a:p>
                      <a:pPr algn="r"/>
                      <a:r>
                        <a:rPr sz="1200" b="0" i="0">
                          <a:solidFill>
                            <a:srgbClr val="000000"/>
                          </a:solidFill>
                          <a:latin typeface="Helvetica Neue"/>
                        </a:rPr>
                        <a:t>0,7652 ± 0,0204</a:t>
                      </a:r>
                    </a:p>
                  </a:txBody>
                  <a:tcPr marR="73152" marT="27432" marB="27432" anchor="ctr">
                    <a:solidFill>
                      <a:srgbClr val="FFFFFF"/>
                    </a:solidFill>
                  </a:tcPr>
                </a:tc>
                <a:tc>
                  <a:txBody>
                    <a:bodyPr/>
                    <a:lstStyle/>
                    <a:p>
                      <a:pPr algn="r"/>
                      <a:r>
                        <a:rPr sz="1200" b="0" i="0">
                          <a:solidFill>
                            <a:srgbClr val="000000"/>
                          </a:solidFill>
                          <a:latin typeface="Helvetica Neue"/>
                        </a:rPr>
                        <a:t>0,8067 ± 0,0200</a:t>
                      </a:r>
                    </a:p>
                  </a:txBody>
                  <a:tcPr marR="73152" marT="27432" marB="27432" anchor="ctr">
                    <a:solidFill>
                      <a:srgbClr val="FFFFFF"/>
                    </a:solidFill>
                  </a:tcPr>
                </a:tc>
                <a:extLst>
                  <a:ext uri="{0D108BD9-81ED-4DB2-BD59-A6C34878D82A}">
                    <a16:rowId xmlns:a16="http://schemas.microsoft.com/office/drawing/2014/main" val="10003"/>
                  </a:ext>
                </a:extLst>
              </a:tr>
              <a:tr h="402336">
                <a:tc>
                  <a:txBody>
                    <a:bodyPr/>
                    <a:lstStyle/>
                    <a:p>
                      <a:r>
                        <a:rPr sz="1200" b="0" i="0">
                          <a:solidFill>
                            <a:srgbClr val="000000"/>
                          </a:solidFill>
                          <a:latin typeface="Helvetica Neue"/>
                        </a:rPr>
                        <a:t>R4</a:t>
                      </a:r>
                    </a:p>
                  </a:txBody>
                  <a:tcPr marR="73152" marT="27432" marB="27432" anchor="ctr">
                    <a:solidFill>
                      <a:srgbClr val="FFFFFF"/>
                    </a:solidFill>
                  </a:tcPr>
                </a:tc>
                <a:tc>
                  <a:txBody>
                    <a:bodyPr/>
                    <a:lstStyle/>
                    <a:p>
                      <a:r>
                        <a:rPr sz="1200" b="0" i="0">
                          <a:solidFill>
                            <a:srgbClr val="000000"/>
                          </a:solidFill>
                          <a:latin typeface="Helvetica Neue"/>
                        </a:rPr>
                        <a:t>WasteNet-128K</a:t>
                      </a:r>
                    </a:p>
                  </a:txBody>
                  <a:tcPr marR="73152" marT="27432" marB="27432" anchor="ctr">
                    <a:solidFill>
                      <a:srgbClr val="FFFFFF"/>
                    </a:solidFill>
                  </a:tcPr>
                </a:tc>
                <a:tc>
                  <a:txBody>
                    <a:bodyPr/>
                    <a:lstStyle/>
                    <a:p>
                      <a:r>
                        <a:rPr sz="1200" b="0" i="0">
                          <a:solidFill>
                            <a:srgbClr val="000000"/>
                          </a:solidFill>
                          <a:latin typeface="Helvetica Neue"/>
                        </a:rPr>
                        <a:t>Direct KD ← guru besar</a:t>
                      </a:r>
                    </a:p>
                  </a:txBody>
                  <a:tcPr marR="73152" marT="27432" marB="27432" anchor="ctr">
                    <a:solidFill>
                      <a:srgbClr val="FFFFFF"/>
                    </a:solidFill>
                  </a:tcPr>
                </a:tc>
                <a:tc>
                  <a:txBody>
                    <a:bodyPr/>
                    <a:lstStyle/>
                    <a:p>
                      <a:pPr algn="r"/>
                      <a:r>
                        <a:rPr sz="1200" b="0" i="0">
                          <a:solidFill>
                            <a:srgbClr val="000000"/>
                          </a:solidFill>
                          <a:latin typeface="Helvetica Neue"/>
                        </a:rPr>
                        <a:t>0,7646 ± 0,0127</a:t>
                      </a:r>
                    </a:p>
                  </a:txBody>
                  <a:tcPr marR="73152" marT="27432" marB="27432" anchor="ctr">
                    <a:solidFill>
                      <a:srgbClr val="FFFFFF"/>
                    </a:solidFill>
                  </a:tcPr>
                </a:tc>
                <a:tc>
                  <a:txBody>
                    <a:bodyPr/>
                    <a:lstStyle/>
                    <a:p>
                      <a:pPr algn="r"/>
                      <a:r>
                        <a:rPr sz="1200" b="0" i="0">
                          <a:solidFill>
                            <a:srgbClr val="000000"/>
                          </a:solidFill>
                          <a:latin typeface="Helvetica Neue"/>
                        </a:rPr>
                        <a:t>0,8061 ± 0,0181</a:t>
                      </a:r>
                    </a:p>
                  </a:txBody>
                  <a:tcPr marR="73152" marT="27432" marB="27432" anchor="ctr">
                    <a:solidFill>
                      <a:srgbClr val="FFFFFF"/>
                    </a:solidFill>
                  </a:tcPr>
                </a:tc>
                <a:extLst>
                  <a:ext uri="{0D108BD9-81ED-4DB2-BD59-A6C34878D82A}">
                    <a16:rowId xmlns:a16="http://schemas.microsoft.com/office/drawing/2014/main" val="10004"/>
                  </a:ext>
                </a:extLst>
              </a:tr>
              <a:tr h="402336">
                <a:tc>
                  <a:txBody>
                    <a:bodyPr/>
                    <a:lstStyle/>
                    <a:p>
                      <a:r>
                        <a:rPr sz="1200" b="0" i="0">
                          <a:solidFill>
                            <a:srgbClr val="000000"/>
                          </a:solidFill>
                          <a:latin typeface="Helvetica Neue"/>
                        </a:rPr>
                        <a:t>R5</a:t>
                      </a:r>
                    </a:p>
                  </a:txBody>
                  <a:tcPr marR="73152" marT="27432" marB="27432" anchor="ctr">
                    <a:solidFill>
                      <a:srgbClr val="FFFFFF"/>
                    </a:solidFill>
                  </a:tcPr>
                </a:tc>
                <a:tc>
                  <a:txBody>
                    <a:bodyPr/>
                    <a:lstStyle/>
                    <a:p>
                      <a:r>
                        <a:rPr sz="1200" b="0" i="0">
                          <a:solidFill>
                            <a:srgbClr val="000000"/>
                          </a:solidFill>
                          <a:latin typeface="Helvetica Neue"/>
                        </a:rPr>
                        <a:t>WasteNet-128K</a:t>
                      </a:r>
                    </a:p>
                  </a:txBody>
                  <a:tcPr marR="73152" marT="27432" marB="27432" anchor="ctr">
                    <a:solidFill>
                      <a:srgbClr val="FFFFFF"/>
                    </a:solidFill>
                  </a:tcPr>
                </a:tc>
                <a:tc>
                  <a:txBody>
                    <a:bodyPr/>
                    <a:lstStyle/>
                    <a:p>
                      <a:r>
                        <a:rPr sz="1200" b="0" i="0">
                          <a:solidFill>
                            <a:srgbClr val="000000"/>
                          </a:solidFill>
                          <a:latin typeface="Helvetica Neue"/>
                        </a:rPr>
                        <a:t>TA-KD ← asisten</a:t>
                      </a:r>
                    </a:p>
                  </a:txBody>
                  <a:tcPr marR="73152" marT="27432" marB="27432" anchor="ctr">
                    <a:solidFill>
                      <a:srgbClr val="FFFFFF"/>
                    </a:solidFill>
                  </a:tcPr>
                </a:tc>
                <a:tc>
                  <a:txBody>
                    <a:bodyPr/>
                    <a:lstStyle/>
                    <a:p>
                      <a:pPr algn="r"/>
                      <a:r>
                        <a:rPr sz="1200" b="0" i="0">
                          <a:solidFill>
                            <a:srgbClr val="000000"/>
                          </a:solidFill>
                          <a:latin typeface="Helvetica Neue"/>
                        </a:rPr>
                        <a:t>0,7578 ± 0,0322</a:t>
                      </a:r>
                    </a:p>
                  </a:txBody>
                  <a:tcPr marR="73152" marT="27432" marB="27432" anchor="ctr">
                    <a:solidFill>
                      <a:srgbClr val="FFFFFF"/>
                    </a:solidFill>
                  </a:tcPr>
                </a:tc>
                <a:tc>
                  <a:txBody>
                    <a:bodyPr/>
                    <a:lstStyle/>
                    <a:p>
                      <a:pPr algn="r"/>
                      <a:r>
                        <a:rPr sz="1200" b="0" i="0">
                          <a:solidFill>
                            <a:srgbClr val="000000"/>
                          </a:solidFill>
                          <a:latin typeface="Helvetica Neue"/>
                        </a:rPr>
                        <a:t>0,8117 ± 0,0200</a:t>
                      </a:r>
                    </a:p>
                  </a:txBody>
                  <a:tcPr marR="73152" marT="27432" marB="27432" anchor="ctr">
                    <a:solidFill>
                      <a:srgbClr val="FFFFFF"/>
                    </a:solidFill>
                  </a:tcPr>
                </a:tc>
                <a:extLst>
                  <a:ext uri="{0D108BD9-81ED-4DB2-BD59-A6C34878D82A}">
                    <a16:rowId xmlns:a16="http://schemas.microsoft.com/office/drawing/2014/main" val="10005"/>
                  </a:ext>
                </a:extLst>
              </a:tr>
              <a:tr h="402336">
                <a:tc>
                  <a:txBody>
                    <a:bodyPr/>
                    <a:lstStyle/>
                    <a:p>
                      <a:r>
                        <a:rPr sz="1200" b="0" i="0">
                          <a:solidFill>
                            <a:srgbClr val="000000"/>
                          </a:solidFill>
                          <a:latin typeface="Helvetica Neue"/>
                        </a:rPr>
                        <a:t>R6</a:t>
                      </a:r>
                    </a:p>
                  </a:txBody>
                  <a:tcPr marR="73152" marT="27432" marB="27432" anchor="ctr">
                    <a:solidFill>
                      <a:srgbClr val="FFFFFF"/>
                    </a:solidFill>
                  </a:tcPr>
                </a:tc>
                <a:tc>
                  <a:txBody>
                    <a:bodyPr/>
                    <a:lstStyle/>
                    <a:p>
                      <a:r>
                        <a:rPr sz="1200" b="0" i="0">
                          <a:solidFill>
                            <a:srgbClr val="000000"/>
                          </a:solidFill>
                          <a:latin typeface="Helvetica Neue"/>
                        </a:rPr>
                        <a:t>WasteNet-256K</a:t>
                      </a:r>
                    </a:p>
                  </a:txBody>
                  <a:tcPr marR="73152" marT="27432" marB="27432" anchor="ctr">
                    <a:solidFill>
                      <a:srgbClr val="FFFFFF"/>
                    </a:solidFill>
                  </a:tcPr>
                </a:tc>
                <a:tc>
                  <a:txBody>
                    <a:bodyPr/>
                    <a:lstStyle/>
                    <a:p>
                      <a:r>
                        <a:rPr sz="1200" b="0" i="0">
                          <a:solidFill>
                            <a:srgbClr val="000000"/>
                          </a:solidFill>
                          <a:latin typeface="Helvetica Neue"/>
                        </a:rPr>
                        <a:t>Baseline CE (floor)</a:t>
                      </a:r>
                    </a:p>
                  </a:txBody>
                  <a:tcPr marR="73152" marT="27432" marB="27432" anchor="ctr">
                    <a:solidFill>
                      <a:srgbClr val="FFFFFF"/>
                    </a:solidFill>
                  </a:tcPr>
                </a:tc>
                <a:tc>
                  <a:txBody>
                    <a:bodyPr/>
                    <a:lstStyle/>
                    <a:p>
                      <a:pPr algn="r"/>
                      <a:r>
                        <a:rPr sz="1200" b="0" i="0">
                          <a:solidFill>
                            <a:srgbClr val="000000"/>
                          </a:solidFill>
                          <a:latin typeface="Helvetica Neue"/>
                        </a:rPr>
                        <a:t>0,7784 ± 0,0128</a:t>
                      </a:r>
                    </a:p>
                  </a:txBody>
                  <a:tcPr marR="73152" marT="27432" marB="27432" anchor="ctr">
                    <a:solidFill>
                      <a:srgbClr val="FFFFFF"/>
                    </a:solidFill>
                  </a:tcPr>
                </a:tc>
                <a:tc>
                  <a:txBody>
                    <a:bodyPr/>
                    <a:lstStyle/>
                    <a:p>
                      <a:pPr algn="r"/>
                      <a:r>
                        <a:rPr sz="1200" b="0" i="0">
                          <a:solidFill>
                            <a:srgbClr val="000000"/>
                          </a:solidFill>
                          <a:latin typeface="Helvetica Neue"/>
                        </a:rPr>
                        <a:t>0,7994 ± 0,0259</a:t>
                      </a:r>
                    </a:p>
                  </a:txBody>
                  <a:tcPr marR="73152" marT="27432" marB="27432" anchor="ctr">
                    <a:solidFill>
                      <a:srgbClr val="FFFFFF"/>
                    </a:solidFill>
                  </a:tcPr>
                </a:tc>
                <a:extLst>
                  <a:ext uri="{0D108BD9-81ED-4DB2-BD59-A6C34878D82A}">
                    <a16:rowId xmlns:a16="http://schemas.microsoft.com/office/drawing/2014/main" val="10006"/>
                  </a:ext>
                </a:extLst>
              </a:tr>
              <a:tr h="402336">
                <a:tc>
                  <a:txBody>
                    <a:bodyPr/>
                    <a:lstStyle/>
                    <a:p>
                      <a:r>
                        <a:rPr sz="1200" b="0" i="0">
                          <a:solidFill>
                            <a:srgbClr val="000000"/>
                          </a:solidFill>
                          <a:latin typeface="Helvetica Neue"/>
                        </a:rPr>
                        <a:t>R7</a:t>
                      </a:r>
                    </a:p>
                  </a:txBody>
                  <a:tcPr marR="73152" marT="27432" marB="27432" anchor="ctr">
                    <a:solidFill>
                      <a:srgbClr val="FFFFFF"/>
                    </a:solidFill>
                  </a:tcPr>
                </a:tc>
                <a:tc>
                  <a:txBody>
                    <a:bodyPr/>
                    <a:lstStyle/>
                    <a:p>
                      <a:r>
                        <a:rPr sz="1200" b="0" i="0">
                          <a:solidFill>
                            <a:srgbClr val="000000"/>
                          </a:solidFill>
                          <a:latin typeface="Helvetica Neue"/>
                        </a:rPr>
                        <a:t>WasteNet-256K</a:t>
                      </a:r>
                    </a:p>
                  </a:txBody>
                  <a:tcPr marR="73152" marT="27432" marB="27432" anchor="ctr">
                    <a:solidFill>
                      <a:srgbClr val="FFFFFF"/>
                    </a:solidFill>
                  </a:tcPr>
                </a:tc>
                <a:tc>
                  <a:txBody>
                    <a:bodyPr/>
                    <a:lstStyle/>
                    <a:p>
                      <a:r>
                        <a:rPr sz="1200" b="0" i="0">
                          <a:solidFill>
                            <a:srgbClr val="000000"/>
                          </a:solidFill>
                          <a:latin typeface="Helvetica Neue"/>
                        </a:rPr>
                        <a:t>Direct KD ← guru besar</a:t>
                      </a:r>
                    </a:p>
                  </a:txBody>
                  <a:tcPr marR="73152" marT="27432" marB="27432" anchor="ctr">
                    <a:solidFill>
                      <a:srgbClr val="FFFFFF"/>
                    </a:solidFill>
                  </a:tcPr>
                </a:tc>
                <a:tc>
                  <a:txBody>
                    <a:bodyPr/>
                    <a:lstStyle/>
                    <a:p>
                      <a:pPr algn="r"/>
                      <a:r>
                        <a:rPr sz="1200" b="0" i="0">
                          <a:solidFill>
                            <a:srgbClr val="000000"/>
                          </a:solidFill>
                          <a:latin typeface="Helvetica Neue"/>
                        </a:rPr>
                        <a:t>0,7736 ± 0,0178</a:t>
                      </a:r>
                    </a:p>
                  </a:txBody>
                  <a:tcPr marR="73152" marT="27432" marB="27432" anchor="ctr">
                    <a:solidFill>
                      <a:srgbClr val="FFFFFF"/>
                    </a:solidFill>
                  </a:tcPr>
                </a:tc>
                <a:tc>
                  <a:txBody>
                    <a:bodyPr/>
                    <a:lstStyle/>
                    <a:p>
                      <a:pPr algn="r"/>
                      <a:r>
                        <a:rPr sz="1200" b="0" i="0">
                          <a:solidFill>
                            <a:srgbClr val="000000"/>
                          </a:solidFill>
                          <a:latin typeface="Helvetica Neue"/>
                        </a:rPr>
                        <a:t>0,8056 ± 0,0156</a:t>
                      </a:r>
                    </a:p>
                  </a:txBody>
                  <a:tcPr marR="73152" marT="27432" marB="27432" anchor="ctr">
                    <a:solidFill>
                      <a:srgbClr val="FFFFFF"/>
                    </a:solidFill>
                  </a:tcPr>
                </a:tc>
                <a:extLst>
                  <a:ext uri="{0D108BD9-81ED-4DB2-BD59-A6C34878D82A}">
                    <a16:rowId xmlns:a16="http://schemas.microsoft.com/office/drawing/2014/main" val="10007"/>
                  </a:ext>
                </a:extLst>
              </a:tr>
              <a:tr h="402336">
                <a:tc>
                  <a:txBody>
                    <a:bodyPr/>
                    <a:lstStyle/>
                    <a:p>
                      <a:r>
                        <a:rPr sz="1200" b="1" i="0">
                          <a:solidFill>
                            <a:srgbClr val="000000"/>
                          </a:solidFill>
                          <a:latin typeface="Helvetica Neue"/>
                        </a:rPr>
                        <a:t>R8</a:t>
                      </a:r>
                    </a:p>
                  </a:txBody>
                  <a:tcPr marR="73152" marT="27432" marB="27432" anchor="ctr">
                    <a:solidFill>
                      <a:srgbClr val="FFE9E0"/>
                    </a:solidFill>
                  </a:tcPr>
                </a:tc>
                <a:tc>
                  <a:txBody>
                    <a:bodyPr/>
                    <a:lstStyle/>
                    <a:p>
                      <a:r>
                        <a:rPr sz="1200" b="0" i="0">
                          <a:solidFill>
                            <a:srgbClr val="000000"/>
                          </a:solidFill>
                          <a:latin typeface="Helvetica Neue"/>
                        </a:rPr>
                        <a:t>WasteNet-256K</a:t>
                      </a:r>
                    </a:p>
                  </a:txBody>
                  <a:tcPr marR="73152" marT="27432" marB="27432" anchor="ctr">
                    <a:solidFill>
                      <a:srgbClr val="FFE9E0"/>
                    </a:solidFill>
                  </a:tcPr>
                </a:tc>
                <a:tc>
                  <a:txBody>
                    <a:bodyPr/>
                    <a:lstStyle/>
                    <a:p>
                      <a:r>
                        <a:rPr sz="1200" b="0" i="0">
                          <a:solidFill>
                            <a:srgbClr val="000000"/>
                          </a:solidFill>
                          <a:latin typeface="Helvetica Neue"/>
                        </a:rPr>
                        <a:t>TA-KD ← asisten</a:t>
                      </a:r>
                    </a:p>
                  </a:txBody>
                  <a:tcPr marR="73152" marT="27432" marB="27432" anchor="ctr">
                    <a:solidFill>
                      <a:srgbClr val="FFE9E0"/>
                    </a:solidFill>
                  </a:tcPr>
                </a:tc>
                <a:tc>
                  <a:txBody>
                    <a:bodyPr/>
                    <a:lstStyle/>
                    <a:p>
                      <a:pPr algn="r"/>
                      <a:r>
                        <a:rPr sz="1200" b="0" i="0">
                          <a:solidFill>
                            <a:srgbClr val="000000"/>
                          </a:solidFill>
                          <a:latin typeface="Helvetica Neue"/>
                        </a:rPr>
                        <a:t>0,7873 ± 0,0089</a:t>
                      </a:r>
                    </a:p>
                  </a:txBody>
                  <a:tcPr marR="73152" marT="27432" marB="27432" anchor="ctr">
                    <a:solidFill>
                      <a:srgbClr val="FFE9E0"/>
                    </a:solidFill>
                  </a:tcPr>
                </a:tc>
                <a:tc>
                  <a:txBody>
                    <a:bodyPr/>
                    <a:lstStyle/>
                    <a:p>
                      <a:pPr algn="r"/>
                      <a:r>
                        <a:rPr sz="1200" b="0" i="0">
                          <a:solidFill>
                            <a:srgbClr val="000000"/>
                          </a:solidFill>
                          <a:latin typeface="Helvetica Neue"/>
                        </a:rPr>
                        <a:t>0,8235 ± 0,0107</a:t>
                      </a:r>
                    </a:p>
                  </a:txBody>
                  <a:tcPr marR="73152" marT="27432" marB="27432" anchor="ctr">
                    <a:solidFill>
                      <a:srgbClr val="FFE9E0"/>
                    </a:solidFill>
                  </a:tcPr>
                </a:tc>
                <a:extLst>
                  <a:ext uri="{0D108BD9-81ED-4DB2-BD59-A6C34878D82A}">
                    <a16:rowId xmlns:a16="http://schemas.microsoft.com/office/drawing/2014/main" val="10008"/>
                  </a:ext>
                </a:extLst>
              </a:tr>
              <a:tr h="402336">
                <a:tc>
                  <a:txBody>
                    <a:bodyPr/>
                    <a:lstStyle/>
                    <a:p>
                      <a:r>
                        <a:rPr sz="1200" b="0" i="0">
                          <a:solidFill>
                            <a:srgbClr val="000000"/>
                          </a:solidFill>
                          <a:latin typeface="Helvetica Neue"/>
                        </a:rPr>
                        <a:t>R9</a:t>
                      </a:r>
                    </a:p>
                  </a:txBody>
                  <a:tcPr marR="73152" marT="27432" marB="27432" anchor="ctr">
                    <a:solidFill>
                      <a:srgbClr val="FFFFFF"/>
                    </a:solidFill>
                  </a:tcPr>
                </a:tc>
                <a:tc>
                  <a:txBody>
                    <a:bodyPr/>
                    <a:lstStyle/>
                    <a:p>
                      <a:r>
                        <a:rPr sz="1200" b="0" i="0">
                          <a:solidFill>
                            <a:srgbClr val="000000"/>
                          </a:solidFill>
                          <a:latin typeface="Helvetica Neue"/>
                        </a:rPr>
                        <a:t>WasteNet-256K</a:t>
                      </a:r>
                    </a:p>
                  </a:txBody>
                  <a:tcPr marR="73152" marT="27432" marB="27432" anchor="ctr">
                    <a:solidFill>
                      <a:srgbClr val="FFFFFF"/>
                    </a:solidFill>
                  </a:tcPr>
                </a:tc>
                <a:tc>
                  <a:txBody>
                    <a:bodyPr/>
                    <a:lstStyle/>
                    <a:p>
                      <a:r>
                        <a:rPr sz="1200" b="0" i="0">
                          <a:solidFill>
                            <a:srgbClr val="000000"/>
                          </a:solidFill>
                          <a:latin typeface="Helvetica Neue"/>
                        </a:rPr>
                        <a:t>Self-KD (BAN)</a:t>
                      </a:r>
                    </a:p>
                  </a:txBody>
                  <a:tcPr marR="73152" marT="27432" marB="27432" anchor="ctr">
                    <a:solidFill>
                      <a:srgbClr val="FFFFFF"/>
                    </a:solidFill>
                  </a:tcPr>
                </a:tc>
                <a:tc>
                  <a:txBody>
                    <a:bodyPr/>
                    <a:lstStyle/>
                    <a:p>
                      <a:pPr algn="r"/>
                      <a:r>
                        <a:rPr sz="1200" b="0" i="0">
                          <a:solidFill>
                            <a:srgbClr val="000000"/>
                          </a:solidFill>
                          <a:latin typeface="Helvetica Neue"/>
                        </a:rPr>
                        <a:t>0,7831 ± 0,0105</a:t>
                      </a:r>
                    </a:p>
                  </a:txBody>
                  <a:tcPr marR="73152" marT="27432" marB="27432" anchor="ctr">
                    <a:solidFill>
                      <a:srgbClr val="FFFFFF"/>
                    </a:solidFill>
                  </a:tcPr>
                </a:tc>
                <a:tc>
                  <a:txBody>
                    <a:bodyPr/>
                    <a:lstStyle/>
                    <a:p>
                      <a:pPr algn="r"/>
                      <a:r>
                        <a:rPr sz="1200" b="0" i="0">
                          <a:solidFill>
                            <a:srgbClr val="000000"/>
                          </a:solidFill>
                          <a:latin typeface="Helvetica Neue"/>
                        </a:rPr>
                        <a:t>0,8134 ± 0,0109</a:t>
                      </a:r>
                    </a:p>
                  </a:txBody>
                  <a:tcPr marR="73152" marT="27432" marB="27432" anchor="ctr">
                    <a:solidFill>
                      <a:srgbClr val="FFFFFF"/>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402336" y="6035040"/>
            <a:ext cx="11384280" cy="365760"/>
          </a:xfrm>
          <a:prstGeom prst="rect">
            <a:avLst/>
          </a:prstGeom>
          <a:noFill/>
        </p:spPr>
        <p:txBody>
          <a:bodyPr wrap="square">
            <a:spAutoFit/>
          </a:bodyPr>
          <a:lstStyle/>
          <a:p>
            <a:r>
              <a:rPr sz="1200" b="0" i="0">
                <a:solidFill>
                  <a:srgbClr val="555555"/>
                </a:solidFill>
                <a:latin typeface="Helvetica Neue"/>
              </a:rPr>
              <a:t>Kenaikan R8 hanya bermakna dibanding kontrol berpasangannya (slide berikut), bukan dibanding baris lain di tabel ini.</a:t>
            </a:r>
          </a:p>
        </p:txBody>
      </p:sp>
      <p:sp>
        <p:nvSpPr>
          <p:cNvPr id="6"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Bukti utama: TA-KD unggul di setiap seed</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Kontrol berpasangan R8 vs R8-CE — dua lengan identik, bedanya hanya KD nyala/mati.</a:t>
            </a:r>
          </a:p>
        </p:txBody>
      </p:sp>
      <p:pic>
        <p:nvPicPr>
          <p:cNvPr id="4" name="Picture 3" descr="fig_paired_R8_K6_K5.png"/>
          <p:cNvPicPr>
            <a:picLocks noChangeAspect="1"/>
          </p:cNvPicPr>
          <p:nvPr/>
        </p:nvPicPr>
        <p:blipFill>
          <a:blip r:embed="rId3"/>
          <a:stretch>
            <a:fillRect/>
          </a:stretch>
        </p:blipFill>
        <p:spPr>
          <a:xfrm>
            <a:off x="1187196" y="1463040"/>
            <a:ext cx="9814560" cy="4206240"/>
          </a:xfrm>
          <a:prstGeom prst="rect">
            <a:avLst/>
          </a:prstGeom>
        </p:spPr>
      </p:pic>
      <p:sp>
        <p:nvSpPr>
          <p:cNvPr id="5" name="TextBox 4"/>
          <p:cNvSpPr txBox="1"/>
          <p:nvPr/>
        </p:nvSpPr>
        <p:spPr>
          <a:xfrm>
            <a:off x="402336" y="5870448"/>
            <a:ext cx="11384280" cy="502920"/>
          </a:xfrm>
          <a:prstGeom prst="rect">
            <a:avLst/>
          </a:prstGeom>
          <a:noFill/>
        </p:spPr>
        <p:txBody>
          <a:bodyPr wrap="square">
            <a:spAutoFit/>
          </a:bodyPr>
          <a:lstStyle/>
          <a:p>
            <a:r>
              <a:rPr sz="1200" b="0" i="0">
                <a:solidFill>
                  <a:srgbClr val="555555"/>
                </a:solidFill>
                <a:latin typeface="Helvetica Neue"/>
              </a:rPr>
              <a:t>Wilcoxon p = 0,062 di kedua skema label — itu nilai dua sisi TERKECIL yang mungkin untuk n = 5, jadi hasil terkuat yang bisa dicapai uji tersebut.</a:t>
            </a:r>
          </a:p>
        </p:txBody>
      </p:sp>
      <p:sp>
        <p:nvSpPr>
          <p:cNvPr id="6"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Capacity gap: kapasitas guru yang menentukan</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Lima uji berpasangan pada skema K6, sumbu-y absolut sama di kelima panel.</a:t>
            </a:r>
          </a:p>
        </p:txBody>
      </p:sp>
      <p:pic>
        <p:nvPicPr>
          <p:cNvPr id="4" name="Picture 3" descr="fig_paired_kontras_K6.png"/>
          <p:cNvPicPr>
            <a:picLocks noChangeAspect="1"/>
          </p:cNvPicPr>
          <p:nvPr/>
        </p:nvPicPr>
        <p:blipFill>
          <a:blip r:embed="rId3"/>
          <a:stretch>
            <a:fillRect/>
          </a:stretch>
        </p:blipFill>
        <p:spPr>
          <a:xfrm>
            <a:off x="402336" y="1600200"/>
            <a:ext cx="11384280" cy="3534067"/>
          </a:xfrm>
          <a:prstGeom prst="rect">
            <a:avLst/>
          </a:prstGeom>
        </p:spPr>
      </p:pic>
      <p:sp>
        <p:nvSpPr>
          <p:cNvPr id="5" name="TextBox 4"/>
          <p:cNvSpPr txBox="1"/>
          <p:nvPr/>
        </p:nvSpPr>
        <p:spPr>
          <a:xfrm>
            <a:off x="402336" y="5532120"/>
            <a:ext cx="11384280" cy="822960"/>
          </a:xfrm>
          <a:prstGeom prst="rect">
            <a:avLst/>
          </a:prstGeom>
          <a:noFill/>
        </p:spPr>
        <p:txBody>
          <a:bodyPr wrap="square">
            <a:spAutoFit/>
          </a:bodyPr>
          <a:lstStyle/>
          <a:p>
            <a:r>
              <a:rPr sz="1500" b="1" i="0">
                <a:solidFill>
                  <a:srgbClr val="000000"/>
                </a:solidFill>
                <a:latin typeface="Helvetica Neue"/>
              </a:rPr>
              <a:t>Guru besar → wash · guru sekapasitas (self-KD) → wash · asisten menengah → menang.</a:t>
            </a:r>
          </a:p>
          <a:p>
            <a:r>
              <a:rPr sz="1200" b="0" i="0">
                <a:solidFill>
                  <a:srgbClr val="555555"/>
                </a:solidFill>
                <a:latin typeface="Helvetica Neue"/>
              </a:rPr>
              <a:t>Jadwal pelatihan bukan penentu: two-stage dengan guru besar tetap wash (R2.2). Yang menentukan adalah identitas guru.</a:t>
            </a:r>
          </a:p>
        </p:txBody>
      </p:sp>
      <p:sp>
        <p:nvSpPr>
          <p:cNvPr id="6"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p:cNvSpPr>
            <a:spLocks noGrp="1"/>
          </p:cNvSpPr>
          <p:nvPr/>
        </p:nvSpPr>
        <p:spPr>
          <a:xfrm>
            <a:off x="400050" y="342900"/>
            <a:ext cx="10000000" cy="666750"/>
          </a:xfrm>
          <a:prstGeom prst="rect">
            <a:avLst/>
          </a:prstGeom>
          <a:noFill/>
          <a:ln w="0">
            <a:noFill/>
          </a:ln>
        </p:spPr>
        <p:txBody>
          <a:bodyPr wrap="square" anchor="t">
            <a:normAutofit/>
          </a:bodyPr>
          <a:lstStyle/>
          <a:p>
            <a:r>
              <a:rPr sz="2925">
                <a:solidFill>
                  <a:srgbClr val="000000"/>
                </a:solidFill>
                <a:latin typeface="Helvetica Neue"/>
                <a:ea typeface="Helvetica Neue"/>
                <a:cs typeface="Helvetica Neue"/>
              </a:rPr>
              <a:t>R8: di mana TA-KD menolong</a:t>
            </a:r>
          </a:p>
        </p:txBody>
      </p:sp>
      <p:sp>
        <p:nvSpPr>
          <p:cNvPr id="41" name="t"/>
          <p:cNvSpPr/>
          <p:nvPr/>
        </p:nvSpPr>
        <p:spPr>
          <a:xfrm>
            <a:off x="400050" y="1080000"/>
            <a:ext cx="10000000" cy="340000"/>
          </a:xfrm>
          <a:prstGeom prst="rect">
            <a:avLst/>
          </a:prstGeom>
          <a:noFill/>
          <a:ln w="0">
            <a:noFill/>
          </a:ln>
        </p:spPr>
        <p:txBody>
          <a:bodyPr wrap="square" anchor="t">
            <a:normAutofit/>
          </a:bodyPr>
          <a:lstStyle/>
          <a:p>
            <a:r>
              <a:rPr sz="1150" i="1">
                <a:solidFill>
                  <a:srgbClr val="555555"/>
                </a:solidFill>
                <a:latin typeface="Helvetica Neue"/>
                <a:ea typeface="Helvetica Neue"/>
                <a:cs typeface="Helvetica Neue"/>
              </a:rPr>
              <a:t>ΔF1 per kelas = TA-KD (R8) − kontrol CE, rata-rata 5 seed (pp)</a:t>
            </a:r>
          </a:p>
        </p:txBody>
      </p:sp>
      <p:sp>
        <p:nvSpPr>
          <p:cNvPr id="42" name="t"/>
          <p:cNvSpPr/>
          <p:nvPr/>
        </p:nvSpPr>
        <p:spPr>
          <a:xfrm>
            <a:off x="400050" y="1430000"/>
            <a:ext cx="5400000" cy="380000"/>
          </a:xfrm>
          <a:prstGeom prst="rect">
            <a:avLst/>
          </a:prstGeom>
          <a:noFill/>
          <a:ln w="0">
            <a:noFill/>
          </a:ln>
        </p:spPr>
        <p:txBody>
          <a:bodyPr wrap="square" anchor="t">
            <a:normAutofit/>
          </a:bodyPr>
          <a:lstStyle/>
          <a:p>
            <a:r>
              <a:rPr sz="1350" b="1">
                <a:solidFill>
                  <a:srgbClr val="000000"/>
                </a:solidFill>
                <a:latin typeface="Helvetica Neue"/>
                <a:ea typeface="Helvetica Neue"/>
                <a:cs typeface="Helvetica Neue"/>
              </a:rPr>
              <a:t>K6 — 6 kelas</a:t>
            </a:r>
          </a:p>
        </p:txBody>
      </p:sp>
      <p:sp>
        <p:nvSpPr>
          <p:cNvPr id="43" name="bar"/>
          <p:cNvSpPr/>
          <p:nvPr/>
        </p:nvSpPr>
        <p:spPr>
          <a:xfrm>
            <a:off x="2020050" y="1980000"/>
            <a:ext cx="12700" cy="2980000"/>
          </a:xfrm>
          <a:prstGeom prst="rect">
            <a:avLst/>
          </a:prstGeom>
          <a:solidFill>
            <a:srgbClr val="D0D0D0"/>
          </a:solidFill>
          <a:ln w="0">
            <a:noFill/>
          </a:ln>
        </p:spPr>
        <p:txBody>
          <a:bodyPr/>
          <a:lstStyle/>
          <a:p>
            <a:endParaRPr/>
          </a:p>
        </p:txBody>
      </p:sp>
      <p:sp>
        <p:nvSpPr>
          <p:cNvPr id="44" name="t"/>
          <p:cNvSpPr/>
          <p:nvPr/>
        </p:nvSpPr>
        <p:spPr>
          <a:xfrm>
            <a:off x="400050" y="204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glass</a:t>
            </a:r>
          </a:p>
        </p:txBody>
      </p:sp>
      <p:sp>
        <p:nvSpPr>
          <p:cNvPr id="45" name="bar"/>
          <p:cNvSpPr/>
          <p:nvPr/>
        </p:nvSpPr>
        <p:spPr>
          <a:xfrm>
            <a:off x="2020050" y="2080000"/>
            <a:ext cx="936600" cy="200000"/>
          </a:xfrm>
          <a:prstGeom prst="rect">
            <a:avLst/>
          </a:prstGeom>
          <a:solidFill>
            <a:srgbClr val="FF6B35"/>
          </a:solidFill>
          <a:ln w="0">
            <a:noFill/>
          </a:ln>
        </p:spPr>
        <p:txBody>
          <a:bodyPr/>
          <a:lstStyle/>
          <a:p>
            <a:endParaRPr/>
          </a:p>
        </p:txBody>
      </p:sp>
      <p:sp>
        <p:nvSpPr>
          <p:cNvPr id="46" name="t"/>
          <p:cNvSpPr/>
          <p:nvPr/>
        </p:nvSpPr>
        <p:spPr>
          <a:xfrm>
            <a:off x="3026650" y="203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+2,23</a:t>
            </a:r>
          </a:p>
        </p:txBody>
      </p:sp>
      <p:sp>
        <p:nvSpPr>
          <p:cNvPr id="47" name="t"/>
          <p:cNvSpPr/>
          <p:nvPr/>
        </p:nvSpPr>
        <p:spPr>
          <a:xfrm>
            <a:off x="400050" y="256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metal</a:t>
            </a:r>
          </a:p>
        </p:txBody>
      </p:sp>
      <p:sp>
        <p:nvSpPr>
          <p:cNvPr id="48" name="bar"/>
          <p:cNvSpPr/>
          <p:nvPr/>
        </p:nvSpPr>
        <p:spPr>
          <a:xfrm>
            <a:off x="2020050" y="2600000"/>
            <a:ext cx="705600" cy="200000"/>
          </a:xfrm>
          <a:prstGeom prst="rect">
            <a:avLst/>
          </a:prstGeom>
          <a:solidFill>
            <a:srgbClr val="FF6B35"/>
          </a:solidFill>
          <a:ln w="0">
            <a:noFill/>
          </a:ln>
        </p:spPr>
        <p:txBody>
          <a:bodyPr/>
          <a:lstStyle/>
          <a:p>
            <a:endParaRPr/>
          </a:p>
        </p:txBody>
      </p:sp>
      <p:sp>
        <p:nvSpPr>
          <p:cNvPr id="49" name="t"/>
          <p:cNvSpPr/>
          <p:nvPr/>
        </p:nvSpPr>
        <p:spPr>
          <a:xfrm>
            <a:off x="2795650" y="255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+1,68</a:t>
            </a:r>
          </a:p>
        </p:txBody>
      </p:sp>
      <p:sp>
        <p:nvSpPr>
          <p:cNvPr id="50" name="t"/>
          <p:cNvSpPr/>
          <p:nvPr/>
        </p:nvSpPr>
        <p:spPr>
          <a:xfrm>
            <a:off x="400050" y="3080000"/>
            <a:ext cx="1500000" cy="34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paper</a:t>
            </a:r>
          </a:p>
        </p:txBody>
      </p:sp>
      <p:sp>
        <p:nvSpPr>
          <p:cNvPr id="51" name="bar"/>
          <p:cNvSpPr/>
          <p:nvPr/>
        </p:nvSpPr>
        <p:spPr>
          <a:xfrm>
            <a:off x="2020050" y="3120000"/>
            <a:ext cx="344400" cy="200000"/>
          </a:xfrm>
          <a:prstGeom prst="rect">
            <a:avLst/>
          </a:prstGeom>
          <a:solidFill>
            <a:srgbClr val="FF6B35"/>
          </a:solidFill>
          <a:ln w="0">
            <a:noFill/>
          </a:ln>
        </p:spPr>
        <p:txBody>
          <a:bodyPr/>
          <a:lstStyle/>
          <a:p>
            <a:endParaRPr/>
          </a:p>
        </p:txBody>
      </p:sp>
      <p:sp>
        <p:nvSpPr>
          <p:cNvPr id="52" name="t"/>
          <p:cNvSpPr/>
          <p:nvPr/>
        </p:nvSpPr>
        <p:spPr>
          <a:xfrm>
            <a:off x="2434450" y="307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+0,82</a:t>
            </a:r>
          </a:p>
        </p:txBody>
      </p:sp>
      <p:sp>
        <p:nvSpPr>
          <p:cNvPr id="53" name="t"/>
          <p:cNvSpPr/>
          <p:nvPr/>
        </p:nvSpPr>
        <p:spPr>
          <a:xfrm>
            <a:off x="400050" y="3600000"/>
            <a:ext cx="1500000" cy="34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cardboard</a:t>
            </a:r>
          </a:p>
        </p:txBody>
      </p:sp>
      <p:sp>
        <p:nvSpPr>
          <p:cNvPr id="54" name="bar"/>
          <p:cNvSpPr/>
          <p:nvPr/>
        </p:nvSpPr>
        <p:spPr>
          <a:xfrm>
            <a:off x="2020050" y="3640000"/>
            <a:ext cx="243599" cy="200000"/>
          </a:xfrm>
          <a:prstGeom prst="rect">
            <a:avLst/>
          </a:prstGeom>
          <a:solidFill>
            <a:srgbClr val="FF6B35"/>
          </a:solidFill>
          <a:ln w="0">
            <a:noFill/>
          </a:ln>
        </p:spPr>
        <p:txBody>
          <a:bodyPr/>
          <a:lstStyle/>
          <a:p>
            <a:endParaRPr/>
          </a:p>
        </p:txBody>
      </p:sp>
      <p:sp>
        <p:nvSpPr>
          <p:cNvPr id="55" name="t"/>
          <p:cNvSpPr/>
          <p:nvPr/>
        </p:nvSpPr>
        <p:spPr>
          <a:xfrm>
            <a:off x="2333649" y="359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+0,58</a:t>
            </a:r>
          </a:p>
        </p:txBody>
      </p:sp>
      <p:sp>
        <p:nvSpPr>
          <p:cNvPr id="56" name="t"/>
          <p:cNvSpPr/>
          <p:nvPr/>
        </p:nvSpPr>
        <p:spPr>
          <a:xfrm>
            <a:off x="400050" y="412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plastic</a:t>
            </a:r>
          </a:p>
        </p:txBody>
      </p:sp>
      <p:sp>
        <p:nvSpPr>
          <p:cNvPr id="57" name="bar"/>
          <p:cNvSpPr/>
          <p:nvPr/>
        </p:nvSpPr>
        <p:spPr>
          <a:xfrm>
            <a:off x="2020050" y="4160000"/>
            <a:ext cx="138600" cy="200000"/>
          </a:xfrm>
          <a:prstGeom prst="rect">
            <a:avLst/>
          </a:prstGeom>
          <a:solidFill>
            <a:srgbClr val="FF6B35"/>
          </a:solidFill>
          <a:ln w="0">
            <a:noFill/>
          </a:ln>
        </p:spPr>
        <p:txBody>
          <a:bodyPr/>
          <a:lstStyle/>
          <a:p>
            <a:endParaRPr/>
          </a:p>
        </p:txBody>
      </p:sp>
      <p:sp>
        <p:nvSpPr>
          <p:cNvPr id="58" name="t"/>
          <p:cNvSpPr/>
          <p:nvPr/>
        </p:nvSpPr>
        <p:spPr>
          <a:xfrm>
            <a:off x="2228650" y="411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+0,33</a:t>
            </a:r>
          </a:p>
        </p:txBody>
      </p:sp>
      <p:sp>
        <p:nvSpPr>
          <p:cNvPr id="59" name="t"/>
          <p:cNvSpPr/>
          <p:nvPr/>
        </p:nvSpPr>
        <p:spPr>
          <a:xfrm>
            <a:off x="400050" y="4640000"/>
            <a:ext cx="1500000" cy="34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trash</a:t>
            </a:r>
          </a:p>
        </p:txBody>
      </p:sp>
      <p:sp>
        <p:nvSpPr>
          <p:cNvPr id="60" name="bar"/>
          <p:cNvSpPr/>
          <p:nvPr/>
        </p:nvSpPr>
        <p:spPr>
          <a:xfrm>
            <a:off x="1587450" y="4680000"/>
            <a:ext cx="432600" cy="200000"/>
          </a:xfrm>
          <a:prstGeom prst="rect">
            <a:avLst/>
          </a:prstGeom>
          <a:solidFill>
            <a:srgbClr val="9AA0A6"/>
          </a:solidFill>
          <a:ln w="0">
            <a:noFill/>
          </a:ln>
        </p:spPr>
        <p:txBody>
          <a:bodyPr/>
          <a:lstStyle/>
          <a:p>
            <a:endParaRPr/>
          </a:p>
        </p:txBody>
      </p:sp>
      <p:sp>
        <p:nvSpPr>
          <p:cNvPr id="61" name="t"/>
          <p:cNvSpPr/>
          <p:nvPr/>
        </p:nvSpPr>
        <p:spPr>
          <a:xfrm>
            <a:off x="967450" y="4634000"/>
            <a:ext cx="560000" cy="320000"/>
          </a:xfrm>
          <a:prstGeom prst="rect">
            <a:avLst/>
          </a:prstGeom>
          <a:noFill/>
          <a:ln w="0">
            <a:noFill/>
          </a:ln>
        </p:spPr>
        <p:txBody>
          <a:bodyPr wrap="square" anchor="t">
            <a:normAutofit/>
          </a:bodyPr>
          <a:lstStyle/>
          <a:p>
            <a:pPr algn="r"/>
            <a:r>
              <a:rPr sz="1050" b="1">
                <a:solidFill>
                  <a:srgbClr val="666666"/>
                </a:solidFill>
                <a:latin typeface="Helvetica Neue"/>
                <a:ea typeface="Helvetica Neue"/>
                <a:cs typeface="Helvetica Neue"/>
              </a:rPr>
              <a:t>-1,03</a:t>
            </a:r>
          </a:p>
        </p:txBody>
      </p:sp>
      <p:sp>
        <p:nvSpPr>
          <p:cNvPr id="62" name="t"/>
          <p:cNvSpPr/>
          <p:nvPr/>
        </p:nvSpPr>
        <p:spPr>
          <a:xfrm>
            <a:off x="6350000" y="1430000"/>
            <a:ext cx="5400000" cy="380000"/>
          </a:xfrm>
          <a:prstGeom prst="rect">
            <a:avLst/>
          </a:prstGeom>
          <a:noFill/>
          <a:ln w="0">
            <a:noFill/>
          </a:ln>
        </p:spPr>
        <p:txBody>
          <a:bodyPr wrap="square" anchor="t">
            <a:normAutofit/>
          </a:bodyPr>
          <a:lstStyle/>
          <a:p>
            <a:r>
              <a:rPr sz="1350" b="1">
                <a:solidFill>
                  <a:srgbClr val="000000"/>
                </a:solidFill>
                <a:latin typeface="Helvetica Neue"/>
                <a:ea typeface="Helvetica Neue"/>
                <a:cs typeface="Helvetica Neue"/>
              </a:rPr>
              <a:t>K5 — 5 kelas (tanpa trash)</a:t>
            </a:r>
          </a:p>
        </p:txBody>
      </p:sp>
      <p:sp>
        <p:nvSpPr>
          <p:cNvPr id="63" name="bar"/>
          <p:cNvSpPr/>
          <p:nvPr/>
        </p:nvSpPr>
        <p:spPr>
          <a:xfrm>
            <a:off x="7970000" y="1980000"/>
            <a:ext cx="12700" cy="2460000"/>
          </a:xfrm>
          <a:prstGeom prst="rect">
            <a:avLst/>
          </a:prstGeom>
          <a:solidFill>
            <a:srgbClr val="D0D0D0"/>
          </a:solidFill>
          <a:ln w="0">
            <a:noFill/>
          </a:ln>
        </p:spPr>
        <p:txBody>
          <a:bodyPr/>
          <a:lstStyle/>
          <a:p>
            <a:endParaRPr/>
          </a:p>
        </p:txBody>
      </p:sp>
      <p:sp>
        <p:nvSpPr>
          <p:cNvPr id="64" name="t"/>
          <p:cNvSpPr/>
          <p:nvPr/>
        </p:nvSpPr>
        <p:spPr>
          <a:xfrm>
            <a:off x="6350000" y="204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plastic</a:t>
            </a:r>
          </a:p>
        </p:txBody>
      </p:sp>
      <p:sp>
        <p:nvSpPr>
          <p:cNvPr id="65" name="bar"/>
          <p:cNvSpPr/>
          <p:nvPr/>
        </p:nvSpPr>
        <p:spPr>
          <a:xfrm>
            <a:off x="7970000" y="2080000"/>
            <a:ext cx="982799" cy="200000"/>
          </a:xfrm>
          <a:prstGeom prst="rect">
            <a:avLst/>
          </a:prstGeom>
          <a:solidFill>
            <a:srgbClr val="FF6B35"/>
          </a:solidFill>
          <a:ln w="0">
            <a:noFill/>
          </a:ln>
        </p:spPr>
        <p:txBody>
          <a:bodyPr/>
          <a:lstStyle/>
          <a:p>
            <a:endParaRPr/>
          </a:p>
        </p:txBody>
      </p:sp>
      <p:sp>
        <p:nvSpPr>
          <p:cNvPr id="66" name="t"/>
          <p:cNvSpPr/>
          <p:nvPr/>
        </p:nvSpPr>
        <p:spPr>
          <a:xfrm>
            <a:off x="9022799" y="203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+2,34</a:t>
            </a:r>
          </a:p>
        </p:txBody>
      </p:sp>
      <p:sp>
        <p:nvSpPr>
          <p:cNvPr id="67" name="t"/>
          <p:cNvSpPr/>
          <p:nvPr/>
        </p:nvSpPr>
        <p:spPr>
          <a:xfrm>
            <a:off x="6350000" y="256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glass</a:t>
            </a:r>
          </a:p>
        </p:txBody>
      </p:sp>
      <p:sp>
        <p:nvSpPr>
          <p:cNvPr id="68" name="bar"/>
          <p:cNvSpPr/>
          <p:nvPr/>
        </p:nvSpPr>
        <p:spPr>
          <a:xfrm>
            <a:off x="7970000" y="2600000"/>
            <a:ext cx="831600" cy="200000"/>
          </a:xfrm>
          <a:prstGeom prst="rect">
            <a:avLst/>
          </a:prstGeom>
          <a:solidFill>
            <a:srgbClr val="FF6B35"/>
          </a:solidFill>
          <a:ln w="0">
            <a:noFill/>
          </a:ln>
        </p:spPr>
        <p:txBody>
          <a:bodyPr/>
          <a:lstStyle/>
          <a:p>
            <a:endParaRPr/>
          </a:p>
        </p:txBody>
      </p:sp>
      <p:sp>
        <p:nvSpPr>
          <p:cNvPr id="69" name="t"/>
          <p:cNvSpPr/>
          <p:nvPr/>
        </p:nvSpPr>
        <p:spPr>
          <a:xfrm>
            <a:off x="8871600" y="255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+1,98</a:t>
            </a:r>
          </a:p>
        </p:txBody>
      </p:sp>
      <p:sp>
        <p:nvSpPr>
          <p:cNvPr id="70" name="t"/>
          <p:cNvSpPr/>
          <p:nvPr/>
        </p:nvSpPr>
        <p:spPr>
          <a:xfrm>
            <a:off x="6350000" y="3080000"/>
            <a:ext cx="1500000" cy="34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paper</a:t>
            </a:r>
          </a:p>
        </p:txBody>
      </p:sp>
      <p:sp>
        <p:nvSpPr>
          <p:cNvPr id="71" name="bar"/>
          <p:cNvSpPr/>
          <p:nvPr/>
        </p:nvSpPr>
        <p:spPr>
          <a:xfrm>
            <a:off x="7970000" y="3120000"/>
            <a:ext cx="516600" cy="200000"/>
          </a:xfrm>
          <a:prstGeom prst="rect">
            <a:avLst/>
          </a:prstGeom>
          <a:solidFill>
            <a:srgbClr val="FF6B35"/>
          </a:solidFill>
          <a:ln w="0">
            <a:noFill/>
          </a:ln>
        </p:spPr>
        <p:txBody>
          <a:bodyPr/>
          <a:lstStyle/>
          <a:p>
            <a:endParaRPr/>
          </a:p>
        </p:txBody>
      </p:sp>
      <p:sp>
        <p:nvSpPr>
          <p:cNvPr id="72" name="t"/>
          <p:cNvSpPr/>
          <p:nvPr/>
        </p:nvSpPr>
        <p:spPr>
          <a:xfrm>
            <a:off x="8556600" y="307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+1,23</a:t>
            </a:r>
          </a:p>
        </p:txBody>
      </p:sp>
      <p:sp>
        <p:nvSpPr>
          <p:cNvPr id="73" name="t"/>
          <p:cNvSpPr/>
          <p:nvPr/>
        </p:nvSpPr>
        <p:spPr>
          <a:xfrm>
            <a:off x="6350000" y="3600000"/>
            <a:ext cx="1500000" cy="34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cardboard</a:t>
            </a:r>
          </a:p>
        </p:txBody>
      </p:sp>
      <p:sp>
        <p:nvSpPr>
          <p:cNvPr id="74" name="bar"/>
          <p:cNvSpPr/>
          <p:nvPr/>
        </p:nvSpPr>
        <p:spPr>
          <a:xfrm>
            <a:off x="7970000" y="3640000"/>
            <a:ext cx="289800" cy="200000"/>
          </a:xfrm>
          <a:prstGeom prst="rect">
            <a:avLst/>
          </a:prstGeom>
          <a:solidFill>
            <a:srgbClr val="FF6B35"/>
          </a:solidFill>
          <a:ln w="0">
            <a:noFill/>
          </a:ln>
        </p:spPr>
        <p:txBody>
          <a:bodyPr/>
          <a:lstStyle/>
          <a:p>
            <a:endParaRPr/>
          </a:p>
        </p:txBody>
      </p:sp>
      <p:sp>
        <p:nvSpPr>
          <p:cNvPr id="75" name="t"/>
          <p:cNvSpPr/>
          <p:nvPr/>
        </p:nvSpPr>
        <p:spPr>
          <a:xfrm>
            <a:off x="8329800" y="359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+0,69</a:t>
            </a:r>
          </a:p>
        </p:txBody>
      </p:sp>
      <p:sp>
        <p:nvSpPr>
          <p:cNvPr id="76" name="t"/>
          <p:cNvSpPr/>
          <p:nvPr/>
        </p:nvSpPr>
        <p:spPr>
          <a:xfrm>
            <a:off x="6350000" y="4120000"/>
            <a:ext cx="1500000" cy="340000"/>
          </a:xfrm>
          <a:prstGeom prst="rect">
            <a:avLst/>
          </a:prstGeom>
          <a:noFill/>
          <a:ln w="0">
            <a:noFill/>
          </a:ln>
        </p:spPr>
        <p:txBody>
          <a:bodyPr wrap="square" anchor="t">
            <a:normAutofit/>
          </a:bodyPr>
          <a:lstStyle/>
          <a:p>
            <a:r>
              <a:rPr sz="1100" b="1">
                <a:solidFill>
                  <a:srgbClr val="000000"/>
                </a:solidFill>
                <a:latin typeface="Helvetica Neue"/>
                <a:ea typeface="Helvetica Neue"/>
                <a:cs typeface="Helvetica Neue"/>
              </a:rPr>
              <a:t>metal</a:t>
            </a:r>
          </a:p>
        </p:txBody>
      </p:sp>
      <p:sp>
        <p:nvSpPr>
          <p:cNvPr id="77" name="bar"/>
          <p:cNvSpPr/>
          <p:nvPr/>
        </p:nvSpPr>
        <p:spPr>
          <a:xfrm>
            <a:off x="7970000" y="4160000"/>
            <a:ext cx="285600" cy="200000"/>
          </a:xfrm>
          <a:prstGeom prst="rect">
            <a:avLst/>
          </a:prstGeom>
          <a:solidFill>
            <a:srgbClr val="FF6B35"/>
          </a:solidFill>
          <a:ln w="0">
            <a:noFill/>
          </a:ln>
        </p:spPr>
        <p:txBody>
          <a:bodyPr/>
          <a:lstStyle/>
          <a:p>
            <a:endParaRPr/>
          </a:p>
        </p:txBody>
      </p:sp>
      <p:sp>
        <p:nvSpPr>
          <p:cNvPr id="78" name="t"/>
          <p:cNvSpPr/>
          <p:nvPr/>
        </p:nvSpPr>
        <p:spPr>
          <a:xfrm>
            <a:off x="8325600" y="4114000"/>
            <a:ext cx="700000" cy="320000"/>
          </a:xfrm>
          <a:prstGeom prst="rect">
            <a:avLst/>
          </a:prstGeom>
          <a:noFill/>
          <a:ln w="0">
            <a:noFill/>
          </a:ln>
        </p:spPr>
        <p:txBody>
          <a:bodyPr wrap="square" anchor="t">
            <a:normAutofit/>
          </a:bodyPr>
          <a:lstStyle/>
          <a:p>
            <a:r>
              <a:rPr sz="1050" b="1">
                <a:solidFill>
                  <a:srgbClr val="B23A0F"/>
                </a:solidFill>
                <a:latin typeface="Helvetica Neue"/>
                <a:ea typeface="Helvetica Neue"/>
                <a:cs typeface="Helvetica Neue"/>
              </a:rPr>
              <a:t>+0,68</a:t>
            </a:r>
          </a:p>
        </p:txBody>
      </p:sp>
      <p:sp>
        <p:nvSpPr>
          <p:cNvPr id="79" name="t"/>
          <p:cNvSpPr/>
          <p:nvPr/>
        </p:nvSpPr>
        <p:spPr>
          <a:xfrm>
            <a:off x="400050" y="5900000"/>
            <a:ext cx="11391900" cy="600000"/>
          </a:xfrm>
          <a:prstGeom prst="rect">
            <a:avLst/>
          </a:prstGeom>
          <a:noFill/>
          <a:ln w="0">
            <a:noFill/>
          </a:ln>
        </p:spPr>
        <p:txBody>
          <a:bodyPr wrap="square" anchor="t">
            <a:normAutofit/>
          </a:bodyPr>
          <a:lstStyle/>
          <a:p>
            <a:r>
              <a:rPr sz="1100">
                <a:solidFill>
                  <a:srgbClr val="333333"/>
                </a:solidFill>
                <a:latin typeface="Helvetica Neue"/>
                <a:ea typeface="Helvetica Neue"/>
                <a:cs typeface="Helvetica Neue"/>
              </a:rPr>
              <a:t>Gain terkonsentrasi di trio kelas tersulit (glass, metal, plastic) — bukti transfer dark knowledge, bukan noise. Kelas trash (K6) justru sedikit turun → sebab K5 menunjukkan gain lebih bersih.</a:t>
            </a:r>
          </a:p>
        </p:txBody>
      </p:sp>
      <p:sp>
        <p:nvSpPr>
          <p:cNvPr id="2"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Ablasi komponen arsitektur WasteNet</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40 run (4 konfigurasi × 5 seed × 2 varian), skema K6. Baseline dilatih ulang di notebook yang sama agar konfigurasinya terbukti identik.</a:t>
            </a:r>
          </a:p>
        </p:txBody>
      </p:sp>
      <p:graphicFrame>
        <p:nvGraphicFramePr>
          <p:cNvPr id="4" name="Table 3"/>
          <p:cNvGraphicFramePr>
            <a:graphicFrameLocks noGrp="1"/>
          </p:cNvGraphicFramePr>
          <p:nvPr/>
        </p:nvGraphicFramePr>
        <p:xfrm>
          <a:off x="402336" y="1847088"/>
          <a:ext cx="11384280" cy="3456432"/>
        </p:xfrm>
        <a:graphic>
          <a:graphicData uri="http://schemas.openxmlformats.org/drawingml/2006/table">
            <a:tbl>
              <a:tblPr>
                <a:tableStyleId>{5C22544A-7EE6-4342-B048-85BDC9FD1C3A}</a:tableStyleId>
              </a:tblPr>
              <a:tblGrid>
                <a:gridCol w="4434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84048">
                <a:tc>
                  <a:txBody>
                    <a:bodyPr/>
                    <a:lstStyle/>
                    <a:p>
                      <a:r>
                        <a:rPr sz="1150" b="1" i="0">
                          <a:solidFill>
                            <a:srgbClr val="FFFFFF"/>
                          </a:solidFill>
                          <a:latin typeface="Helvetica Neue"/>
                        </a:rPr>
                        <a:t>Varian</a:t>
                      </a:r>
                    </a:p>
                  </a:txBody>
                  <a:tcPr marR="73152" marT="27432" marB="27432" anchor="ctr">
                    <a:solidFill>
                      <a:srgbClr val="000000"/>
                    </a:solidFill>
                  </a:tcPr>
                </a:tc>
                <a:tc>
                  <a:txBody>
                    <a:bodyPr/>
                    <a:lstStyle/>
                    <a:p>
                      <a:r>
                        <a:rPr sz="1150" b="1" i="0">
                          <a:solidFill>
                            <a:srgbClr val="FFFFFF"/>
                          </a:solidFill>
                          <a:latin typeface="Helvetica Neue"/>
                        </a:rPr>
                        <a:t>Parameter</a:t>
                      </a:r>
                    </a:p>
                  </a:txBody>
                  <a:tcPr marR="73152" marT="27432" marB="27432" anchor="ctr">
                    <a:solidFill>
                      <a:srgbClr val="000000"/>
                    </a:solidFill>
                  </a:tcPr>
                </a:tc>
                <a:tc>
                  <a:txBody>
                    <a:bodyPr/>
                    <a:lstStyle/>
                    <a:p>
                      <a:r>
                        <a:rPr sz="1150" b="1" i="0">
                          <a:solidFill>
                            <a:srgbClr val="FFFFFF"/>
                          </a:solidFill>
                          <a:latin typeface="Helvetica Neue"/>
                        </a:rPr>
                        <a:t>Akurasi uji</a:t>
                      </a:r>
                    </a:p>
                  </a:txBody>
                  <a:tcPr marR="73152" marT="27432" marB="27432" anchor="ctr">
                    <a:solidFill>
                      <a:srgbClr val="000000"/>
                    </a:solidFill>
                  </a:tcPr>
                </a:tc>
                <a:tc>
                  <a:txBody>
                    <a:bodyPr/>
                    <a:lstStyle/>
                    <a:p>
                      <a:pPr algn="r"/>
                      <a:r>
                        <a:rPr sz="1150" b="1" i="0">
                          <a:solidFill>
                            <a:srgbClr val="FFFFFF"/>
                          </a:solidFill>
                          <a:latin typeface="Helvetica Neue"/>
                        </a:rPr>
                        <a:t>Δ vs baseline (paired-t)</a:t>
                      </a:r>
                    </a:p>
                  </a:txBody>
                  <a:tcPr marR="73152" marT="27432" marB="27432" anchor="ctr">
                    <a:solidFill>
                      <a:srgbClr val="000000"/>
                    </a:solidFill>
                  </a:tcPr>
                </a:tc>
                <a:extLst>
                  <a:ext uri="{0D108BD9-81ED-4DB2-BD59-A6C34878D82A}">
                    <a16:rowId xmlns:a16="http://schemas.microsoft.com/office/drawing/2014/main" val="10000"/>
                  </a:ext>
                </a:extLst>
              </a:tr>
              <a:tr h="384048">
                <a:tc>
                  <a:txBody>
                    <a:bodyPr/>
                    <a:lstStyle/>
                    <a:p>
                      <a:r>
                        <a:rPr sz="1200" b="1" i="0">
                          <a:solidFill>
                            <a:srgbClr val="000000"/>
                          </a:solidFill>
                          <a:latin typeface="Helvetica Neue"/>
                        </a:rPr>
                        <a:t>WasteNet-128K — baseline</a:t>
                      </a:r>
                    </a:p>
                  </a:txBody>
                  <a:tcPr marR="73152" marT="27432" marB="27432" anchor="ctr">
                    <a:solidFill>
                      <a:srgbClr val="EDEDED"/>
                    </a:solidFill>
                  </a:tcPr>
                </a:tc>
                <a:tc>
                  <a:txBody>
                    <a:bodyPr/>
                    <a:lstStyle/>
                    <a:p>
                      <a:r>
                        <a:rPr sz="1200" b="1" i="0">
                          <a:solidFill>
                            <a:srgbClr val="000000"/>
                          </a:solidFill>
                          <a:latin typeface="Helvetica Neue"/>
                        </a:rPr>
                        <a:t>128.086</a:t>
                      </a:r>
                    </a:p>
                  </a:txBody>
                  <a:tcPr marR="73152" marT="27432" marB="27432" anchor="ctr">
                    <a:solidFill>
                      <a:srgbClr val="EDEDED"/>
                    </a:solidFill>
                  </a:tcPr>
                </a:tc>
                <a:tc>
                  <a:txBody>
                    <a:bodyPr/>
                    <a:lstStyle/>
                    <a:p>
                      <a:r>
                        <a:rPr sz="1200" b="1" i="0">
                          <a:solidFill>
                            <a:srgbClr val="000000"/>
                          </a:solidFill>
                          <a:latin typeface="Helvetica Neue"/>
                        </a:rPr>
                        <a:t>0,7689 ± 0,0172</a:t>
                      </a:r>
                    </a:p>
                  </a:txBody>
                  <a:tcPr marR="73152" marT="27432" marB="27432" anchor="ctr">
                    <a:solidFill>
                      <a:srgbClr val="EDEDED"/>
                    </a:solidFill>
                  </a:tcPr>
                </a:tc>
                <a:tc>
                  <a:txBody>
                    <a:bodyPr/>
                    <a:lstStyle/>
                    <a:p>
                      <a:pPr algn="r"/>
                      <a:r>
                        <a:rPr sz="1200" b="1" i="0">
                          <a:solidFill>
                            <a:srgbClr val="000000"/>
                          </a:solidFill>
                          <a:latin typeface="Helvetica Neue"/>
                        </a:rPr>
                        <a:t>—</a:t>
                      </a:r>
                    </a:p>
                  </a:txBody>
                  <a:tcPr marR="73152" marT="27432" marB="27432" anchor="ctr">
                    <a:solidFill>
                      <a:srgbClr val="EDEDED"/>
                    </a:solidFill>
                  </a:tcPr>
                </a:tc>
                <a:extLst>
                  <a:ext uri="{0D108BD9-81ED-4DB2-BD59-A6C34878D82A}">
                    <a16:rowId xmlns:a16="http://schemas.microsoft.com/office/drawing/2014/main" val="10001"/>
                  </a:ext>
                </a:extLst>
              </a:tr>
              <a:tr h="384048">
                <a:tc>
                  <a:txBody>
                    <a:bodyPr/>
                    <a:lstStyle/>
                    <a:p>
                      <a:r>
                        <a:rPr sz="1200" b="1" i="0">
                          <a:solidFill>
                            <a:srgbClr val="000000"/>
                          </a:solidFill>
                          <a:latin typeface="Helvetica Neue"/>
                        </a:rPr>
                        <a:t>    aktivasi SiLU → ReLU</a:t>
                      </a:r>
                    </a:p>
                  </a:txBody>
                  <a:tcPr marR="73152" marT="27432" marB="27432" anchor="ctr">
                    <a:solidFill>
                      <a:srgbClr val="FFE9E0"/>
                    </a:solidFill>
                  </a:tcPr>
                </a:tc>
                <a:tc>
                  <a:txBody>
                    <a:bodyPr/>
                    <a:lstStyle/>
                    <a:p>
                      <a:r>
                        <a:rPr sz="1200" b="0" i="0">
                          <a:solidFill>
                            <a:srgbClr val="000000"/>
                          </a:solidFill>
                          <a:latin typeface="Helvetica Neue"/>
                        </a:rPr>
                        <a:t>128.086</a:t>
                      </a:r>
                    </a:p>
                  </a:txBody>
                  <a:tcPr marR="73152" marT="27432" marB="27432" anchor="ctr">
                    <a:solidFill>
                      <a:srgbClr val="FFE9E0"/>
                    </a:solidFill>
                  </a:tcPr>
                </a:tc>
                <a:tc>
                  <a:txBody>
                    <a:bodyPr/>
                    <a:lstStyle/>
                    <a:p>
                      <a:r>
                        <a:rPr sz="1200" b="0" i="0">
                          <a:solidFill>
                            <a:srgbClr val="000000"/>
                          </a:solidFill>
                          <a:latin typeface="Helvetica Neue"/>
                        </a:rPr>
                        <a:t>0,7156 ± 0,0193</a:t>
                      </a:r>
                    </a:p>
                  </a:txBody>
                  <a:tcPr marR="73152" marT="27432" marB="27432" anchor="ctr">
                    <a:solidFill>
                      <a:srgbClr val="FFE9E0"/>
                    </a:solidFill>
                  </a:tcPr>
                </a:tc>
                <a:tc>
                  <a:txBody>
                    <a:bodyPr/>
                    <a:lstStyle/>
                    <a:p>
                      <a:pPr algn="r"/>
                      <a:r>
                        <a:rPr sz="1200" b="0" i="0">
                          <a:solidFill>
                            <a:srgbClr val="000000"/>
                          </a:solidFill>
                          <a:latin typeface="Helvetica Neue"/>
                        </a:rPr>
                        <a:t>−5,33 pp   (p = 0,004)</a:t>
                      </a:r>
                    </a:p>
                  </a:txBody>
                  <a:tcPr marR="73152" marT="27432" marB="27432" anchor="ctr">
                    <a:solidFill>
                      <a:srgbClr val="FFE9E0"/>
                    </a:solidFill>
                  </a:tcPr>
                </a:tc>
                <a:extLst>
                  <a:ext uri="{0D108BD9-81ED-4DB2-BD59-A6C34878D82A}">
                    <a16:rowId xmlns:a16="http://schemas.microsoft.com/office/drawing/2014/main" val="10002"/>
                  </a:ext>
                </a:extLst>
              </a:tr>
              <a:tr h="384048">
                <a:tc>
                  <a:txBody>
                    <a:bodyPr/>
                    <a:lstStyle/>
                    <a:p>
                      <a:r>
                        <a:rPr sz="1200" b="0" i="0">
                          <a:solidFill>
                            <a:srgbClr val="000000"/>
                          </a:solidFill>
                          <a:latin typeface="Helvetica Neue"/>
                        </a:rPr>
                        <a:t>    expand ratio 2,0 → 1,0</a:t>
                      </a:r>
                    </a:p>
                  </a:txBody>
                  <a:tcPr marR="73152" marT="27432" marB="27432" anchor="ctr">
                    <a:solidFill>
                      <a:srgbClr val="FFFFFF"/>
                    </a:solidFill>
                  </a:tcPr>
                </a:tc>
                <a:tc>
                  <a:txBody>
                    <a:bodyPr/>
                    <a:lstStyle/>
                    <a:p>
                      <a:r>
                        <a:rPr sz="1200" b="0" i="0">
                          <a:solidFill>
                            <a:srgbClr val="000000"/>
                          </a:solidFill>
                          <a:latin typeface="Helvetica Neue"/>
                        </a:rPr>
                        <a:t>45.638</a:t>
                      </a:r>
                    </a:p>
                  </a:txBody>
                  <a:tcPr marR="73152" marT="27432" marB="27432" anchor="ctr">
                    <a:solidFill>
                      <a:srgbClr val="FFFFFF"/>
                    </a:solidFill>
                  </a:tcPr>
                </a:tc>
                <a:tc>
                  <a:txBody>
                    <a:bodyPr/>
                    <a:lstStyle/>
                    <a:p>
                      <a:r>
                        <a:rPr sz="1200" b="0" i="0">
                          <a:solidFill>
                            <a:srgbClr val="000000"/>
                          </a:solidFill>
                          <a:latin typeface="Helvetica Neue"/>
                        </a:rPr>
                        <a:t>0,7689 ± 0,0198</a:t>
                      </a:r>
                    </a:p>
                  </a:txBody>
                  <a:tcPr marR="73152" marT="27432" marB="27432" anchor="ctr">
                    <a:solidFill>
                      <a:srgbClr val="FFFFFF"/>
                    </a:solidFill>
                  </a:tcPr>
                </a:tc>
                <a:tc>
                  <a:txBody>
                    <a:bodyPr/>
                    <a:lstStyle/>
                    <a:p>
                      <a:pPr algn="r"/>
                      <a:r>
                        <a:rPr sz="1200" b="0" i="0">
                          <a:solidFill>
                            <a:srgbClr val="000000"/>
                          </a:solidFill>
                          <a:latin typeface="Helvetica Neue"/>
                        </a:rPr>
                        <a:t>+0,00 pp   (p = 1,000)</a:t>
                      </a:r>
                    </a:p>
                  </a:txBody>
                  <a:tcPr marR="73152" marT="27432" marB="27432" anchor="ctr">
                    <a:solidFill>
                      <a:srgbClr val="FFFFFF"/>
                    </a:solidFill>
                  </a:tcPr>
                </a:tc>
                <a:extLst>
                  <a:ext uri="{0D108BD9-81ED-4DB2-BD59-A6C34878D82A}">
                    <a16:rowId xmlns:a16="http://schemas.microsoft.com/office/drawing/2014/main" val="10003"/>
                  </a:ext>
                </a:extLst>
              </a:tr>
              <a:tr h="384048">
                <a:tc>
                  <a:txBody>
                    <a:bodyPr/>
                    <a:lstStyle/>
                    <a:p>
                      <a:r>
                        <a:rPr sz="1200" b="0" i="0">
                          <a:solidFill>
                            <a:srgbClr val="000000"/>
                          </a:solidFill>
                          <a:latin typeface="Helvetica Neue"/>
                        </a:rPr>
                        <a:t>    tanpa hidden layer classifier</a:t>
                      </a:r>
                    </a:p>
                  </a:txBody>
                  <a:tcPr marR="73152" marT="27432" marB="27432" anchor="ctr">
                    <a:solidFill>
                      <a:srgbClr val="FFFFFF"/>
                    </a:solidFill>
                  </a:tcPr>
                </a:tc>
                <a:tc>
                  <a:txBody>
                    <a:bodyPr/>
                    <a:lstStyle/>
                    <a:p>
                      <a:r>
                        <a:rPr sz="1200" b="0" i="0">
                          <a:solidFill>
                            <a:srgbClr val="000000"/>
                          </a:solidFill>
                          <a:latin typeface="Helvetica Neue"/>
                        </a:rPr>
                        <a:t>122.870</a:t>
                      </a:r>
                    </a:p>
                  </a:txBody>
                  <a:tcPr marR="73152" marT="27432" marB="27432" anchor="ctr">
                    <a:solidFill>
                      <a:srgbClr val="FFFFFF"/>
                    </a:solidFill>
                  </a:tcPr>
                </a:tc>
                <a:tc>
                  <a:txBody>
                    <a:bodyPr/>
                    <a:lstStyle/>
                    <a:p>
                      <a:r>
                        <a:rPr sz="1200" b="0" i="0">
                          <a:solidFill>
                            <a:srgbClr val="000000"/>
                          </a:solidFill>
                          <a:latin typeface="Helvetica Neue"/>
                        </a:rPr>
                        <a:t>0,7646 ± 0,0192</a:t>
                      </a:r>
                    </a:p>
                  </a:txBody>
                  <a:tcPr marR="73152" marT="27432" marB="27432" anchor="ctr">
                    <a:solidFill>
                      <a:srgbClr val="FFFFFF"/>
                    </a:solidFill>
                  </a:tcPr>
                </a:tc>
                <a:tc>
                  <a:txBody>
                    <a:bodyPr/>
                    <a:lstStyle/>
                    <a:p>
                      <a:pPr algn="r"/>
                      <a:r>
                        <a:rPr sz="1200" b="0" i="0">
                          <a:solidFill>
                            <a:srgbClr val="000000"/>
                          </a:solidFill>
                          <a:latin typeface="Helvetica Neue"/>
                        </a:rPr>
                        <a:t>−0,42 pp   (p = 0,634)</a:t>
                      </a:r>
                    </a:p>
                  </a:txBody>
                  <a:tcPr marR="73152" marT="27432" marB="27432" anchor="ctr">
                    <a:solidFill>
                      <a:srgbClr val="FFFFFF"/>
                    </a:solidFill>
                  </a:tcPr>
                </a:tc>
                <a:extLst>
                  <a:ext uri="{0D108BD9-81ED-4DB2-BD59-A6C34878D82A}">
                    <a16:rowId xmlns:a16="http://schemas.microsoft.com/office/drawing/2014/main" val="10004"/>
                  </a:ext>
                </a:extLst>
              </a:tr>
              <a:tr h="384048">
                <a:tc>
                  <a:txBody>
                    <a:bodyPr/>
                    <a:lstStyle/>
                    <a:p>
                      <a:r>
                        <a:rPr sz="1200" b="1" i="0">
                          <a:solidFill>
                            <a:srgbClr val="000000"/>
                          </a:solidFill>
                          <a:latin typeface="Helvetica Neue"/>
                        </a:rPr>
                        <a:t>WasteNet-256K — baseline</a:t>
                      </a:r>
                    </a:p>
                  </a:txBody>
                  <a:tcPr marR="73152" marT="27432" marB="27432" anchor="ctr">
                    <a:solidFill>
                      <a:srgbClr val="EDEDED"/>
                    </a:solidFill>
                  </a:tcPr>
                </a:tc>
                <a:tc>
                  <a:txBody>
                    <a:bodyPr/>
                    <a:lstStyle/>
                    <a:p>
                      <a:r>
                        <a:rPr sz="1200" b="1" i="0">
                          <a:solidFill>
                            <a:srgbClr val="000000"/>
                          </a:solidFill>
                          <a:latin typeface="Helvetica Neue"/>
                        </a:rPr>
                        <a:t>256.002</a:t>
                      </a:r>
                    </a:p>
                  </a:txBody>
                  <a:tcPr marR="73152" marT="27432" marB="27432" anchor="ctr">
                    <a:solidFill>
                      <a:srgbClr val="EDEDED"/>
                    </a:solidFill>
                  </a:tcPr>
                </a:tc>
                <a:tc>
                  <a:txBody>
                    <a:bodyPr/>
                    <a:lstStyle/>
                    <a:p>
                      <a:r>
                        <a:rPr sz="1200" b="1" i="0">
                          <a:solidFill>
                            <a:srgbClr val="000000"/>
                          </a:solidFill>
                          <a:latin typeface="Helvetica Neue"/>
                        </a:rPr>
                        <a:t>0,7694 ± 0,0164</a:t>
                      </a:r>
                    </a:p>
                  </a:txBody>
                  <a:tcPr marR="73152" marT="27432" marB="27432" anchor="ctr">
                    <a:solidFill>
                      <a:srgbClr val="EDEDED"/>
                    </a:solidFill>
                  </a:tcPr>
                </a:tc>
                <a:tc>
                  <a:txBody>
                    <a:bodyPr/>
                    <a:lstStyle/>
                    <a:p>
                      <a:pPr algn="r"/>
                      <a:r>
                        <a:rPr sz="1200" b="1" i="0">
                          <a:solidFill>
                            <a:srgbClr val="000000"/>
                          </a:solidFill>
                          <a:latin typeface="Helvetica Neue"/>
                        </a:rPr>
                        <a:t>—</a:t>
                      </a:r>
                    </a:p>
                  </a:txBody>
                  <a:tcPr marR="73152" marT="27432" marB="27432" anchor="ctr">
                    <a:solidFill>
                      <a:srgbClr val="EDEDED"/>
                    </a:solidFill>
                  </a:tcPr>
                </a:tc>
                <a:extLst>
                  <a:ext uri="{0D108BD9-81ED-4DB2-BD59-A6C34878D82A}">
                    <a16:rowId xmlns:a16="http://schemas.microsoft.com/office/drawing/2014/main" val="10005"/>
                  </a:ext>
                </a:extLst>
              </a:tr>
              <a:tr h="384048">
                <a:tc>
                  <a:txBody>
                    <a:bodyPr/>
                    <a:lstStyle/>
                    <a:p>
                      <a:r>
                        <a:rPr sz="1200" b="0" i="0">
                          <a:solidFill>
                            <a:srgbClr val="000000"/>
                          </a:solidFill>
                          <a:latin typeface="Helvetica Neue"/>
                        </a:rPr>
                        <a:t>    aktivasi SiLU → ReLU</a:t>
                      </a:r>
                    </a:p>
                  </a:txBody>
                  <a:tcPr marR="73152" marT="27432" marB="27432" anchor="ctr">
                    <a:solidFill>
                      <a:srgbClr val="FFFFFF"/>
                    </a:solidFill>
                  </a:tcPr>
                </a:tc>
                <a:tc>
                  <a:txBody>
                    <a:bodyPr/>
                    <a:lstStyle/>
                    <a:p>
                      <a:r>
                        <a:rPr sz="1200" b="0" i="0">
                          <a:solidFill>
                            <a:srgbClr val="000000"/>
                          </a:solidFill>
                          <a:latin typeface="Helvetica Neue"/>
                        </a:rPr>
                        <a:t>256.002</a:t>
                      </a:r>
                    </a:p>
                  </a:txBody>
                  <a:tcPr marR="73152" marT="27432" marB="27432" anchor="ctr">
                    <a:solidFill>
                      <a:srgbClr val="FFFFFF"/>
                    </a:solidFill>
                  </a:tcPr>
                </a:tc>
                <a:tc>
                  <a:txBody>
                    <a:bodyPr/>
                    <a:lstStyle/>
                    <a:p>
                      <a:r>
                        <a:rPr sz="1200" b="0" i="0">
                          <a:solidFill>
                            <a:srgbClr val="000000"/>
                          </a:solidFill>
                          <a:latin typeface="Helvetica Neue"/>
                        </a:rPr>
                        <a:t>0,7873 ± 0,0223</a:t>
                      </a:r>
                    </a:p>
                  </a:txBody>
                  <a:tcPr marR="73152" marT="27432" marB="27432" anchor="ctr">
                    <a:solidFill>
                      <a:srgbClr val="FFFFFF"/>
                    </a:solidFill>
                  </a:tcPr>
                </a:tc>
                <a:tc>
                  <a:txBody>
                    <a:bodyPr/>
                    <a:lstStyle/>
                    <a:p>
                      <a:pPr algn="r"/>
                      <a:r>
                        <a:rPr sz="1200" b="0" i="0">
                          <a:solidFill>
                            <a:srgbClr val="000000"/>
                          </a:solidFill>
                          <a:latin typeface="Helvetica Neue"/>
                        </a:rPr>
                        <a:t>+1,79 pp   (p = 0,268)</a:t>
                      </a:r>
                    </a:p>
                  </a:txBody>
                  <a:tcPr marR="73152" marT="27432" marB="27432" anchor="ctr">
                    <a:solidFill>
                      <a:srgbClr val="FFFFFF"/>
                    </a:solidFill>
                  </a:tcPr>
                </a:tc>
                <a:extLst>
                  <a:ext uri="{0D108BD9-81ED-4DB2-BD59-A6C34878D82A}">
                    <a16:rowId xmlns:a16="http://schemas.microsoft.com/office/drawing/2014/main" val="10006"/>
                  </a:ext>
                </a:extLst>
              </a:tr>
              <a:tr h="384048">
                <a:tc>
                  <a:txBody>
                    <a:bodyPr/>
                    <a:lstStyle/>
                    <a:p>
                      <a:r>
                        <a:rPr sz="1200" b="0" i="0">
                          <a:solidFill>
                            <a:srgbClr val="000000"/>
                          </a:solidFill>
                          <a:latin typeface="Helvetica Neue"/>
                        </a:rPr>
                        <a:t>    tanpa koneksi residual</a:t>
                      </a:r>
                    </a:p>
                  </a:txBody>
                  <a:tcPr marR="73152" marT="27432" marB="27432" anchor="ctr">
                    <a:solidFill>
                      <a:srgbClr val="FFFFFF"/>
                    </a:solidFill>
                  </a:tcPr>
                </a:tc>
                <a:tc>
                  <a:txBody>
                    <a:bodyPr/>
                    <a:lstStyle/>
                    <a:p>
                      <a:r>
                        <a:rPr sz="1200" b="0" i="0">
                          <a:solidFill>
                            <a:srgbClr val="000000"/>
                          </a:solidFill>
                          <a:latin typeface="Helvetica Neue"/>
                        </a:rPr>
                        <a:t>256.002</a:t>
                      </a:r>
                    </a:p>
                  </a:txBody>
                  <a:tcPr marR="73152" marT="27432" marB="27432" anchor="ctr">
                    <a:solidFill>
                      <a:srgbClr val="FFFFFF"/>
                    </a:solidFill>
                  </a:tcPr>
                </a:tc>
                <a:tc>
                  <a:txBody>
                    <a:bodyPr/>
                    <a:lstStyle/>
                    <a:p>
                      <a:r>
                        <a:rPr sz="1200" b="0" i="0">
                          <a:solidFill>
                            <a:srgbClr val="000000"/>
                          </a:solidFill>
                          <a:latin typeface="Helvetica Neue"/>
                        </a:rPr>
                        <a:t>0,7662 ± 0,0130</a:t>
                      </a:r>
                    </a:p>
                  </a:txBody>
                  <a:tcPr marR="73152" marT="27432" marB="27432" anchor="ctr">
                    <a:solidFill>
                      <a:srgbClr val="FFFFFF"/>
                    </a:solidFill>
                  </a:tcPr>
                </a:tc>
                <a:tc>
                  <a:txBody>
                    <a:bodyPr/>
                    <a:lstStyle/>
                    <a:p>
                      <a:pPr algn="r"/>
                      <a:r>
                        <a:rPr sz="1200" b="0" i="0">
                          <a:solidFill>
                            <a:srgbClr val="000000"/>
                          </a:solidFill>
                          <a:latin typeface="Helvetica Neue"/>
                        </a:rPr>
                        <a:t>−0,32 pp   (p = 0,702)</a:t>
                      </a:r>
                    </a:p>
                  </a:txBody>
                  <a:tcPr marR="73152" marT="27432" marB="27432" anchor="ctr">
                    <a:solidFill>
                      <a:srgbClr val="FFFFFF"/>
                    </a:solidFill>
                  </a:tcPr>
                </a:tc>
                <a:extLst>
                  <a:ext uri="{0D108BD9-81ED-4DB2-BD59-A6C34878D82A}">
                    <a16:rowId xmlns:a16="http://schemas.microsoft.com/office/drawing/2014/main" val="10007"/>
                  </a:ext>
                </a:extLst>
              </a:tr>
              <a:tr h="384048">
                <a:tc>
                  <a:txBody>
                    <a:bodyPr/>
                    <a:lstStyle/>
                    <a:p>
                      <a:r>
                        <a:rPr sz="1200" b="0" i="0">
                          <a:solidFill>
                            <a:srgbClr val="000000"/>
                          </a:solidFill>
                          <a:latin typeface="Helvetica Neue"/>
                        </a:rPr>
                        <a:t>    expand ratio 2,5 → 1,0</a:t>
                      </a:r>
                    </a:p>
                  </a:txBody>
                  <a:tcPr marR="73152" marT="27432" marB="27432" anchor="ctr">
                    <a:solidFill>
                      <a:srgbClr val="FFFFFF"/>
                    </a:solidFill>
                  </a:tcPr>
                </a:tc>
                <a:tc>
                  <a:txBody>
                    <a:bodyPr/>
                    <a:lstStyle/>
                    <a:p>
                      <a:r>
                        <a:rPr sz="1200" b="0" i="0">
                          <a:solidFill>
                            <a:srgbClr val="000000"/>
                          </a:solidFill>
                          <a:latin typeface="Helvetica Neue"/>
                        </a:rPr>
                        <a:t>64.206</a:t>
                      </a:r>
                    </a:p>
                  </a:txBody>
                  <a:tcPr marR="73152" marT="27432" marB="27432" anchor="ctr">
                    <a:solidFill>
                      <a:srgbClr val="FFFFFF"/>
                    </a:solidFill>
                  </a:tcPr>
                </a:tc>
                <a:tc>
                  <a:txBody>
                    <a:bodyPr/>
                    <a:lstStyle/>
                    <a:p>
                      <a:r>
                        <a:rPr sz="1200" b="0" i="0">
                          <a:solidFill>
                            <a:srgbClr val="000000"/>
                          </a:solidFill>
                          <a:latin typeface="Helvetica Neue"/>
                        </a:rPr>
                        <a:t>0,7689 ± 0,0091</a:t>
                      </a:r>
                    </a:p>
                  </a:txBody>
                  <a:tcPr marR="73152" marT="27432" marB="27432" anchor="ctr">
                    <a:solidFill>
                      <a:srgbClr val="FFFFFF"/>
                    </a:solidFill>
                  </a:tcPr>
                </a:tc>
                <a:tc>
                  <a:txBody>
                    <a:bodyPr/>
                    <a:lstStyle/>
                    <a:p>
                      <a:pPr algn="r"/>
                      <a:r>
                        <a:rPr sz="1200" b="0" i="0">
                          <a:solidFill>
                            <a:srgbClr val="000000"/>
                          </a:solidFill>
                          <a:latin typeface="Helvetica Neue"/>
                        </a:rPr>
                        <a:t>−0,05 pp   (p = 0,918)</a:t>
                      </a:r>
                    </a:p>
                  </a:txBody>
                  <a:tcPr marR="73152"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402336" y="5596128"/>
            <a:ext cx="11384280" cy="777240"/>
          </a:xfrm>
          <a:prstGeom prst="rect">
            <a:avLst/>
          </a:prstGeom>
          <a:noFill/>
        </p:spPr>
        <p:txBody>
          <a:bodyPr wrap="square">
            <a:spAutoFit/>
          </a:bodyPr>
          <a:lstStyle/>
          <a:p>
            <a:r>
              <a:rPr sz="1500" b="1" i="0">
                <a:solidFill>
                  <a:srgbClr val="000000"/>
                </a:solidFill>
                <a:latin typeface="Helvetica Neue"/>
              </a:rPr>
              <a:t>Aktivasi = satu-satunya komponen yang berpengaruh nyata, dan hanya saat kapasitas langka.</a:t>
            </a:r>
          </a:p>
          <a:p>
            <a:r>
              <a:rPr sz="1200" b="0" i="0">
                <a:solidFill>
                  <a:srgbClr val="555555"/>
                </a:solidFill>
                <a:latin typeface="Helvetica Neue"/>
              </a:rPr>
              <a:t>Di 256K tidak ada komponen tunggal yang signifikan → kenaikan TA-KD tidak bisa dijelaskan oleh kekhususan arsitektur, melainkan berasal dari cara pelatihan.</a:t>
            </a:r>
          </a:p>
        </p:txBody>
      </p:sp>
      <p:sp>
        <p:nvSpPr>
          <p:cNvPr id="6"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Simpulan</a:t>
            </a:r>
          </a:p>
        </p:txBody>
      </p:sp>
      <p:sp>
        <p:nvSpPr>
          <p:cNvPr id="3" name="marker"/>
          <p:cNvSpPr/>
          <p:nvPr/>
        </p:nvSpPr>
        <p:spPr>
          <a:xfrm>
            <a:off x="402336" y="1353312"/>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824" y="1298448"/>
            <a:ext cx="685800" cy="402336"/>
          </a:xfrm>
          <a:prstGeom prst="rect">
            <a:avLst/>
          </a:prstGeom>
          <a:noFill/>
        </p:spPr>
        <p:txBody>
          <a:bodyPr wrap="square">
            <a:spAutoFit/>
          </a:bodyPr>
          <a:lstStyle/>
          <a:p>
            <a:r>
              <a:rPr sz="1950" b="1" i="0">
                <a:solidFill>
                  <a:srgbClr val="000000"/>
                </a:solidFill>
                <a:latin typeface="Helvetica Neue"/>
              </a:rPr>
              <a:t>01</a:t>
            </a:r>
          </a:p>
        </p:txBody>
      </p:sp>
      <p:sp>
        <p:nvSpPr>
          <p:cNvPr id="5" name="TextBox 4"/>
          <p:cNvSpPr txBox="1"/>
          <p:nvPr/>
        </p:nvSpPr>
        <p:spPr>
          <a:xfrm>
            <a:off x="1691640" y="1261872"/>
            <a:ext cx="9966960" cy="329184"/>
          </a:xfrm>
          <a:prstGeom prst="rect">
            <a:avLst/>
          </a:prstGeom>
          <a:noFill/>
        </p:spPr>
        <p:txBody>
          <a:bodyPr wrap="square">
            <a:spAutoFit/>
          </a:bodyPr>
          <a:lstStyle/>
          <a:p>
            <a:r>
              <a:rPr sz="1700" b="1" i="0">
                <a:solidFill>
                  <a:srgbClr val="000000"/>
                </a:solidFill>
                <a:latin typeface="Helvetica Neue"/>
              </a:rPr>
              <a:t>WasteNet ringan berhasil dibangun dan dilatih dengan knowledge distillation</a:t>
            </a:r>
          </a:p>
        </p:txBody>
      </p:sp>
      <p:sp>
        <p:nvSpPr>
          <p:cNvPr id="6" name="TextBox 5"/>
          <p:cNvSpPr txBox="1"/>
          <p:nvPr/>
        </p:nvSpPr>
        <p:spPr>
          <a:xfrm>
            <a:off x="1691640" y="1627631"/>
            <a:ext cx="9966960" cy="548640"/>
          </a:xfrm>
          <a:prstGeom prst="rect">
            <a:avLst/>
          </a:prstGeom>
          <a:noFill/>
        </p:spPr>
        <p:txBody>
          <a:bodyPr wrap="square">
            <a:spAutoFit/>
          </a:bodyPr>
          <a:lstStyle/>
          <a:p>
            <a:r>
              <a:rPr sz="1350" b="0" i="0">
                <a:solidFill>
                  <a:srgbClr val="555555"/>
                </a:solidFill>
                <a:latin typeface="Helvetica Neue"/>
              </a:rPr>
              <a:t>Dua varian 128K (≈51 MFLOPs) dan 256K (≈84 MFLOPs); student terbaik mencapai 0,7873 (K6) dan 0,8235 (K5).</a:t>
            </a:r>
          </a:p>
        </p:txBody>
      </p:sp>
      <p:sp>
        <p:nvSpPr>
          <p:cNvPr id="7" name="marker"/>
          <p:cNvSpPr/>
          <p:nvPr/>
        </p:nvSpPr>
        <p:spPr>
          <a:xfrm>
            <a:off x="402336" y="2542032"/>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2487168"/>
            <a:ext cx="685800" cy="402336"/>
          </a:xfrm>
          <a:prstGeom prst="rect">
            <a:avLst/>
          </a:prstGeom>
          <a:noFill/>
        </p:spPr>
        <p:txBody>
          <a:bodyPr wrap="square">
            <a:spAutoFit/>
          </a:bodyPr>
          <a:lstStyle/>
          <a:p>
            <a:r>
              <a:rPr sz="1950" b="1" i="0">
                <a:solidFill>
                  <a:srgbClr val="000000"/>
                </a:solidFill>
                <a:latin typeface="Helvetica Neue"/>
              </a:rPr>
              <a:t>02</a:t>
            </a:r>
          </a:p>
        </p:txBody>
      </p:sp>
      <p:sp>
        <p:nvSpPr>
          <p:cNvPr id="9" name="TextBox 8"/>
          <p:cNvSpPr txBox="1"/>
          <p:nvPr/>
        </p:nvSpPr>
        <p:spPr>
          <a:xfrm>
            <a:off x="1691640" y="2450591"/>
            <a:ext cx="9966960" cy="329184"/>
          </a:xfrm>
          <a:prstGeom prst="rect">
            <a:avLst/>
          </a:prstGeom>
          <a:noFill/>
        </p:spPr>
        <p:txBody>
          <a:bodyPr wrap="square">
            <a:spAutoFit/>
          </a:bodyPr>
          <a:lstStyle/>
          <a:p>
            <a:r>
              <a:rPr sz="1700" b="1" i="0">
                <a:solidFill>
                  <a:srgbClr val="000000"/>
                </a:solidFill>
                <a:latin typeface="Helvetica Neue"/>
              </a:rPr>
              <a:t>Kapasitas guru menentukan keberhasilan distilasi</a:t>
            </a:r>
          </a:p>
        </p:txBody>
      </p:sp>
      <p:sp>
        <p:nvSpPr>
          <p:cNvPr id="10" name="TextBox 9"/>
          <p:cNvSpPr txBox="1"/>
          <p:nvPr/>
        </p:nvSpPr>
        <p:spPr>
          <a:xfrm>
            <a:off x="1691640" y="2816351"/>
            <a:ext cx="9966960" cy="548640"/>
          </a:xfrm>
          <a:prstGeom prst="rect">
            <a:avLst/>
          </a:prstGeom>
          <a:noFill/>
        </p:spPr>
        <p:txBody>
          <a:bodyPr wrap="square">
            <a:spAutoFit/>
          </a:bodyPr>
          <a:lstStyle/>
          <a:p>
            <a:r>
              <a:rPr sz="1350" b="0" i="0">
                <a:solidFill>
                  <a:srgbClr val="555555"/>
                </a:solidFill>
                <a:latin typeface="Helvetica Neue"/>
              </a:rPr>
              <a:t>Guru besar dan guru berkapasitas sama tidak menolong; hanya asisten menengah yang menaikkan student — dan hanya ketika kapasitas student memadai (256K).</a:t>
            </a:r>
          </a:p>
        </p:txBody>
      </p:sp>
      <p:sp>
        <p:nvSpPr>
          <p:cNvPr id="11" name="marker"/>
          <p:cNvSpPr/>
          <p:nvPr/>
        </p:nvSpPr>
        <p:spPr>
          <a:xfrm>
            <a:off x="402336" y="3730751"/>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3675887"/>
            <a:ext cx="685800" cy="402336"/>
          </a:xfrm>
          <a:prstGeom prst="rect">
            <a:avLst/>
          </a:prstGeom>
          <a:noFill/>
        </p:spPr>
        <p:txBody>
          <a:bodyPr wrap="square">
            <a:spAutoFit/>
          </a:bodyPr>
          <a:lstStyle/>
          <a:p>
            <a:r>
              <a:rPr sz="1950" b="1" i="0">
                <a:solidFill>
                  <a:srgbClr val="000000"/>
                </a:solidFill>
                <a:latin typeface="Helvetica Neue"/>
              </a:rPr>
              <a:t>03</a:t>
            </a:r>
          </a:p>
        </p:txBody>
      </p:sp>
      <p:sp>
        <p:nvSpPr>
          <p:cNvPr id="13" name="TextBox 12"/>
          <p:cNvSpPr txBox="1"/>
          <p:nvPr/>
        </p:nvSpPr>
        <p:spPr>
          <a:xfrm>
            <a:off x="1691640" y="3639311"/>
            <a:ext cx="9966960" cy="329184"/>
          </a:xfrm>
          <a:prstGeom prst="rect">
            <a:avLst/>
          </a:prstGeom>
          <a:noFill/>
        </p:spPr>
        <p:txBody>
          <a:bodyPr wrap="square">
            <a:spAutoFit/>
          </a:bodyPr>
          <a:lstStyle/>
          <a:p>
            <a:r>
              <a:rPr sz="1700" b="1" i="0">
                <a:solidFill>
                  <a:srgbClr val="000000"/>
                </a:solidFill>
                <a:latin typeface="Helvetica Neue"/>
              </a:rPr>
              <a:t>Peningkatan tersebut signifikan secara statistik</a:t>
            </a:r>
          </a:p>
        </p:txBody>
      </p:sp>
      <p:sp>
        <p:nvSpPr>
          <p:cNvPr id="14" name="TextBox 13"/>
          <p:cNvSpPr txBox="1"/>
          <p:nvPr/>
        </p:nvSpPr>
        <p:spPr>
          <a:xfrm>
            <a:off x="1691640" y="4005072"/>
            <a:ext cx="9966960" cy="548640"/>
          </a:xfrm>
          <a:prstGeom prst="rect">
            <a:avLst/>
          </a:prstGeom>
          <a:noFill/>
        </p:spPr>
        <p:txBody>
          <a:bodyPr wrap="square">
            <a:spAutoFit/>
          </a:bodyPr>
          <a:lstStyle/>
          <a:p>
            <a:r>
              <a:rPr sz="1350" b="0" i="0">
                <a:solidFill>
                  <a:srgbClr val="555555"/>
                </a:solidFill>
                <a:latin typeface="Helvetica Neue"/>
              </a:rPr>
              <a:t>+1,00 pp (K6, p = 0,024) dan +1,40 pp (K5, p = 0,045), unggul pada 5/5 seed, dikonfirmasi McNemar pada K5 (p = 0,014).</a:t>
            </a:r>
          </a:p>
        </p:txBody>
      </p:sp>
      <p:sp>
        <p:nvSpPr>
          <p:cNvPr id="15" name="marker"/>
          <p:cNvSpPr/>
          <p:nvPr/>
        </p:nvSpPr>
        <p:spPr>
          <a:xfrm>
            <a:off x="402336" y="4919471"/>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4864607"/>
            <a:ext cx="685800" cy="402336"/>
          </a:xfrm>
          <a:prstGeom prst="rect">
            <a:avLst/>
          </a:prstGeom>
          <a:noFill/>
        </p:spPr>
        <p:txBody>
          <a:bodyPr wrap="square">
            <a:spAutoFit/>
          </a:bodyPr>
          <a:lstStyle/>
          <a:p>
            <a:r>
              <a:rPr sz="1950" b="1" i="0">
                <a:solidFill>
                  <a:srgbClr val="000000"/>
                </a:solidFill>
                <a:latin typeface="Helvetica Neue"/>
              </a:rPr>
              <a:t>04</a:t>
            </a:r>
          </a:p>
        </p:txBody>
      </p:sp>
      <p:sp>
        <p:nvSpPr>
          <p:cNvPr id="17" name="TextBox 16"/>
          <p:cNvSpPr txBox="1"/>
          <p:nvPr/>
        </p:nvSpPr>
        <p:spPr>
          <a:xfrm>
            <a:off x="1691640" y="4828031"/>
            <a:ext cx="9966960" cy="329184"/>
          </a:xfrm>
          <a:prstGeom prst="rect">
            <a:avLst/>
          </a:prstGeom>
          <a:noFill/>
        </p:spPr>
        <p:txBody>
          <a:bodyPr wrap="square">
            <a:spAutoFit/>
          </a:bodyPr>
          <a:lstStyle/>
          <a:p>
            <a:r>
              <a:rPr sz="1700" b="1" i="0">
                <a:solidFill>
                  <a:srgbClr val="000000"/>
                </a:solidFill>
                <a:latin typeface="Helvetica Neue"/>
              </a:rPr>
              <a:t>Ablasi: aktivasi kritis hanya saat kapasitas langka</a:t>
            </a:r>
          </a:p>
        </p:txBody>
      </p:sp>
      <p:sp>
        <p:nvSpPr>
          <p:cNvPr id="18" name="TextBox 17"/>
          <p:cNvSpPr txBox="1"/>
          <p:nvPr/>
        </p:nvSpPr>
        <p:spPr>
          <a:xfrm>
            <a:off x="1691640" y="5193792"/>
            <a:ext cx="9966960" cy="548640"/>
          </a:xfrm>
          <a:prstGeom prst="rect">
            <a:avLst/>
          </a:prstGeom>
          <a:noFill/>
        </p:spPr>
        <p:txBody>
          <a:bodyPr wrap="square">
            <a:spAutoFit/>
          </a:bodyPr>
          <a:lstStyle/>
          <a:p>
            <a:r>
              <a:rPr sz="1350" b="0" i="0">
                <a:solidFill>
                  <a:srgbClr val="555555"/>
                </a:solidFill>
                <a:latin typeface="Helvetica Neue"/>
              </a:rPr>
              <a:t>SiLU → ReLU menurunkan 128K sebesar 5,33 pp (p = 0,004), sedangkan 256K tahan terhadap seluruh ablasi komponen.</a:t>
            </a:r>
          </a:p>
        </p:txBody>
      </p:sp>
      <p:sp>
        <p:nvSpPr>
          <p:cNvPr id="19"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11384280" cy="667512"/>
          </a:xfrm>
          <a:prstGeom prst="rect">
            <a:avLst/>
          </a:prstGeom>
          <a:noFill/>
        </p:spPr>
        <p:txBody>
          <a:bodyPr wrap="square">
            <a:spAutoFit/>
          </a:bodyPr>
          <a:lstStyle/>
          <a:p>
            <a:r>
              <a:rPr sz="2925" b="0" i="0">
                <a:solidFill>
                  <a:srgbClr val="000000"/>
                </a:solidFill>
                <a:latin typeface="Helvetica Neue"/>
              </a:rPr>
              <a:t>Keterbatasan dan saran</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Ditulis terbuka di BAB 4 dan BAB 5; keduanya membatasi tafsir hasil 128K.</a:t>
            </a:r>
          </a:p>
        </p:txBody>
      </p:sp>
      <p:sp>
        <p:nvSpPr>
          <p:cNvPr id="4" name="Rectangle 3"/>
          <p:cNvSpPr/>
          <p:nvPr/>
        </p:nvSpPr>
        <p:spPr>
          <a:xfrm>
            <a:off x="402336" y="1783080"/>
            <a:ext cx="3575304" cy="310896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2084831"/>
            <a:ext cx="2999232" cy="822960"/>
          </a:xfrm>
          <a:prstGeom prst="rect">
            <a:avLst/>
          </a:prstGeom>
          <a:noFill/>
        </p:spPr>
        <p:txBody>
          <a:bodyPr wrap="square">
            <a:spAutoFit/>
          </a:bodyPr>
          <a:lstStyle/>
          <a:p>
            <a:r>
              <a:rPr sz="1550" b="1" i="0">
                <a:solidFill>
                  <a:srgbClr val="000000"/>
                </a:solidFill>
                <a:latin typeface="Helvetica Neue"/>
              </a:rPr>
              <a:t>Asisten belum benar-benar “menengah” bagi student 128K</a:t>
            </a:r>
          </a:p>
        </p:txBody>
      </p:sp>
      <p:sp>
        <p:nvSpPr>
          <p:cNvPr id="6" name="TextBox 5"/>
          <p:cNvSpPr txBox="1"/>
          <p:nvPr/>
        </p:nvSpPr>
        <p:spPr>
          <a:xfrm>
            <a:off x="667512" y="2944368"/>
            <a:ext cx="2999232" cy="1737360"/>
          </a:xfrm>
          <a:prstGeom prst="rect">
            <a:avLst/>
          </a:prstGeom>
          <a:noFill/>
        </p:spPr>
        <p:txBody>
          <a:bodyPr wrap="square">
            <a:spAutoFit/>
          </a:bodyPr>
          <a:lstStyle/>
          <a:p>
            <a:r>
              <a:rPr sz="1250" b="0" i="0">
                <a:solidFill>
                  <a:srgbClr val="555555"/>
                </a:solidFill>
                <a:latin typeface="Helvetica Neue"/>
              </a:rPr>
              <a:t>Focus-RCNet (520,6 rb) berjarak 2,03× terhadap WasteNet-256K — lengan yang menang — tetapi 4,06× terhadap WasteNet-128K. Hasil 128K dibaca “belum ditemukan asistennya”, bukan “128K tidak bisa didistilasi”.</a:t>
            </a:r>
          </a:p>
        </p:txBody>
      </p:sp>
      <p:sp>
        <p:nvSpPr>
          <p:cNvPr id="7" name="Rectangle 6"/>
          <p:cNvSpPr/>
          <p:nvPr/>
        </p:nvSpPr>
        <p:spPr>
          <a:xfrm>
            <a:off x="4315968" y="1783080"/>
            <a:ext cx="3575304" cy="310896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81144" y="2084831"/>
            <a:ext cx="2999232" cy="822960"/>
          </a:xfrm>
          <a:prstGeom prst="rect">
            <a:avLst/>
          </a:prstGeom>
          <a:noFill/>
        </p:spPr>
        <p:txBody>
          <a:bodyPr wrap="square">
            <a:spAutoFit/>
          </a:bodyPr>
          <a:lstStyle/>
          <a:p>
            <a:r>
              <a:rPr sz="1550" b="1" i="0">
                <a:solidFill>
                  <a:srgbClr val="000000"/>
                </a:solidFill>
                <a:latin typeface="Helvetica Neue"/>
              </a:rPr>
              <a:t>Hyperparameter lengan 128K belum sepadan</a:t>
            </a:r>
          </a:p>
        </p:txBody>
      </p:sp>
      <p:sp>
        <p:nvSpPr>
          <p:cNvPr id="9" name="TextBox 8"/>
          <p:cNvSpPr txBox="1"/>
          <p:nvPr/>
        </p:nvSpPr>
        <p:spPr>
          <a:xfrm>
            <a:off x="4581144" y="2944368"/>
            <a:ext cx="2999232" cy="1737360"/>
          </a:xfrm>
          <a:prstGeom prst="rect">
            <a:avLst/>
          </a:prstGeom>
          <a:noFill/>
        </p:spPr>
        <p:txBody>
          <a:bodyPr wrap="square">
            <a:spAutoFit/>
          </a:bodyPr>
          <a:lstStyle/>
          <a:p>
            <a:r>
              <a:rPr sz="1250" b="0" i="0">
                <a:solidFill>
                  <a:srgbClr val="555555"/>
                </a:solidFill>
                <a:latin typeface="Helvetica Neue"/>
              </a:rPr>
              <a:t>Learning rate dan resolusi asisten pada lengan 128K mengikuti uji pendahuluan skema K5, sehingga simpulan untuk 128K belum dapat dipisahkan sepenuhnya dari pengaruh hyperparameter.</a:t>
            </a:r>
          </a:p>
        </p:txBody>
      </p:sp>
      <p:sp>
        <p:nvSpPr>
          <p:cNvPr id="10" name="Rectangle 9"/>
          <p:cNvSpPr/>
          <p:nvPr/>
        </p:nvSpPr>
        <p:spPr>
          <a:xfrm>
            <a:off x="8229600" y="1783080"/>
            <a:ext cx="3575304" cy="310896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94776" y="2084831"/>
            <a:ext cx="2999232" cy="822960"/>
          </a:xfrm>
          <a:prstGeom prst="rect">
            <a:avLst/>
          </a:prstGeom>
          <a:noFill/>
        </p:spPr>
        <p:txBody>
          <a:bodyPr wrap="square">
            <a:spAutoFit/>
          </a:bodyPr>
          <a:lstStyle/>
          <a:p>
            <a:r>
              <a:rPr sz="1550" b="1" i="0">
                <a:solidFill>
                  <a:srgbClr val="000000"/>
                </a:solidFill>
                <a:latin typeface="Helvetica Neue"/>
              </a:rPr>
              <a:t>Saran lanjutan</a:t>
            </a:r>
          </a:p>
        </p:txBody>
      </p:sp>
      <p:sp>
        <p:nvSpPr>
          <p:cNvPr id="12" name="TextBox 11"/>
          <p:cNvSpPr txBox="1"/>
          <p:nvPr/>
        </p:nvSpPr>
        <p:spPr>
          <a:xfrm>
            <a:off x="8494776" y="2944368"/>
            <a:ext cx="2999232" cy="1737360"/>
          </a:xfrm>
          <a:prstGeom prst="rect">
            <a:avLst/>
          </a:prstGeom>
          <a:noFill/>
        </p:spPr>
        <p:txBody>
          <a:bodyPr wrap="square">
            <a:spAutoFit/>
          </a:bodyPr>
          <a:lstStyle/>
          <a:p>
            <a:r>
              <a:rPr sz="1250" b="0" i="0">
                <a:solidFill>
                  <a:srgbClr val="555555"/>
                </a:solidFill>
                <a:latin typeface="Helvetica Neue"/>
              </a:rPr>
              <a:t>Uji asisten berparameter lebih kecil daripada Focus-RCNet untuk student 128K; perbesar jumlah data dan seed; uji langsung pada perangkat tepi untuk memvalidasi klaim efisiensi.</a:t>
            </a:r>
          </a:p>
        </p:txBody>
      </p:sp>
      <p:sp>
        <p:nvSpPr>
          <p:cNvPr id="13" name="slide-number">
            <a:extLst>
              <a:ext uri="{FF2B5EF4-FFF2-40B4-BE49-F238E27FC236}">
                <a16:creationId xmlns:a16="http://schemas.microsoft.com/office/drawing/2014/main" id="{E8328B70-DA20-4A13-91EC-D72B54D86A43}"/>
              </a:ext>
            </a:extLst>
          </p:cNvPr>
          <p:cNvSpPr>
            <a:spLocks noGrp="1"/>
          </p:cNvSpPr>
          <p:nvPr/>
        </p:nvSpPr>
        <p:spPr>
          <a:xfrm>
            <a:off x="11277600" y="6276975"/>
            <a:ext cx="514350" cy="238125"/>
          </a:xfrm>
          <a:prstGeom prst="rect">
            <a:avLst/>
          </a:prstGeom>
          <a:noFill/>
          <a:ln w="0">
            <a:noFill/>
            <a:prstDash val="solid"/>
          </a:ln>
        </p:spPr>
        <p:txBody>
          <a:bodyPr wrap="square" anchor="ctr">
            <a:normAutofit fontScale="85556" lnSpcReduction="10000"/>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kicker"/>
          <p:cNvSpPr>
            <a:spLocks noGrp="1"/>
          </p:cNvSpPr>
          <p:nvPr/>
        </p:nvSpPr>
        <p:spPr>
          <a:xfrm>
            <a:off x="400050" y="361950"/>
            <a:ext cx="4000500" cy="20955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SIDANG SKRIPSI</a:t>
            </a:r>
          </a:p>
        </p:txBody>
      </p:sp>
      <p:sp>
        <p:nvSpPr>
          <p:cNvPr id="2" name="closing-title"/>
          <p:cNvSpPr>
            <a:spLocks noGrp="1"/>
          </p:cNvSpPr>
          <p:nvPr/>
        </p:nvSpPr>
        <p:spPr>
          <a:xfrm>
            <a:off x="400050" y="1400175"/>
            <a:ext cx="11391900" cy="1200150"/>
          </a:xfrm>
          <a:prstGeom prst="rect">
            <a:avLst/>
          </a:prstGeom>
          <a:noFill/>
          <a:ln w="0">
            <a:noFill/>
            <a:prstDash val="solid"/>
          </a:ln>
        </p:spPr>
        <p:txBody>
          <a:bodyPr wrap="square" anchor="t">
            <a:normAutofit/>
          </a:bodyPr>
          <a:lstStyle/>
          <a:p>
            <a:pPr>
              <a:defRPr sz="4500" b="1">
                <a:solidFill>
                  <a:srgbClr val="000000"/>
                </a:solidFill>
                <a:latin typeface="Helvetica Neue"/>
                <a:ea typeface="Helvetica Neue"/>
                <a:cs typeface="Helvetica Neue"/>
              </a:defRPr>
            </a:pPr>
            <a:r>
              <a:rPr sz="4500" b="1">
                <a:solidFill>
                  <a:srgbClr val="000000"/>
                </a:solidFill>
                <a:latin typeface="Helvetica Neue"/>
                <a:ea typeface="Helvetica Neue"/>
                <a:cs typeface="Helvetica Neue"/>
              </a:rPr>
              <a:t>Terima kasih</a:t>
            </a:r>
          </a:p>
        </p:txBody>
      </p:sp>
      <p:sp>
        <p:nvSpPr>
          <p:cNvPr id="12" name="closing-sub"/>
          <p:cNvSpPr>
            <a:spLocks noGrp="1"/>
          </p:cNvSpPr>
          <p:nvPr/>
        </p:nvSpPr>
        <p:spPr>
          <a:xfrm>
            <a:off x="400050" y="2686050"/>
            <a:ext cx="10668000" cy="876300"/>
          </a:xfrm>
          <a:prstGeom prst="rect">
            <a:avLst/>
          </a:prstGeom>
          <a:noFill/>
          <a:ln w="0">
            <a:noFill/>
            <a:prstDash val="solid"/>
          </a:ln>
        </p:spPr>
        <p:txBody>
          <a:bodyPr wrap="square" anchor="t">
            <a:normAutofit/>
          </a:bodyPr>
          <a:lstStyle/>
          <a:p>
            <a:pPr>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Terbuka untuk pertanyaan, saran, dan masukan dari dewan penguji.</a:t>
            </a:r>
          </a:p>
        </p:txBody>
      </p:sp>
      <p:sp>
        <p:nvSpPr>
          <p:cNvPr id="3" name="cover-band"/>
          <p:cNvSpPr>
            <a:spLocks noGrp="1"/>
          </p:cNvSpPr>
          <p:nvPr/>
        </p:nvSpPr>
        <p:spPr>
          <a:xfrm>
            <a:off x="0" y="4171950"/>
            <a:ext cx="12192000" cy="2686050"/>
          </a:xfrm>
          <a:prstGeom prst="rect">
            <a:avLst/>
          </a:prstGeom>
          <a:solidFill>
            <a:srgbClr val="EDEDED"/>
          </a:solidFill>
          <a:ln w="0">
            <a:noFill/>
            <a:prstDash val="solid"/>
          </a:ln>
        </p:spPr>
      </p:sp>
      <p:sp>
        <p:nvSpPr>
          <p:cNvPr id="4" name="marker"/>
          <p:cNvSpPr>
            <a:spLocks noGrp="1"/>
          </p:cNvSpPr>
          <p:nvPr/>
        </p:nvSpPr>
        <p:spPr>
          <a:xfrm>
            <a:off x="400050" y="4657725"/>
            <a:ext cx="257175" cy="257175"/>
          </a:xfrm>
          <a:prstGeom prst="rect">
            <a:avLst/>
          </a:prstGeom>
          <a:solidFill>
            <a:srgbClr val="FF6B35"/>
          </a:solidFill>
          <a:ln w="0">
            <a:noFill/>
            <a:prstDash val="solid"/>
          </a:ln>
        </p:spPr>
      </p:sp>
      <p:sp>
        <p:nvSpPr>
          <p:cNvPr id="5" name="marker"/>
          <p:cNvSpPr>
            <a:spLocks noGrp="1"/>
          </p:cNvSpPr>
          <p:nvPr/>
        </p:nvSpPr>
        <p:spPr>
          <a:xfrm>
            <a:off x="4324350" y="4657725"/>
            <a:ext cx="257175" cy="257175"/>
          </a:xfrm>
          <a:prstGeom prst="rect">
            <a:avLst/>
          </a:prstGeom>
          <a:solidFill>
            <a:srgbClr val="FF6B35"/>
          </a:solidFill>
          <a:ln w="0">
            <a:noFill/>
            <a:prstDash val="solid"/>
          </a:ln>
        </p:spPr>
      </p:sp>
      <p:sp>
        <p:nvSpPr>
          <p:cNvPr id="6" name="author-label"/>
          <p:cNvSpPr>
            <a:spLocks noGrp="1"/>
          </p:cNvSpPr>
          <p:nvPr/>
        </p:nvSpPr>
        <p:spPr>
          <a:xfrm>
            <a:off x="400050" y="5095875"/>
            <a:ext cx="3238500" cy="26670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Mahasiswa</a:t>
            </a:r>
          </a:p>
        </p:txBody>
      </p:sp>
      <p:sp>
        <p:nvSpPr>
          <p:cNvPr id="7" name="author"/>
          <p:cNvSpPr>
            <a:spLocks noGrp="1"/>
          </p:cNvSpPr>
          <p:nvPr/>
        </p:nvSpPr>
        <p:spPr>
          <a:xfrm>
            <a:off x="400050" y="5391150"/>
            <a:ext cx="3238500" cy="666750"/>
          </a:xfrm>
          <a:prstGeom prst="rect">
            <a:avLst/>
          </a:prstGeom>
          <a:noFill/>
          <a:ln w="0">
            <a:noFill/>
            <a:prstDash val="solid"/>
          </a:ln>
        </p:spPr>
        <p:txBody>
          <a:bodyPr wrap="square" anchor="t">
            <a:normAutofit/>
          </a:bodyPr>
          <a:lstStyle/>
          <a:p>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Hamza Pratama</a:t>
            </a:r>
          </a:p>
          <a:p>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4611422068</a:t>
            </a:r>
          </a:p>
        </p:txBody>
      </p:sp>
      <p:sp>
        <p:nvSpPr>
          <p:cNvPr id="8" name="program-label"/>
          <p:cNvSpPr>
            <a:spLocks noGrp="1"/>
          </p:cNvSpPr>
          <p:nvPr/>
        </p:nvSpPr>
        <p:spPr>
          <a:xfrm>
            <a:off x="4324350" y="5095875"/>
            <a:ext cx="3238500" cy="266700"/>
          </a:xfrm>
          <a:prstGeom prst="rect">
            <a:avLst/>
          </a:prstGeom>
          <a:noFill/>
          <a:ln w="0">
            <a:noFill/>
            <a:prstDash val="solid"/>
          </a:ln>
        </p:spPr>
        <p:txBody>
          <a:bodyPr wrap="square" anchor="t">
            <a:normAutofit/>
          </a:bodyPr>
          <a:lstStyle/>
          <a:p>
            <a:pPr>
              <a:defRPr sz="1125" b="1">
                <a:solidFill>
                  <a:srgbClr val="555555"/>
                </a:solidFill>
                <a:latin typeface="Helvetica Neue"/>
                <a:ea typeface="Helvetica Neue"/>
                <a:cs typeface="Helvetica Neue"/>
              </a:defRPr>
            </a:pPr>
            <a:r>
              <a:rPr sz="1125" b="1">
                <a:solidFill>
                  <a:srgbClr val="555555"/>
                </a:solidFill>
                <a:latin typeface="Helvetica Neue"/>
                <a:ea typeface="Helvetica Neue"/>
                <a:cs typeface="Helvetica Neue"/>
              </a:rPr>
              <a:t>Program</a:t>
            </a:r>
          </a:p>
        </p:txBody>
      </p:sp>
      <p:sp>
        <p:nvSpPr>
          <p:cNvPr id="9" name="program"/>
          <p:cNvSpPr>
            <a:spLocks noGrp="1"/>
          </p:cNvSpPr>
          <p:nvPr/>
        </p:nvSpPr>
        <p:spPr>
          <a:xfrm>
            <a:off x="4324350" y="5391150"/>
            <a:ext cx="4000500" cy="666750"/>
          </a:xfrm>
          <a:prstGeom prst="rect">
            <a:avLst/>
          </a:prstGeom>
          <a:noFill/>
          <a:ln w="0">
            <a:noFill/>
            <a:prstDash val="solid"/>
          </a:ln>
        </p:spPr>
        <p:txBody>
          <a:bodyPr wrap="square" anchor="t">
            <a:normAutofit/>
          </a:bodyPr>
          <a:lstStyle/>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S1 Teknik Informatika</a:t>
            </a:r>
          </a:p>
          <a:p>
            <a:pPr>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FMIPA Universitas Negeri Semarang - 2026</a:t>
            </a:r>
          </a:p>
        </p:txBody>
      </p:sp>
      <p:sp>
        <p:nvSpPr>
          <p:cNvPr id="10" name="slide-number"/>
          <p:cNvSpPr>
            <a:spLocks noGrp="1"/>
          </p:cNvSpPr>
          <p:nvPr/>
        </p:nvSpPr>
        <p:spPr>
          <a:xfrm>
            <a:off x="11277600" y="6276975"/>
            <a:ext cx="514350" cy="238125"/>
          </a:xfrm>
          <a:prstGeom prst="rect">
            <a:avLst/>
          </a:prstGeom>
          <a:noFill/>
          <a:ln w="0">
            <a:noFill/>
            <a:prstDash val="solid"/>
          </a:ln>
        </p:spPr>
        <p:txBody>
          <a:bodyPr wrap="square" anchor="ctr">
            <a:normAutofit/>
          </a:bodyPr>
          <a:lstStyle/>
          <a:p>
            <a:pPr algn="r">
              <a:defRPr sz="1125">
                <a:solidFill>
                  <a:srgbClr val="000000"/>
                </a:solidFill>
                <a:latin typeface="Helvetica Neue"/>
                <a:ea typeface="Helvetica Neue"/>
                <a:cs typeface="Helvetica Neue"/>
              </a:defRPr>
            </a:pPr>
            <a:r>
              <a:rPr sz="1125">
                <a:solidFill>
                  <a:srgbClr val="000000"/>
                </a:solidFill>
                <a:latin typeface="Helvetica Neue"/>
                <a:ea typeface="Helvetica Neue"/>
                <a:cs typeface="Helvetica Neue"/>
              </a:rPr>
              <a:t>15</a:t>
            </a:r>
          </a:p>
        </p:txBody>
      </p:sp>
    </p:spTree>
    <p:extLst>
      <p:ext uri="{BB962C8B-B14F-4D97-AF65-F5344CB8AC3E}">
        <p14:creationId xmlns:p14="http://schemas.microsoft.com/office/powerpoint/2010/main" val="130739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p:cNvSpPr>
            <a:spLocks noGrp="1"/>
          </p:cNvSpPr>
          <p:nvPr/>
        </p:nvSpPr>
        <p:spPr>
          <a:xfrm>
            <a:off x="400050" y="342900"/>
            <a:ext cx="104000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Protokol data &amp; anti-leakage</a:t>
            </a:r>
          </a:p>
        </p:txBody>
      </p:sp>
      <p:sp>
        <p:nvSpPr>
          <p:cNvPr id="2"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
        <p:nvSpPr>
          <p:cNvPr id="10" name="marker-left"/>
          <p:cNvSpPr/>
          <p:nvPr/>
        </p:nvSpPr>
        <p:spPr>
          <a:xfrm>
            <a:off x="400050" y="1450000"/>
            <a:ext cx="285750" cy="285750"/>
          </a:xfrm>
          <a:prstGeom prst="rect">
            <a:avLst/>
          </a:prstGeom>
          <a:solidFill>
            <a:srgbClr val="FF6B35"/>
          </a:solidFill>
          <a:ln w="0">
            <a:noFill/>
          </a:ln>
        </p:spPr>
        <p:txBody>
          <a:bodyPr/>
          <a:lstStyle/>
          <a:p>
            <a:endParaRPr/>
          </a:p>
        </p:txBody>
      </p:sp>
      <p:sp>
        <p:nvSpPr>
          <p:cNvPr id="11" name="head-left"/>
          <p:cNvSpPr/>
          <p:nvPr/>
        </p:nvSpPr>
        <p:spPr>
          <a:xfrm>
            <a:off x="400050" y="1880000"/>
            <a:ext cx="5350000" cy="420000"/>
          </a:xfrm>
          <a:prstGeom prst="rect">
            <a:avLst/>
          </a:prstGeom>
          <a:noFill/>
          <a:ln w="0">
            <a:noFill/>
          </a:ln>
        </p:spPr>
        <p:txBody>
          <a:bodyPr wrap="square" anchor="t">
            <a:normAutofit/>
          </a:bodyPr>
          <a:lstStyle/>
          <a:p>
            <a:r>
              <a:rPr sz="1600" b="1">
                <a:solidFill>
                  <a:srgbClr val="000000"/>
                </a:solidFill>
                <a:latin typeface="Helvetica Neue"/>
                <a:ea typeface="Helvetica Neue"/>
                <a:cs typeface="Helvetica Neue"/>
              </a:rPr>
              <a:t>Protokol data</a:t>
            </a:r>
          </a:p>
        </p:txBody>
      </p:sp>
      <p:sp>
        <p:nvSpPr>
          <p:cNvPr id="12" name="body-left"/>
          <p:cNvSpPr/>
          <p:nvPr/>
        </p:nvSpPr>
        <p:spPr>
          <a:xfrm>
            <a:off x="400050" y="2450000"/>
            <a:ext cx="5400000" cy="3600000"/>
          </a:xfrm>
          <a:prstGeom prst="rect">
            <a:avLst/>
          </a:prstGeom>
          <a:noFill/>
          <a:ln w="0">
            <a:noFill/>
          </a:ln>
        </p:spPr>
        <p:txBody>
          <a:bodyPr wrap="square" anchor="t">
            <a:normAutofit/>
          </a:bodyPr>
          <a:lstStyle/>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TrashNet — 2.527 citra, 6 kelas, imbalanced (trash 137 … paper 594).</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Split dikunci di Notebook R0, sebelum training apa pun.</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Satu manifest per seed, dipakai identik oleh semua model → perbandingan adil.</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Stratified 70/15/15; 5 seed: 42, 123, 777, 2026, 3407.</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Dedup SHA-256: 6 duplikat label-konflik dibuang sebelum split (2.527 → 2.521); duplikat label-sama = 0.</a:t>
            </a:r>
          </a:p>
        </p:txBody>
      </p:sp>
      <p:sp>
        <p:nvSpPr>
          <p:cNvPr id="20" name="marker-right"/>
          <p:cNvSpPr/>
          <p:nvPr/>
        </p:nvSpPr>
        <p:spPr>
          <a:xfrm>
            <a:off x="6300000" y="1450000"/>
            <a:ext cx="285750" cy="285750"/>
          </a:xfrm>
          <a:prstGeom prst="rect">
            <a:avLst/>
          </a:prstGeom>
          <a:solidFill>
            <a:srgbClr val="FF6B35"/>
          </a:solidFill>
          <a:ln w="0">
            <a:noFill/>
          </a:ln>
        </p:spPr>
        <p:txBody>
          <a:bodyPr/>
          <a:lstStyle/>
          <a:p>
            <a:endParaRPr/>
          </a:p>
        </p:txBody>
      </p:sp>
      <p:sp>
        <p:nvSpPr>
          <p:cNvPr id="21" name="head-right"/>
          <p:cNvSpPr/>
          <p:nvPr/>
        </p:nvSpPr>
        <p:spPr>
          <a:xfrm>
            <a:off x="6300000" y="1880000"/>
            <a:ext cx="5350000" cy="420000"/>
          </a:xfrm>
          <a:prstGeom prst="rect">
            <a:avLst/>
          </a:prstGeom>
          <a:noFill/>
          <a:ln w="0">
            <a:noFill/>
          </a:ln>
        </p:spPr>
        <p:txBody>
          <a:bodyPr wrap="square" anchor="t">
            <a:normAutofit/>
          </a:bodyPr>
          <a:lstStyle/>
          <a:p>
            <a:r>
              <a:rPr sz="1600" b="1">
                <a:solidFill>
                  <a:srgbClr val="000000"/>
                </a:solidFill>
                <a:latin typeface="Helvetica Neue"/>
                <a:ea typeface="Helvetica Neue"/>
                <a:cs typeface="Helvetica Neue"/>
              </a:rPr>
              <a:t>Jaminan anti-leakage</a:t>
            </a:r>
          </a:p>
        </p:txBody>
      </p:sp>
      <p:sp>
        <p:nvSpPr>
          <p:cNvPr id="22" name="body-right"/>
          <p:cNvSpPr/>
          <p:nvPr/>
        </p:nvSpPr>
        <p:spPr>
          <a:xfrm>
            <a:off x="6300000" y="2450000"/>
            <a:ext cx="5490000" cy="3600000"/>
          </a:xfrm>
          <a:prstGeom prst="rect">
            <a:avLst/>
          </a:prstGeom>
          <a:noFill/>
          <a:ln w="0">
            <a:noFill/>
          </a:ln>
        </p:spPr>
        <p:txBody>
          <a:bodyPr wrap="square" anchor="t">
            <a:normAutofit/>
          </a:bodyPr>
          <a:lstStyle/>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validate_split() meng-assert nol irisan train/val/test — guard otomatis.</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Augmentasi hanya di train; val/test tidak pernah diaugmentasi.</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Normalisasi memakai statistik ImageNet tetap, bukan dihitung dari data.</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Test set tidak dipakai memilih model/epoch/T/α; tuning pilot hanya di val seed 42.</a:t>
            </a:r>
          </a:p>
          <a:p>
            <a:pPr marL="228600" indent="-228600">
              <a:spcAft>
                <a:spcPts val="900"/>
              </a:spcAft>
              <a:buClr>
                <a:srgbClr val="FF6B35"/>
              </a:buClr>
              <a:buFont typeface="Arial"/>
              <a:buChar char="•"/>
            </a:pPr>
            <a:r>
              <a:rPr sz="1250">
                <a:solidFill>
                  <a:srgbClr val="1A1A1A"/>
                </a:solidFill>
                <a:latin typeface="Helvetica Neue"/>
                <a:ea typeface="Helvetica Neue"/>
                <a:cs typeface="Helvetica Neue"/>
              </a:rPr>
              <a:t>Imbalance ditangani via macro-F1 + confusion matrix + ablasi K5, bukan resampling.</a:t>
            </a:r>
          </a:p>
        </p:txBody>
      </p:sp>
      <p:sp>
        <p:nvSpPr>
          <p:cNvPr id="30" name="footer"/>
          <p:cNvSpPr/>
          <p:nvPr/>
        </p:nvSpPr>
        <p:spPr>
          <a:xfrm>
            <a:off x="400050" y="6250000"/>
            <a:ext cx="11000000" cy="330000"/>
          </a:xfrm>
          <a:prstGeom prst="rect">
            <a:avLst/>
          </a:prstGeom>
          <a:noFill/>
          <a:ln w="0">
            <a:noFill/>
          </a:ln>
        </p:spPr>
        <p:txBody>
          <a:bodyPr wrap="square" anchor="t">
            <a:normAutofit/>
          </a:bodyPr>
          <a:lstStyle/>
          <a:p>
            <a:r>
              <a:rPr sz="1000" i="1">
                <a:solidFill>
                  <a:srgbClr val="777777"/>
                </a:solidFill>
                <a:latin typeface="Helvetica Neue"/>
                <a:ea typeface="Helvetica Neue"/>
                <a:cs typeface="Helvetica Neue"/>
              </a:rPr>
              <a:t>Slide cadangan — ditampilkan bila penguji menanyakan protokol data atau data leakage.</a:t>
            </a:r>
          </a:p>
        </p:txBody>
      </p:sp>
    </p:spTree>
    <p:extLst>
      <p:ext uri="{BB962C8B-B14F-4D97-AF65-F5344CB8AC3E}">
        <p14:creationId xmlns:p14="http://schemas.microsoft.com/office/powerpoint/2010/main" val="2010172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title"/>
          <p:cNvSpPr>
            <a:spLocks noGrp="1"/>
          </p:cNvSpPr>
          <p:nvPr/>
        </p:nvSpPr>
        <p:spPr>
          <a:xfrm>
            <a:off x="400050" y="342900"/>
            <a:ext cx="10000000" cy="666750"/>
          </a:xfrm>
          <a:prstGeom prst="rect">
            <a:avLst/>
          </a:prstGeom>
          <a:noFill/>
          <a:ln w="0">
            <a:noFill/>
            <a:prstDash val="solid"/>
          </a:ln>
        </p:spPr>
        <p:txBody>
          <a:bodyPr wrap="square" anchor="t">
            <a:normAutofit/>
          </a:bodyPr>
          <a:lstStyle/>
          <a:p>
            <a:pPr>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Cadangan — ringkasan uji efek KD</a:t>
            </a:r>
          </a:p>
        </p:txBody>
      </p:sp>
      <p:sp>
        <p:nvSpPr>
          <p:cNvPr id="2" name="tag"/>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graphicFrame>
        <p:nvGraphicFramePr>
          <p:cNvPr id="10" name="tbl-hasil"/>
          <p:cNvGraphicFramePr/>
          <p:nvPr/>
        </p:nvGraphicFramePr>
        <p:xfrm>
          <a:off x="400050" y="1600000"/>
          <a:ext cx="11391900" cy="2390000"/>
        </p:xfrm>
        <a:graphic>
          <a:graphicData uri="http://schemas.openxmlformats.org/drawingml/2006/table">
            <a:tbl>
              <a:tblPr/>
              <a:tblGrid>
                <a:gridCol w="4391900">
                  <a:extLst>
                    <a:ext uri="{9D8B030D-6E8A-4147-A177-3AD203B41FA5}">
                      <a16:colId xmlns:a16="http://schemas.microsoft.com/office/drawing/2014/main" val="20000"/>
                    </a:ext>
                  </a:extLst>
                </a:gridCol>
                <a:gridCol w="35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470000">
                <a:tc>
                  <a:txBody>
                    <a:bodyPr/>
                    <a:lstStyle/>
                    <a:p>
                      <a:r>
                        <a:rPr sz="1125" b="1">
                          <a:solidFill>
                            <a:srgbClr val="FFFFFF"/>
                          </a:solidFill>
                          <a:latin typeface="Helvetica Neue"/>
                          <a:ea typeface="Helvetica Neue"/>
                          <a:cs typeface="Helvetica Neue"/>
                        </a:rPr>
                        <a:t>Uji efek KD (paired, 5 seed)</a:t>
                      </a:r>
                    </a:p>
                  </a:txBody>
                  <a:tcPr>
                    <a:solidFill>
                      <a:srgbClr val="000000"/>
                    </a:solidFill>
                  </a:tcPr>
                </a:tc>
                <a:tc>
                  <a:txBody>
                    <a:bodyPr/>
                    <a:lstStyle/>
                    <a:p>
                      <a:r>
                        <a:rPr sz="1125" b="1">
                          <a:solidFill>
                            <a:srgbClr val="FFFFFF"/>
                          </a:solidFill>
                          <a:latin typeface="Helvetica Neue"/>
                          <a:ea typeface="Helvetica Neue"/>
                          <a:cs typeface="Helvetica Neue"/>
                        </a:rPr>
                        <a:t>K6: Δ akurasi (p)</a:t>
                      </a:r>
                    </a:p>
                  </a:txBody>
                  <a:tcPr>
                    <a:solidFill>
                      <a:srgbClr val="000000"/>
                    </a:solidFill>
                  </a:tcPr>
                </a:tc>
                <a:tc>
                  <a:txBody>
                    <a:bodyPr/>
                    <a:lstStyle/>
                    <a:p>
                      <a:r>
                        <a:rPr sz="1125" b="1">
                          <a:solidFill>
                            <a:srgbClr val="FFFFFF"/>
                          </a:solidFill>
                          <a:latin typeface="Helvetica Neue"/>
                          <a:ea typeface="Helvetica Neue"/>
                          <a:cs typeface="Helvetica Neue"/>
                        </a:rPr>
                        <a:t>K5: Δ akurasi (p)</a:t>
                      </a:r>
                    </a:p>
                  </a:txBody>
                  <a:tcPr>
                    <a:solidFill>
                      <a:srgbClr val="000000"/>
                    </a:solidFill>
                  </a:tcPr>
                </a:tc>
                <a:extLst>
                  <a:ext uri="{0D108BD9-81ED-4DB2-BD59-A6C34878D82A}">
                    <a16:rowId xmlns:a16="http://schemas.microsoft.com/office/drawing/2014/main" val="10000"/>
                  </a:ext>
                </a:extLst>
              </a:tr>
              <a:tr h="480000">
                <a:tc>
                  <a:txBody>
                    <a:bodyPr/>
                    <a:lstStyle/>
                    <a:p>
                      <a:r>
                        <a:rPr sz="1050">
                          <a:solidFill>
                            <a:srgbClr val="1A1A1A"/>
                          </a:solidFill>
                          <a:latin typeface="Helvetica Neue"/>
                          <a:ea typeface="Helvetica Neue"/>
                          <a:cs typeface="Helvetica Neue"/>
                        </a:rPr>
                        <a:t>Direct KD → 256K  (R7 − R6)</a:t>
                      </a:r>
                    </a:p>
                  </a:txBody>
                  <a:tcPr/>
                </a:tc>
                <a:tc>
                  <a:txBody>
                    <a:bodyPr/>
                    <a:lstStyle/>
                    <a:p>
                      <a:r>
                        <a:rPr sz="1050">
                          <a:solidFill>
                            <a:srgbClr val="1A1A1A"/>
                          </a:solidFill>
                          <a:latin typeface="Helvetica Neue"/>
                          <a:ea typeface="Helvetica Neue"/>
                          <a:cs typeface="Helvetica Neue"/>
                        </a:rPr>
                        <a:t>−0,5pp  (p=0,68)</a:t>
                      </a:r>
                    </a:p>
                  </a:txBody>
                  <a:tcPr/>
                </a:tc>
                <a:tc>
                  <a:txBody>
                    <a:bodyPr/>
                    <a:lstStyle/>
                    <a:p>
                      <a:r>
                        <a:rPr sz="1050">
                          <a:solidFill>
                            <a:srgbClr val="1A1A1A"/>
                          </a:solidFill>
                          <a:latin typeface="Helvetica Neue"/>
                          <a:ea typeface="Helvetica Neue"/>
                          <a:cs typeface="Helvetica Neue"/>
                        </a:rPr>
                        <a:t>+0,6pp  (p=0,68)</a:t>
                      </a:r>
                    </a:p>
                  </a:txBody>
                  <a:tcPr/>
                </a:tc>
                <a:extLst>
                  <a:ext uri="{0D108BD9-81ED-4DB2-BD59-A6C34878D82A}">
                    <a16:rowId xmlns:a16="http://schemas.microsoft.com/office/drawing/2014/main" val="10001"/>
                  </a:ext>
                </a:extLst>
              </a:tr>
              <a:tr h="480000">
                <a:tc>
                  <a:txBody>
                    <a:bodyPr/>
                    <a:lstStyle/>
                    <a:p>
                      <a:r>
                        <a:rPr sz="1050">
                          <a:solidFill>
                            <a:srgbClr val="1A1A1A"/>
                          </a:solidFill>
                          <a:latin typeface="Helvetica Neue"/>
                          <a:ea typeface="Helvetica Neue"/>
                          <a:cs typeface="Helvetica Neue"/>
                        </a:rPr>
                        <a:t>TA-KD → 128K  (R5)</a:t>
                      </a:r>
                    </a:p>
                  </a:txBody>
                  <a:tcPr/>
                </a:tc>
                <a:tc>
                  <a:txBody>
                    <a:bodyPr/>
                    <a:lstStyle/>
                    <a:p>
                      <a:r>
                        <a:rPr sz="1050">
                          <a:solidFill>
                            <a:srgbClr val="1A1A1A"/>
                          </a:solidFill>
                          <a:latin typeface="Helvetica Neue"/>
                          <a:ea typeface="Helvetica Neue"/>
                          <a:cs typeface="Helvetica Neue"/>
                        </a:rPr>
                        <a:t>−0,7pp  (p=0,20)</a:t>
                      </a:r>
                    </a:p>
                  </a:txBody>
                  <a:tcPr/>
                </a:tc>
                <a:tc>
                  <a:txBody>
                    <a:bodyPr/>
                    <a:lstStyle/>
                    <a:p>
                      <a:r>
                        <a:rPr sz="1050">
                          <a:solidFill>
                            <a:srgbClr val="1A1A1A"/>
                          </a:solidFill>
                          <a:latin typeface="Helvetica Neue"/>
                          <a:ea typeface="Helvetica Neue"/>
                          <a:cs typeface="Helvetica Neue"/>
                        </a:rPr>
                        <a:t>−0,5pp  (p=0,23)</a:t>
                      </a:r>
                    </a:p>
                  </a:txBody>
                  <a:tcPr/>
                </a:tc>
                <a:extLst>
                  <a:ext uri="{0D108BD9-81ED-4DB2-BD59-A6C34878D82A}">
                    <a16:rowId xmlns:a16="http://schemas.microsoft.com/office/drawing/2014/main" val="10002"/>
                  </a:ext>
                </a:extLst>
              </a:tr>
              <a:tr h="480000">
                <a:tc>
                  <a:txBody>
                    <a:bodyPr/>
                    <a:lstStyle/>
                    <a:p>
                      <a:r>
                        <a:rPr sz="1050" b="1">
                          <a:solidFill>
                            <a:srgbClr val="000000"/>
                          </a:solidFill>
                          <a:latin typeface="Helvetica Neue"/>
                          <a:ea typeface="Helvetica Neue"/>
                          <a:cs typeface="Helvetica Neue"/>
                        </a:rPr>
                        <a:t>TA-KD → 256K  (R8)  ★</a:t>
                      </a:r>
                    </a:p>
                  </a:txBody>
                  <a:tcPr>
                    <a:solidFill>
                      <a:srgbClr val="FFE3D6"/>
                    </a:solidFill>
                  </a:tcPr>
                </a:tc>
                <a:tc>
                  <a:txBody>
                    <a:bodyPr/>
                    <a:lstStyle/>
                    <a:p>
                      <a:r>
                        <a:rPr sz="1050" b="1">
                          <a:solidFill>
                            <a:srgbClr val="B23A0F"/>
                          </a:solidFill>
                          <a:latin typeface="Helvetica Neue"/>
                          <a:ea typeface="Helvetica Neue"/>
                          <a:cs typeface="Helvetica Neue"/>
                        </a:rPr>
                        <a:t>+1,0pp  (p=0,024) · 5/5</a:t>
                      </a:r>
                    </a:p>
                  </a:txBody>
                  <a:tcPr>
                    <a:solidFill>
                      <a:srgbClr val="FFE3D6"/>
                    </a:solidFill>
                  </a:tcPr>
                </a:tc>
                <a:tc>
                  <a:txBody>
                    <a:bodyPr/>
                    <a:lstStyle/>
                    <a:p>
                      <a:r>
                        <a:rPr sz="1050" b="1">
                          <a:solidFill>
                            <a:srgbClr val="B23A0F"/>
                          </a:solidFill>
                          <a:latin typeface="Helvetica Neue"/>
                          <a:ea typeface="Helvetica Neue"/>
                          <a:cs typeface="Helvetica Neue"/>
                        </a:rPr>
                        <a:t>+1,4pp  (p=0,045) · 5/5</a:t>
                      </a:r>
                    </a:p>
                  </a:txBody>
                  <a:tcPr>
                    <a:solidFill>
                      <a:srgbClr val="FFE3D6"/>
                    </a:solidFill>
                  </a:tcPr>
                </a:tc>
                <a:extLst>
                  <a:ext uri="{0D108BD9-81ED-4DB2-BD59-A6C34878D82A}">
                    <a16:rowId xmlns:a16="http://schemas.microsoft.com/office/drawing/2014/main" val="10003"/>
                  </a:ext>
                </a:extLst>
              </a:tr>
              <a:tr h="480000">
                <a:tc>
                  <a:txBody>
                    <a:bodyPr/>
                    <a:lstStyle/>
                    <a:p>
                      <a:r>
                        <a:rPr sz="1050">
                          <a:solidFill>
                            <a:srgbClr val="1A1A1A"/>
                          </a:solidFill>
                          <a:latin typeface="Helvetica Neue"/>
                          <a:ea typeface="Helvetica Neue"/>
                          <a:cs typeface="Helvetica Neue"/>
                        </a:rPr>
                        <a:t>Self-KD → 256K  (R9, BAN)</a:t>
                      </a:r>
                    </a:p>
                  </a:txBody>
                  <a:tcPr/>
                </a:tc>
                <a:tc>
                  <a:txBody>
                    <a:bodyPr/>
                    <a:lstStyle/>
                    <a:p>
                      <a:r>
                        <a:rPr sz="1050">
                          <a:solidFill>
                            <a:srgbClr val="1A1A1A"/>
                          </a:solidFill>
                          <a:latin typeface="Helvetica Neue"/>
                          <a:ea typeface="Helvetica Neue"/>
                          <a:cs typeface="Helvetica Neue"/>
                        </a:rPr>
                        <a:t>+0,5pp  (p=0,51)</a:t>
                      </a:r>
                    </a:p>
                  </a:txBody>
                  <a:tcPr/>
                </a:tc>
                <a:tc>
                  <a:txBody>
                    <a:bodyPr/>
                    <a:lstStyle/>
                    <a:p>
                      <a:r>
                        <a:rPr sz="1050">
                          <a:solidFill>
                            <a:srgbClr val="1A1A1A"/>
                          </a:solidFill>
                          <a:latin typeface="Helvetica Neue"/>
                          <a:ea typeface="Helvetica Neue"/>
                          <a:cs typeface="Helvetica Neue"/>
                        </a:rPr>
                        <a:t>+1,4pp  (p=0,38)</a:t>
                      </a:r>
                    </a:p>
                  </a:txBody>
                  <a:tcPr/>
                </a:tc>
                <a:extLst>
                  <a:ext uri="{0D108BD9-81ED-4DB2-BD59-A6C34878D82A}">
                    <a16:rowId xmlns:a16="http://schemas.microsoft.com/office/drawing/2014/main" val="10004"/>
                  </a:ext>
                </a:extLst>
              </a:tr>
            </a:tbl>
          </a:graphicData>
        </a:graphic>
      </p:graphicFrame>
      <p:sp>
        <p:nvSpPr>
          <p:cNvPr id="30" name="takeaways"/>
          <p:cNvSpPr/>
          <p:nvPr/>
        </p:nvSpPr>
        <p:spPr>
          <a:xfrm>
            <a:off x="400050" y="4260000"/>
            <a:ext cx="11391900" cy="1850000"/>
          </a:xfrm>
          <a:prstGeom prst="rect">
            <a:avLst/>
          </a:prstGeom>
          <a:noFill/>
          <a:ln w="0">
            <a:noFill/>
          </a:ln>
        </p:spPr>
        <p:txBody>
          <a:bodyPr wrap="square" anchor="t">
            <a:normAutofit/>
          </a:bodyPr>
          <a:lstStyle/>
          <a:p>
            <a:pPr>
              <a:spcAft>
                <a:spcPts val="700"/>
              </a:spcAft>
            </a:pPr>
            <a:r>
              <a:rPr sz="1300" b="1">
                <a:solidFill>
                  <a:srgbClr val="000000"/>
                </a:solidFill>
                <a:latin typeface="Helvetica Neue"/>
                <a:ea typeface="Helvetica Neue"/>
                <a:cs typeface="Helvetica Neue"/>
              </a:rPr>
              <a:t>Hanya TA-KD 256K (R8) yang menang &amp; konsisten 5/5 seed.</a:t>
            </a:r>
          </a:p>
          <a:p>
            <a:pPr marL="228600" indent="-228600">
              <a:spcAft>
                <a:spcPts val="500"/>
              </a:spcAft>
              <a:buClr>
                <a:srgbClr val="FF6B35"/>
              </a:buClr>
              <a:buFont typeface="Arial"/>
              <a:buChar char="•"/>
            </a:pPr>
            <a:r>
              <a:rPr sz="1150">
                <a:solidFill>
                  <a:srgbClr val="1A1A1A"/>
                </a:solidFill>
                <a:latin typeface="Helvetica Neue"/>
                <a:ea typeface="Helvetica Neue"/>
                <a:cs typeface="Helvetica Neue"/>
              </a:rPr>
              <a:t>Guru besar (EfficientNet-B4) langsung ke student → wash (R4/R7): gejala capacity gap.</a:t>
            </a:r>
          </a:p>
          <a:p>
            <a:pPr marL="228600" indent="-228600">
              <a:spcAft>
                <a:spcPts val="500"/>
              </a:spcAft>
              <a:buClr>
                <a:srgbClr val="FF6B35"/>
              </a:buClr>
              <a:buFont typeface="Arial"/>
              <a:buChar char="•"/>
            </a:pPr>
            <a:r>
              <a:rPr sz="1150">
                <a:solidFill>
                  <a:srgbClr val="1A1A1A"/>
                </a:solidFill>
                <a:latin typeface="Helvetica Neue"/>
                <a:ea typeface="Helvetica Neue"/>
                <a:cs typeface="Helvetica Neue"/>
              </a:rPr>
              <a:t>Assistant menengah menolong hanya saat student cukup besar → R8 = student terbaik: 78,7% (K6) / 82,4% (K5).</a:t>
            </a:r>
          </a:p>
          <a:p>
            <a:pPr marL="228600" indent="-228600">
              <a:spcAft>
                <a:spcPts val="500"/>
              </a:spcAft>
              <a:buClr>
                <a:srgbClr val="FF6B35"/>
              </a:buClr>
              <a:buFont typeface="Arial"/>
              <a:buChar char="•"/>
            </a:pPr>
            <a:r>
              <a:rPr sz="1150">
                <a:solidFill>
                  <a:srgbClr val="1A1A1A"/>
                </a:solidFill>
                <a:latin typeface="Helvetica Neue"/>
                <a:ea typeface="Helvetica Neue"/>
                <a:cs typeface="Helvetica Neue"/>
              </a:rPr>
              <a:t>Self-distillation (BAN, R9) directional/wash → penentu: kapasitas guru harus menengah, bukan besar atau sama.</a:t>
            </a:r>
          </a:p>
        </p:txBody>
      </p:sp>
      <p:sp>
        <p:nvSpPr>
          <p:cNvPr id="31" name="footer"/>
          <p:cNvSpPr/>
          <p:nvPr/>
        </p:nvSpPr>
        <p:spPr>
          <a:xfrm>
            <a:off x="400050" y="6270000"/>
            <a:ext cx="11391900" cy="330000"/>
          </a:xfrm>
          <a:prstGeom prst="rect">
            <a:avLst/>
          </a:prstGeom>
          <a:noFill/>
          <a:ln w="0">
            <a:noFill/>
          </a:ln>
        </p:spPr>
        <p:txBody>
          <a:bodyPr wrap="square" anchor="t">
            <a:normAutofit/>
          </a:bodyPr>
          <a:lstStyle/>
          <a:p>
            <a:r>
              <a:rPr sz="1000" i="1">
                <a:solidFill>
                  <a:srgbClr val="777777"/>
                </a:solidFill>
                <a:latin typeface="Helvetica Neue"/>
                <a:ea typeface="Helvetica Neue"/>
                <a:cs typeface="Helvetica Neue"/>
              </a:rPr>
              <a:t>Batas atas guru EfficientNet-B4: 94,5% (K6) / 95,8% (K5). Sumber angka: hasil uji pada test set, rata-rata 5 seed.</a:t>
            </a:r>
          </a:p>
        </p:txBody>
      </p:sp>
    </p:spTree>
    <p:extLst>
      <p:ext uri="{BB962C8B-B14F-4D97-AF65-F5344CB8AC3E}">
        <p14:creationId xmlns:p14="http://schemas.microsoft.com/office/powerpoint/2010/main" val="2010172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tiga uji statistik dan unit analisisnya</a:t>
            </a:r>
          </a:p>
        </p:txBody>
      </p:sp>
      <p:sp>
        <p:nvSpPr>
          <p:cNvPr id="3" name="Rectangle 2"/>
          <p:cNvSpPr/>
          <p:nvPr/>
        </p:nvSpPr>
        <p:spPr>
          <a:xfrm>
            <a:off x="402336" y="1234440"/>
            <a:ext cx="3575304" cy="214884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67512" y="1463040"/>
            <a:ext cx="2999232" cy="411480"/>
          </a:xfrm>
          <a:prstGeom prst="rect">
            <a:avLst/>
          </a:prstGeom>
          <a:noFill/>
        </p:spPr>
        <p:txBody>
          <a:bodyPr wrap="square">
            <a:spAutoFit/>
          </a:bodyPr>
          <a:lstStyle/>
          <a:p>
            <a:r>
              <a:rPr sz="1550" b="1" i="0">
                <a:solidFill>
                  <a:srgbClr val="000000"/>
                </a:solidFill>
                <a:latin typeface="Helvetica Neue"/>
              </a:rPr>
              <a:t>Paired t-test</a:t>
            </a:r>
          </a:p>
        </p:txBody>
      </p:sp>
      <p:sp>
        <p:nvSpPr>
          <p:cNvPr id="5" name="TextBox 4"/>
          <p:cNvSpPr txBox="1"/>
          <p:nvPr/>
        </p:nvSpPr>
        <p:spPr>
          <a:xfrm>
            <a:off x="667512" y="1847088"/>
            <a:ext cx="2999232" cy="274320"/>
          </a:xfrm>
          <a:prstGeom prst="rect">
            <a:avLst/>
          </a:prstGeom>
          <a:noFill/>
        </p:spPr>
        <p:txBody>
          <a:bodyPr wrap="square">
            <a:spAutoFit/>
          </a:bodyPr>
          <a:lstStyle/>
          <a:p>
            <a:r>
              <a:rPr sz="1150" b="1" i="0">
                <a:solidFill>
                  <a:srgbClr val="FF6B35"/>
                </a:solidFill>
                <a:latin typeface="Helvetica Neue"/>
              </a:rPr>
              <a:t>unit: seed (n = 5)</a:t>
            </a:r>
          </a:p>
        </p:txBody>
      </p:sp>
      <p:sp>
        <p:nvSpPr>
          <p:cNvPr id="6" name="TextBox 5"/>
          <p:cNvSpPr txBox="1"/>
          <p:nvPr/>
        </p:nvSpPr>
        <p:spPr>
          <a:xfrm>
            <a:off x="667512" y="2157984"/>
            <a:ext cx="2999232" cy="1097280"/>
          </a:xfrm>
          <a:prstGeom prst="rect">
            <a:avLst/>
          </a:prstGeom>
          <a:noFill/>
        </p:spPr>
        <p:txBody>
          <a:bodyPr wrap="square">
            <a:spAutoFit/>
          </a:bodyPr>
          <a:lstStyle/>
          <a:p>
            <a:r>
              <a:rPr sz="1200" b="0" i="0">
                <a:solidFill>
                  <a:srgbClr val="555555"/>
                </a:solidFill>
                <a:latin typeface="Helvetica Neue"/>
              </a:rPr>
              <a:t>Membandingkan selisih di dalam pasangan seed yang sama. Sumber utama nilai p pada tabel hasil.</a:t>
            </a:r>
          </a:p>
        </p:txBody>
      </p:sp>
      <p:sp>
        <p:nvSpPr>
          <p:cNvPr id="7" name="Rectangle 6"/>
          <p:cNvSpPr/>
          <p:nvPr/>
        </p:nvSpPr>
        <p:spPr>
          <a:xfrm>
            <a:off x="4315968" y="1234440"/>
            <a:ext cx="3575304" cy="214884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81144" y="1463040"/>
            <a:ext cx="2999232" cy="411480"/>
          </a:xfrm>
          <a:prstGeom prst="rect">
            <a:avLst/>
          </a:prstGeom>
          <a:noFill/>
        </p:spPr>
        <p:txBody>
          <a:bodyPr wrap="square">
            <a:spAutoFit/>
          </a:bodyPr>
          <a:lstStyle/>
          <a:p>
            <a:r>
              <a:rPr sz="1550" b="1" i="0">
                <a:solidFill>
                  <a:srgbClr val="000000"/>
                </a:solidFill>
                <a:latin typeface="Helvetica Neue"/>
              </a:rPr>
              <a:t>Wilcoxon signed-rank</a:t>
            </a:r>
          </a:p>
        </p:txBody>
      </p:sp>
      <p:sp>
        <p:nvSpPr>
          <p:cNvPr id="9" name="TextBox 8"/>
          <p:cNvSpPr txBox="1"/>
          <p:nvPr/>
        </p:nvSpPr>
        <p:spPr>
          <a:xfrm>
            <a:off x="4581144" y="1847088"/>
            <a:ext cx="2999232" cy="274320"/>
          </a:xfrm>
          <a:prstGeom prst="rect">
            <a:avLst/>
          </a:prstGeom>
          <a:noFill/>
        </p:spPr>
        <p:txBody>
          <a:bodyPr wrap="square">
            <a:spAutoFit/>
          </a:bodyPr>
          <a:lstStyle/>
          <a:p>
            <a:r>
              <a:rPr sz="1150" b="1" i="0">
                <a:solidFill>
                  <a:srgbClr val="FF6B35"/>
                </a:solidFill>
                <a:latin typeface="Helvetica Neue"/>
              </a:rPr>
              <a:t>unit: seed (n = 5)</a:t>
            </a:r>
          </a:p>
        </p:txBody>
      </p:sp>
      <p:sp>
        <p:nvSpPr>
          <p:cNvPr id="10" name="TextBox 9"/>
          <p:cNvSpPr txBox="1"/>
          <p:nvPr/>
        </p:nvSpPr>
        <p:spPr>
          <a:xfrm>
            <a:off x="4581144" y="2157984"/>
            <a:ext cx="2999232" cy="1097280"/>
          </a:xfrm>
          <a:prstGeom prst="rect">
            <a:avLst/>
          </a:prstGeom>
          <a:noFill/>
        </p:spPr>
        <p:txBody>
          <a:bodyPr wrap="square">
            <a:spAutoFit/>
          </a:bodyPr>
          <a:lstStyle/>
          <a:p>
            <a:r>
              <a:rPr sz="1200" b="0" i="0">
                <a:solidFill>
                  <a:srgbClr val="555555"/>
                </a:solidFill>
                <a:latin typeface="Helvetica Neue"/>
              </a:rPr>
              <a:t>Pendamping nonparametrik, tanpa asumsi normalitas selisih. Dengan n = 5, p dua sisi terkecil yang mungkin = 0,0625.</a:t>
            </a:r>
          </a:p>
        </p:txBody>
      </p:sp>
      <p:sp>
        <p:nvSpPr>
          <p:cNvPr id="11" name="Rectangle 10"/>
          <p:cNvSpPr/>
          <p:nvPr/>
        </p:nvSpPr>
        <p:spPr>
          <a:xfrm>
            <a:off x="8229600" y="1234440"/>
            <a:ext cx="3575304" cy="214884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94776" y="1463040"/>
            <a:ext cx="2999232" cy="411480"/>
          </a:xfrm>
          <a:prstGeom prst="rect">
            <a:avLst/>
          </a:prstGeom>
          <a:noFill/>
        </p:spPr>
        <p:txBody>
          <a:bodyPr wrap="square">
            <a:spAutoFit/>
          </a:bodyPr>
          <a:lstStyle/>
          <a:p>
            <a:r>
              <a:rPr sz="1550" b="1" i="0">
                <a:solidFill>
                  <a:srgbClr val="000000"/>
                </a:solidFill>
                <a:latin typeface="Helvetica Neue"/>
              </a:rPr>
              <a:t>McNemar</a:t>
            </a:r>
          </a:p>
        </p:txBody>
      </p:sp>
      <p:sp>
        <p:nvSpPr>
          <p:cNvPr id="13" name="TextBox 12"/>
          <p:cNvSpPr txBox="1"/>
          <p:nvPr/>
        </p:nvSpPr>
        <p:spPr>
          <a:xfrm>
            <a:off x="8494776" y="1847088"/>
            <a:ext cx="2999232" cy="274320"/>
          </a:xfrm>
          <a:prstGeom prst="rect">
            <a:avLst/>
          </a:prstGeom>
          <a:noFill/>
        </p:spPr>
        <p:txBody>
          <a:bodyPr wrap="square">
            <a:spAutoFit/>
          </a:bodyPr>
          <a:lstStyle/>
          <a:p>
            <a:r>
              <a:rPr sz="1150" b="1" i="0">
                <a:solidFill>
                  <a:srgbClr val="FF6B35"/>
                </a:solidFill>
                <a:latin typeface="Helvetica Neue"/>
              </a:rPr>
              <a:t>unit: sampel uji · koreksi kontinuitas</a:t>
            </a:r>
          </a:p>
        </p:txBody>
      </p:sp>
      <p:sp>
        <p:nvSpPr>
          <p:cNvPr id="14" name="TextBox 13"/>
          <p:cNvSpPr txBox="1"/>
          <p:nvPr/>
        </p:nvSpPr>
        <p:spPr>
          <a:xfrm>
            <a:off x="8494776" y="2157984"/>
            <a:ext cx="2999232" cy="1097280"/>
          </a:xfrm>
          <a:prstGeom prst="rect">
            <a:avLst/>
          </a:prstGeom>
          <a:noFill/>
        </p:spPr>
        <p:txBody>
          <a:bodyPr wrap="square">
            <a:spAutoFit/>
          </a:bodyPr>
          <a:lstStyle/>
          <a:p>
            <a:r>
              <a:rPr sz="1200" b="0" i="0">
                <a:solidFill>
                  <a:srgbClr val="555555"/>
                </a:solidFill>
                <a:latin typeface="Helvetica Neue"/>
              </a:rPr>
              <a:t>Membandingkan pola benar–salah per citra pada data uji yang sama, digabung dari 5 seed.</a:t>
            </a:r>
          </a:p>
        </p:txBody>
      </p:sp>
      <p:sp>
        <p:nvSpPr>
          <p:cNvPr id="15" name="TextBox 14"/>
          <p:cNvSpPr txBox="1"/>
          <p:nvPr/>
        </p:nvSpPr>
        <p:spPr>
          <a:xfrm>
            <a:off x="402336" y="3611880"/>
            <a:ext cx="11384280" cy="320040"/>
          </a:xfrm>
          <a:prstGeom prst="rect">
            <a:avLst/>
          </a:prstGeom>
          <a:noFill/>
        </p:spPr>
        <p:txBody>
          <a:bodyPr wrap="square">
            <a:spAutoFit/>
          </a:bodyPr>
          <a:lstStyle/>
          <a:p>
            <a:r>
              <a:rPr sz="1550" b="1" i="0">
                <a:solidFill>
                  <a:srgbClr val="000000"/>
                </a:solidFill>
                <a:latin typeface="Helvetica Neue"/>
              </a:rPr>
              <a:t>Tabel kontingensi McNemar untuk R8 (digabung 5 seed)</a:t>
            </a:r>
          </a:p>
        </p:txBody>
      </p:sp>
      <p:graphicFrame>
        <p:nvGraphicFramePr>
          <p:cNvPr id="16" name="Table 15"/>
          <p:cNvGraphicFramePr>
            <a:graphicFrameLocks noGrp="1"/>
          </p:cNvGraphicFramePr>
          <p:nvPr/>
        </p:nvGraphicFramePr>
        <p:xfrm>
          <a:off x="402336" y="4041648"/>
          <a:ext cx="11384279" cy="1225296"/>
        </p:xfrm>
        <a:graphic>
          <a:graphicData uri="http://schemas.openxmlformats.org/drawingml/2006/table">
            <a:tbl>
              <a:tblPr>
                <a:tableStyleId>{5C22544A-7EE6-4342-B048-85BDC9FD1C3A}</a:tableStyleId>
              </a:tblPr>
              <a:tblGrid>
                <a:gridCol w="1874519">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420624">
                <a:tc>
                  <a:txBody>
                    <a:bodyPr/>
                    <a:lstStyle/>
                    <a:p>
                      <a:r>
                        <a:rPr sz="1100" b="1" i="0">
                          <a:solidFill>
                            <a:srgbClr val="FFFFFF"/>
                          </a:solidFill>
                          <a:latin typeface="Helvetica Neue"/>
                        </a:rPr>
                        <a:t>Skema</a:t>
                      </a:r>
                    </a:p>
                  </a:txBody>
                  <a:tcPr marR="73152" marT="27432" marB="27432" anchor="ctr">
                    <a:solidFill>
                      <a:srgbClr val="000000"/>
                    </a:solidFill>
                  </a:tcPr>
                </a:tc>
                <a:tc>
                  <a:txBody>
                    <a:bodyPr/>
                    <a:lstStyle/>
                    <a:p>
                      <a:r>
                        <a:rPr sz="1100" b="1" i="0">
                          <a:solidFill>
                            <a:srgbClr val="FFFFFF"/>
                          </a:solidFill>
                          <a:latin typeface="Helvetica Neue"/>
                        </a:rPr>
                        <a:t>b: TA-KD benar, kontrol salah</a:t>
                      </a:r>
                    </a:p>
                  </a:txBody>
                  <a:tcPr marR="73152" marT="27432" marB="27432" anchor="ctr">
                    <a:solidFill>
                      <a:srgbClr val="000000"/>
                    </a:solidFill>
                  </a:tcPr>
                </a:tc>
                <a:tc>
                  <a:txBody>
                    <a:bodyPr/>
                    <a:lstStyle/>
                    <a:p>
                      <a:r>
                        <a:rPr sz="1100" b="1" i="0">
                          <a:solidFill>
                            <a:srgbClr val="FFFFFF"/>
                          </a:solidFill>
                          <a:latin typeface="Helvetica Neue"/>
                        </a:rPr>
                        <a:t>c: TA-KD salah, kontrol benar</a:t>
                      </a:r>
                    </a:p>
                  </a:txBody>
                  <a:tcPr marR="73152" marT="27432" marB="27432" anchor="ctr">
                    <a:solidFill>
                      <a:srgbClr val="000000"/>
                    </a:solidFill>
                  </a:tcPr>
                </a:tc>
                <a:tc>
                  <a:txBody>
                    <a:bodyPr/>
                    <a:lstStyle/>
                    <a:p>
                      <a:pPr algn="r"/>
                      <a:r>
                        <a:rPr sz="1100" b="1" i="0">
                          <a:solidFill>
                            <a:srgbClr val="FFFFFF"/>
                          </a:solidFill>
                          <a:latin typeface="Helvetica Neue"/>
                        </a:rPr>
                        <a:t>χ² (koreksi)</a:t>
                      </a:r>
                    </a:p>
                  </a:txBody>
                  <a:tcPr marR="73152" marT="27432" marB="27432" anchor="ctr">
                    <a:solidFill>
                      <a:srgbClr val="000000"/>
                    </a:solidFill>
                  </a:tcPr>
                </a:tc>
                <a:tc>
                  <a:txBody>
                    <a:bodyPr/>
                    <a:lstStyle/>
                    <a:p>
                      <a:pPr algn="r"/>
                      <a:r>
                        <a:rPr sz="1100" b="1" i="0">
                          <a:solidFill>
                            <a:srgbClr val="FFFFFF"/>
                          </a:solidFill>
                          <a:latin typeface="Helvetica Neue"/>
                        </a:rPr>
                        <a:t>p</a:t>
                      </a:r>
                    </a:p>
                  </a:txBody>
                  <a:tcPr marR="73152" marT="27432" marB="27432" anchor="ctr">
                    <a:solidFill>
                      <a:srgbClr val="000000"/>
                    </a:solidFill>
                  </a:tcPr>
                </a:tc>
                <a:tc>
                  <a:txBody>
                    <a:bodyPr/>
                    <a:lstStyle/>
                    <a:p>
                      <a:pPr algn="r"/>
                      <a:r>
                        <a:rPr sz="1100" b="1" i="0">
                          <a:solidFill>
                            <a:srgbClr val="FFFFFF"/>
                          </a:solidFill>
                          <a:latin typeface="Helvetica Neue"/>
                        </a:rPr>
                        <a:t>n</a:t>
                      </a:r>
                    </a:p>
                  </a:txBody>
                  <a:tcPr marR="73152" marT="27432" marB="27432" anchor="ctr">
                    <a:solidFill>
                      <a:srgbClr val="000000"/>
                    </a:solidFill>
                  </a:tcPr>
                </a:tc>
                <a:extLst>
                  <a:ext uri="{0D108BD9-81ED-4DB2-BD59-A6C34878D82A}">
                    <a16:rowId xmlns:a16="http://schemas.microsoft.com/office/drawing/2014/main" val="10000"/>
                  </a:ext>
                </a:extLst>
              </a:tr>
              <a:tr h="402336">
                <a:tc>
                  <a:txBody>
                    <a:bodyPr/>
                    <a:lstStyle/>
                    <a:p>
                      <a:r>
                        <a:rPr sz="1250" b="0" i="0">
                          <a:solidFill>
                            <a:srgbClr val="000000"/>
                          </a:solidFill>
                          <a:latin typeface="Helvetica Neue"/>
                        </a:rPr>
                        <a:t>K6 (6 kelas)</a:t>
                      </a:r>
                    </a:p>
                  </a:txBody>
                  <a:tcPr marR="73152" marT="27432" marB="27432" anchor="ctr">
                    <a:solidFill>
                      <a:srgbClr val="FFFFFF"/>
                    </a:solidFill>
                  </a:tcPr>
                </a:tc>
                <a:tc>
                  <a:txBody>
                    <a:bodyPr/>
                    <a:lstStyle/>
                    <a:p>
                      <a:r>
                        <a:rPr sz="1250" b="0" i="0">
                          <a:solidFill>
                            <a:srgbClr val="000000"/>
                          </a:solidFill>
                          <a:latin typeface="Helvetica Neue"/>
                        </a:rPr>
                        <a:t>64</a:t>
                      </a:r>
                    </a:p>
                  </a:txBody>
                  <a:tcPr marR="73152" marT="27432" marB="27432" anchor="ctr">
                    <a:solidFill>
                      <a:srgbClr val="FFFFFF"/>
                    </a:solidFill>
                  </a:tcPr>
                </a:tc>
                <a:tc>
                  <a:txBody>
                    <a:bodyPr/>
                    <a:lstStyle/>
                    <a:p>
                      <a:r>
                        <a:rPr sz="1250" b="0" i="0">
                          <a:solidFill>
                            <a:srgbClr val="000000"/>
                          </a:solidFill>
                          <a:latin typeface="Helvetica Neue"/>
                        </a:rPr>
                        <a:t>45</a:t>
                      </a:r>
                    </a:p>
                  </a:txBody>
                  <a:tcPr marR="73152" marT="27432" marB="27432" anchor="ctr">
                    <a:solidFill>
                      <a:srgbClr val="FFFFFF"/>
                    </a:solidFill>
                  </a:tcPr>
                </a:tc>
                <a:tc>
                  <a:txBody>
                    <a:bodyPr/>
                    <a:lstStyle/>
                    <a:p>
                      <a:pPr algn="r"/>
                      <a:r>
                        <a:rPr sz="1250" b="0" i="0">
                          <a:solidFill>
                            <a:srgbClr val="000000"/>
                          </a:solidFill>
                          <a:latin typeface="Helvetica Neue"/>
                        </a:rPr>
                        <a:t>2,97</a:t>
                      </a:r>
                    </a:p>
                  </a:txBody>
                  <a:tcPr marR="73152" marT="27432" marB="27432" anchor="ctr">
                    <a:solidFill>
                      <a:srgbClr val="FFFFFF"/>
                    </a:solidFill>
                  </a:tcPr>
                </a:tc>
                <a:tc>
                  <a:txBody>
                    <a:bodyPr/>
                    <a:lstStyle/>
                    <a:p>
                      <a:pPr algn="r"/>
                      <a:r>
                        <a:rPr sz="1250" b="0" i="0">
                          <a:solidFill>
                            <a:srgbClr val="000000"/>
                          </a:solidFill>
                          <a:latin typeface="Helvetica Neue"/>
                        </a:rPr>
                        <a:t>0,085</a:t>
                      </a:r>
                    </a:p>
                  </a:txBody>
                  <a:tcPr marR="73152" marT="27432" marB="27432" anchor="ctr">
                    <a:solidFill>
                      <a:srgbClr val="FFFFFF"/>
                    </a:solidFill>
                  </a:tcPr>
                </a:tc>
                <a:tc>
                  <a:txBody>
                    <a:bodyPr/>
                    <a:lstStyle/>
                    <a:p>
                      <a:pPr algn="r"/>
                      <a:r>
                        <a:rPr sz="1250" b="0" i="0">
                          <a:solidFill>
                            <a:srgbClr val="000000"/>
                          </a:solidFill>
                          <a:latin typeface="Helvetica Neue"/>
                        </a:rPr>
                        <a:t>1.895</a:t>
                      </a:r>
                    </a:p>
                  </a:txBody>
                  <a:tcPr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50" b="1" i="0">
                          <a:solidFill>
                            <a:srgbClr val="000000"/>
                          </a:solidFill>
                          <a:latin typeface="Helvetica Neue"/>
                        </a:rPr>
                        <a:t>K5 (5 kelas)</a:t>
                      </a:r>
                    </a:p>
                  </a:txBody>
                  <a:tcPr marR="73152" marT="27432" marB="27432" anchor="ctr">
                    <a:solidFill>
                      <a:srgbClr val="FFE9E0"/>
                    </a:solidFill>
                  </a:tcPr>
                </a:tc>
                <a:tc>
                  <a:txBody>
                    <a:bodyPr/>
                    <a:lstStyle/>
                    <a:p>
                      <a:r>
                        <a:rPr sz="1250" b="0" i="0">
                          <a:solidFill>
                            <a:srgbClr val="000000"/>
                          </a:solidFill>
                          <a:latin typeface="Helvetica Neue"/>
                        </a:rPr>
                        <a:t>60</a:t>
                      </a:r>
                    </a:p>
                  </a:txBody>
                  <a:tcPr marR="73152" marT="27432" marB="27432" anchor="ctr">
                    <a:solidFill>
                      <a:srgbClr val="FFE9E0"/>
                    </a:solidFill>
                  </a:tcPr>
                </a:tc>
                <a:tc>
                  <a:txBody>
                    <a:bodyPr/>
                    <a:lstStyle/>
                    <a:p>
                      <a:r>
                        <a:rPr sz="1250" b="0" i="0">
                          <a:solidFill>
                            <a:srgbClr val="000000"/>
                          </a:solidFill>
                          <a:latin typeface="Helvetica Neue"/>
                        </a:rPr>
                        <a:t>35</a:t>
                      </a:r>
                    </a:p>
                  </a:txBody>
                  <a:tcPr marR="73152" marT="27432" marB="27432" anchor="ctr">
                    <a:solidFill>
                      <a:srgbClr val="FFE9E0"/>
                    </a:solidFill>
                  </a:tcPr>
                </a:tc>
                <a:tc>
                  <a:txBody>
                    <a:bodyPr/>
                    <a:lstStyle/>
                    <a:p>
                      <a:pPr algn="r"/>
                      <a:r>
                        <a:rPr sz="1250" b="0" i="0">
                          <a:solidFill>
                            <a:srgbClr val="000000"/>
                          </a:solidFill>
                          <a:latin typeface="Helvetica Neue"/>
                        </a:rPr>
                        <a:t>6,06</a:t>
                      </a:r>
                    </a:p>
                  </a:txBody>
                  <a:tcPr marR="73152" marT="27432" marB="27432" anchor="ctr">
                    <a:solidFill>
                      <a:srgbClr val="FFE9E0"/>
                    </a:solidFill>
                  </a:tcPr>
                </a:tc>
                <a:tc>
                  <a:txBody>
                    <a:bodyPr/>
                    <a:lstStyle/>
                    <a:p>
                      <a:pPr algn="r"/>
                      <a:r>
                        <a:rPr sz="1250" b="0" i="0">
                          <a:solidFill>
                            <a:srgbClr val="000000"/>
                          </a:solidFill>
                          <a:latin typeface="Helvetica Neue"/>
                        </a:rPr>
                        <a:t>0,014</a:t>
                      </a:r>
                    </a:p>
                  </a:txBody>
                  <a:tcPr marR="73152" marT="27432" marB="27432" anchor="ctr">
                    <a:solidFill>
                      <a:srgbClr val="FFE9E0"/>
                    </a:solidFill>
                  </a:tcPr>
                </a:tc>
                <a:tc>
                  <a:txBody>
                    <a:bodyPr/>
                    <a:lstStyle/>
                    <a:p>
                      <a:pPr algn="r"/>
                      <a:r>
                        <a:rPr sz="1250" b="0" i="0">
                          <a:solidFill>
                            <a:srgbClr val="000000"/>
                          </a:solidFill>
                          <a:latin typeface="Helvetica Neue"/>
                        </a:rPr>
                        <a:t>1.790</a:t>
                      </a:r>
                    </a:p>
                  </a:txBody>
                  <a:tcPr marR="73152" marT="27432" marB="27432" anchor="ctr">
                    <a:solidFill>
                      <a:srgbClr val="FFE9E0"/>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402336" y="5440680"/>
            <a:ext cx="11384280" cy="822960"/>
          </a:xfrm>
          <a:prstGeom prst="rect">
            <a:avLst/>
          </a:prstGeom>
          <a:noFill/>
        </p:spPr>
        <p:txBody>
          <a:bodyPr wrap="square">
            <a:spAutoFit/>
          </a:bodyPr>
          <a:lstStyle/>
          <a:p>
            <a:r>
              <a:rPr sz="1450" b="1" i="0">
                <a:solidFill>
                  <a:srgbClr val="000000"/>
                </a:solidFill>
                <a:latin typeface="Helvetica Neue"/>
              </a:rPr>
              <a:t>Dilaporkan apa adanya: bukti terkuat ada di K5.</a:t>
            </a:r>
          </a:p>
          <a:p>
            <a:r>
              <a:rPr sz="1200" b="0" i="0">
                <a:solidFill>
                  <a:srgbClr val="555555"/>
                </a:solidFill>
                <a:latin typeface="Helvetica Neue"/>
              </a:rPr>
              <a:t>K6 searah dan konsisten 5/5 seed pada uji antar-seed (p = 0,024), tetapi pada level sampel belum melewati α = 0,05. Kelas trash yang heterogen — satu-satunya kelas yang F1-nya turun di K6 — menjelaskan selisih ini.</a:t>
            </a:r>
          </a:p>
        </p:txBody>
      </p:sp>
      <p:sp>
        <p:nvSpPr>
          <p:cNvPr id="18"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mengapa memakai uji berpasangan</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Data yang sama dibaca dua cara: rata-rata ± sd, lalu selisih berpasangan per seed.</a:t>
            </a:r>
          </a:p>
        </p:txBody>
      </p:sp>
      <p:pic>
        <p:nvPicPr>
          <p:cNvPr id="4" name="Picture 3" descr="fig_errorbar_vs_paired.png"/>
          <p:cNvPicPr>
            <a:picLocks noChangeAspect="1"/>
          </p:cNvPicPr>
          <p:nvPr/>
        </p:nvPicPr>
        <p:blipFill>
          <a:blip r:embed="rId3"/>
          <a:stretch>
            <a:fillRect/>
          </a:stretch>
        </p:blipFill>
        <p:spPr>
          <a:xfrm>
            <a:off x="1347215" y="1481328"/>
            <a:ext cx="9494520" cy="4069080"/>
          </a:xfrm>
          <a:prstGeom prst="rect">
            <a:avLst/>
          </a:prstGeom>
        </p:spPr>
      </p:pic>
      <p:sp>
        <p:nvSpPr>
          <p:cNvPr id="5" name="TextBox 4"/>
          <p:cNvSpPr txBox="1"/>
          <p:nvPr/>
        </p:nvSpPr>
        <p:spPr>
          <a:xfrm>
            <a:off x="402336" y="5669280"/>
            <a:ext cx="11384280" cy="548640"/>
          </a:xfrm>
          <a:prstGeom prst="rect">
            <a:avLst/>
          </a:prstGeom>
          <a:noFill/>
        </p:spPr>
        <p:txBody>
          <a:bodyPr wrap="square">
            <a:spAutoFit/>
          </a:bodyPr>
          <a:lstStyle/>
          <a:p>
            <a:r>
              <a:rPr sz="1200" b="0" i="0">
                <a:solidFill>
                  <a:srgbClr val="555555"/>
                </a:solidFill>
                <a:latin typeface="Helvetica Neue"/>
              </a:rPr>
              <a:t>Simpangan baku antar-seed (±0,89 pp) berasal dari perbedaan split per seed, bukan dari efek KD. Desain berpasangan menghilangkan sumber variasi itu — karena itulah uji yang dipakai adalah uji berpasangan.</a:t>
            </a:r>
          </a:p>
        </p:txBody>
      </p:sp>
      <p:sp>
        <p:nvSpPr>
          <p:cNvPr id="6"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ablasi: selisih per seed</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Δ akurasi uji terhadap baseline internal masing-masing studi, urut seed 42 / 123 / 777 / 2026 / 3407.</a:t>
            </a:r>
          </a:p>
        </p:txBody>
      </p:sp>
      <p:graphicFrame>
        <p:nvGraphicFramePr>
          <p:cNvPr id="4" name="Table 3"/>
          <p:cNvGraphicFramePr>
            <a:graphicFrameLocks noGrp="1"/>
          </p:cNvGraphicFramePr>
          <p:nvPr/>
        </p:nvGraphicFramePr>
        <p:xfrm>
          <a:off x="402336" y="1783080"/>
          <a:ext cx="11384280" cy="2926080"/>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02336">
                <a:tc>
                  <a:txBody>
                    <a:bodyPr/>
                    <a:lstStyle/>
                    <a:p>
                      <a:r>
                        <a:rPr sz="1150" b="1" i="0">
                          <a:solidFill>
                            <a:srgbClr val="FFFFFF"/>
                          </a:solidFill>
                          <a:latin typeface="Helvetica Neue"/>
                        </a:rPr>
                        <a:t>Varian</a:t>
                      </a:r>
                    </a:p>
                  </a:txBody>
                  <a:tcPr marR="73152" marT="27432" marB="27432" anchor="ctr">
                    <a:solidFill>
                      <a:srgbClr val="000000"/>
                    </a:solidFill>
                  </a:tcPr>
                </a:tc>
                <a:tc>
                  <a:txBody>
                    <a:bodyPr/>
                    <a:lstStyle/>
                    <a:p>
                      <a:r>
                        <a:rPr sz="1150" b="1" i="0">
                          <a:solidFill>
                            <a:srgbClr val="FFFFFF"/>
                          </a:solidFill>
                          <a:latin typeface="Helvetica Neue"/>
                        </a:rPr>
                        <a:t>Δ per seed (pp)</a:t>
                      </a:r>
                    </a:p>
                  </a:txBody>
                  <a:tcPr marR="73152" marT="27432" marB="27432" anchor="ctr">
                    <a:solidFill>
                      <a:srgbClr val="000000"/>
                    </a:solidFill>
                  </a:tcPr>
                </a:tc>
                <a:tc>
                  <a:txBody>
                    <a:bodyPr/>
                    <a:lstStyle/>
                    <a:p>
                      <a:r>
                        <a:rPr sz="1150" b="1" i="0">
                          <a:solidFill>
                            <a:srgbClr val="FFFFFF"/>
                          </a:solidFill>
                          <a:latin typeface="Helvetica Neue"/>
                        </a:rPr>
                        <a:t>Menang</a:t>
                      </a:r>
                    </a:p>
                  </a:txBody>
                  <a:tcPr marR="73152" marT="27432" marB="27432" anchor="ctr">
                    <a:solidFill>
                      <a:srgbClr val="000000"/>
                    </a:solidFill>
                  </a:tcPr>
                </a:tc>
                <a:tc>
                  <a:txBody>
                    <a:bodyPr/>
                    <a:lstStyle/>
                    <a:p>
                      <a:pPr algn="r"/>
                      <a:r>
                        <a:rPr sz="1150" b="1" i="0">
                          <a:solidFill>
                            <a:srgbClr val="FFFFFF"/>
                          </a:solidFill>
                          <a:latin typeface="Helvetica Neue"/>
                        </a:rPr>
                        <a:t>Sifat</a:t>
                      </a:r>
                    </a:p>
                  </a:txBody>
                  <a:tcPr marR="73152" marT="27432" marB="27432" anchor="ctr">
                    <a:solidFill>
                      <a:srgbClr val="000000"/>
                    </a:solidFill>
                  </a:tcPr>
                </a:tc>
                <a:extLst>
                  <a:ext uri="{0D108BD9-81ED-4DB2-BD59-A6C34878D82A}">
                    <a16:rowId xmlns:a16="http://schemas.microsoft.com/office/drawing/2014/main" val="10000"/>
                  </a:ext>
                </a:extLst>
              </a:tr>
              <a:tr h="420624">
                <a:tc>
                  <a:txBody>
                    <a:bodyPr/>
                    <a:lstStyle/>
                    <a:p>
                      <a:r>
                        <a:rPr sz="1250" b="1" i="0">
                          <a:solidFill>
                            <a:srgbClr val="000000"/>
                          </a:solidFill>
                          <a:latin typeface="Helvetica Neue"/>
                        </a:rPr>
                        <a:t>128K  SiLU → ReLU</a:t>
                      </a:r>
                    </a:p>
                  </a:txBody>
                  <a:tcPr marR="73152" marT="27432" marB="27432" anchor="ctr">
                    <a:solidFill>
                      <a:srgbClr val="FFE9E0"/>
                    </a:solidFill>
                  </a:tcPr>
                </a:tc>
                <a:tc>
                  <a:txBody>
                    <a:bodyPr/>
                    <a:lstStyle/>
                    <a:p>
                      <a:r>
                        <a:rPr sz="1250" b="0" i="0">
                          <a:solidFill>
                            <a:srgbClr val="000000"/>
                          </a:solidFill>
                          <a:latin typeface="Helvetica Neue"/>
                        </a:rPr>
                        <a:t>−2,4  ·  −4,7  ·  −5,3  ·  −7,9  ·  −6,3</a:t>
                      </a:r>
                    </a:p>
                  </a:txBody>
                  <a:tcPr marR="73152" marT="27432" marB="27432" anchor="ctr">
                    <a:solidFill>
                      <a:srgbClr val="FFE9E0"/>
                    </a:solidFill>
                  </a:tcPr>
                </a:tc>
                <a:tc>
                  <a:txBody>
                    <a:bodyPr/>
                    <a:lstStyle/>
                    <a:p>
                      <a:r>
                        <a:rPr sz="1250" b="0" i="0">
                          <a:solidFill>
                            <a:srgbClr val="000000"/>
                          </a:solidFill>
                          <a:latin typeface="Helvetica Neue"/>
                        </a:rPr>
                        <a:t>0/5</a:t>
                      </a:r>
                    </a:p>
                  </a:txBody>
                  <a:tcPr marR="73152" marT="27432" marB="27432" anchor="ctr">
                    <a:solidFill>
                      <a:srgbClr val="FFE9E0"/>
                    </a:solidFill>
                  </a:tcPr>
                </a:tc>
                <a:tc>
                  <a:txBody>
                    <a:bodyPr/>
                    <a:lstStyle/>
                    <a:p>
                      <a:pPr algn="r"/>
                      <a:r>
                        <a:rPr sz="1250" b="0" i="0">
                          <a:solidFill>
                            <a:srgbClr val="000000"/>
                          </a:solidFill>
                          <a:latin typeface="Helvetica Neue"/>
                        </a:rPr>
                        <a:t>bebas parameter (bersih)</a:t>
                      </a:r>
                    </a:p>
                  </a:txBody>
                  <a:tcPr marR="73152" marT="27432" marB="27432" anchor="ctr">
                    <a:solidFill>
                      <a:srgbClr val="FFE9E0"/>
                    </a:solidFill>
                  </a:tcPr>
                </a:tc>
                <a:extLst>
                  <a:ext uri="{0D108BD9-81ED-4DB2-BD59-A6C34878D82A}">
                    <a16:rowId xmlns:a16="http://schemas.microsoft.com/office/drawing/2014/main" val="10001"/>
                  </a:ext>
                </a:extLst>
              </a:tr>
              <a:tr h="420624">
                <a:tc>
                  <a:txBody>
                    <a:bodyPr/>
                    <a:lstStyle/>
                    <a:p>
                      <a:r>
                        <a:rPr sz="1250" b="0" i="0">
                          <a:solidFill>
                            <a:srgbClr val="000000"/>
                          </a:solidFill>
                          <a:latin typeface="Helvetica Neue"/>
                        </a:rPr>
                        <a:t>128K  expand 2,0 → 1,0</a:t>
                      </a:r>
                    </a:p>
                  </a:txBody>
                  <a:tcPr marR="73152" marT="27432" marB="27432" anchor="ctr">
                    <a:solidFill>
                      <a:srgbClr val="FFFFFF"/>
                    </a:solidFill>
                  </a:tcPr>
                </a:tc>
                <a:tc>
                  <a:txBody>
                    <a:bodyPr/>
                    <a:lstStyle/>
                    <a:p>
                      <a:r>
                        <a:rPr sz="1250" b="0" i="0">
                          <a:solidFill>
                            <a:srgbClr val="000000"/>
                          </a:solidFill>
                          <a:latin typeface="Helvetica Neue"/>
                        </a:rPr>
                        <a:t>+1,6  ·  −2,6  ·  +2,4  ·  −4,5  ·  +3,2</a:t>
                      </a:r>
                    </a:p>
                  </a:txBody>
                  <a:tcPr marR="73152" marT="27432" marB="27432" anchor="ctr">
                    <a:solidFill>
                      <a:srgbClr val="FFFFFF"/>
                    </a:solidFill>
                  </a:tcPr>
                </a:tc>
                <a:tc>
                  <a:txBody>
                    <a:bodyPr/>
                    <a:lstStyle/>
                    <a:p>
                      <a:r>
                        <a:rPr sz="1250" b="0" i="0">
                          <a:solidFill>
                            <a:srgbClr val="000000"/>
                          </a:solidFill>
                          <a:latin typeface="Helvetica Neue"/>
                        </a:rPr>
                        <a:t>3/5</a:t>
                      </a:r>
                    </a:p>
                  </a:txBody>
                  <a:tcPr marR="73152" marT="27432" marB="27432" anchor="ctr">
                    <a:solidFill>
                      <a:srgbClr val="FFFFFF"/>
                    </a:solidFill>
                  </a:tcPr>
                </a:tc>
                <a:tc>
                  <a:txBody>
                    <a:bodyPr/>
                    <a:lstStyle/>
                    <a:p>
                      <a:pPr algn="r"/>
                      <a:r>
                        <a:rPr sz="1250" b="0" i="0">
                          <a:solidFill>
                            <a:srgbClr val="000000"/>
                          </a:solidFill>
                          <a:latin typeface="Helvetica Neue"/>
                        </a:rPr>
                        <a:t>parameter −82.448</a:t>
                      </a:r>
                    </a:p>
                  </a:txBody>
                  <a:tcPr marR="73152" marT="27432" marB="27432" anchor="ctr">
                    <a:solidFill>
                      <a:srgbClr val="FFFFFF"/>
                    </a:solidFill>
                  </a:tcPr>
                </a:tc>
                <a:extLst>
                  <a:ext uri="{0D108BD9-81ED-4DB2-BD59-A6C34878D82A}">
                    <a16:rowId xmlns:a16="http://schemas.microsoft.com/office/drawing/2014/main" val="10002"/>
                  </a:ext>
                </a:extLst>
              </a:tr>
              <a:tr h="420624">
                <a:tc>
                  <a:txBody>
                    <a:bodyPr/>
                    <a:lstStyle/>
                    <a:p>
                      <a:r>
                        <a:rPr sz="1250" b="0" i="0">
                          <a:solidFill>
                            <a:srgbClr val="000000"/>
                          </a:solidFill>
                          <a:latin typeface="Helvetica Neue"/>
                        </a:rPr>
                        <a:t>128K  tanpa hidden layer</a:t>
                      </a:r>
                    </a:p>
                  </a:txBody>
                  <a:tcPr marR="73152" marT="27432" marB="27432" anchor="ctr">
                    <a:solidFill>
                      <a:srgbClr val="FFFFFF"/>
                    </a:solidFill>
                  </a:tcPr>
                </a:tc>
                <a:tc>
                  <a:txBody>
                    <a:bodyPr/>
                    <a:lstStyle/>
                    <a:p>
                      <a:r>
                        <a:rPr sz="1250" b="0" i="0">
                          <a:solidFill>
                            <a:srgbClr val="000000"/>
                          </a:solidFill>
                          <a:latin typeface="Helvetica Neue"/>
                        </a:rPr>
                        <a:t>−1,1  ·  −1,3  ·  −2,1  ·  −0,3  ·  +2,6</a:t>
                      </a:r>
                    </a:p>
                  </a:txBody>
                  <a:tcPr marR="73152" marT="27432" marB="27432" anchor="ctr">
                    <a:solidFill>
                      <a:srgbClr val="FFFFFF"/>
                    </a:solidFill>
                  </a:tcPr>
                </a:tc>
                <a:tc>
                  <a:txBody>
                    <a:bodyPr/>
                    <a:lstStyle/>
                    <a:p>
                      <a:r>
                        <a:rPr sz="1250" b="0" i="0">
                          <a:solidFill>
                            <a:srgbClr val="000000"/>
                          </a:solidFill>
                          <a:latin typeface="Helvetica Neue"/>
                        </a:rPr>
                        <a:t>1/5</a:t>
                      </a:r>
                    </a:p>
                  </a:txBody>
                  <a:tcPr marR="73152" marT="27432" marB="27432" anchor="ctr">
                    <a:solidFill>
                      <a:srgbClr val="FFFFFF"/>
                    </a:solidFill>
                  </a:tcPr>
                </a:tc>
                <a:tc>
                  <a:txBody>
                    <a:bodyPr/>
                    <a:lstStyle/>
                    <a:p>
                      <a:pPr algn="r"/>
                      <a:r>
                        <a:rPr sz="1250" b="0" i="0">
                          <a:solidFill>
                            <a:srgbClr val="000000"/>
                          </a:solidFill>
                          <a:latin typeface="Helvetica Neue"/>
                        </a:rPr>
                        <a:t>parameter −5.216</a:t>
                      </a:r>
                    </a:p>
                  </a:txBody>
                  <a:tcPr marR="73152" marT="27432" marB="27432" anchor="ctr">
                    <a:solidFill>
                      <a:srgbClr val="FFFFFF"/>
                    </a:solidFill>
                  </a:tcPr>
                </a:tc>
                <a:extLst>
                  <a:ext uri="{0D108BD9-81ED-4DB2-BD59-A6C34878D82A}">
                    <a16:rowId xmlns:a16="http://schemas.microsoft.com/office/drawing/2014/main" val="10003"/>
                  </a:ext>
                </a:extLst>
              </a:tr>
              <a:tr h="420624">
                <a:tc>
                  <a:txBody>
                    <a:bodyPr/>
                    <a:lstStyle/>
                    <a:p>
                      <a:r>
                        <a:rPr sz="1250" b="0" i="0">
                          <a:solidFill>
                            <a:srgbClr val="000000"/>
                          </a:solidFill>
                          <a:latin typeface="Helvetica Neue"/>
                        </a:rPr>
                        <a:t>256K  SiLU → ReLU</a:t>
                      </a:r>
                    </a:p>
                  </a:txBody>
                  <a:tcPr marR="73152" marT="27432" marB="27432" anchor="ctr">
                    <a:solidFill>
                      <a:srgbClr val="FFFFFF"/>
                    </a:solidFill>
                  </a:tcPr>
                </a:tc>
                <a:tc>
                  <a:txBody>
                    <a:bodyPr/>
                    <a:lstStyle/>
                    <a:p>
                      <a:r>
                        <a:rPr sz="1250" b="0" i="0">
                          <a:solidFill>
                            <a:srgbClr val="000000"/>
                          </a:solidFill>
                          <a:latin typeface="Helvetica Neue"/>
                        </a:rPr>
                        <a:t>+5,5  ·  −0,3  ·  −2,4  ·  +3,4  ·  +2,6</a:t>
                      </a:r>
                    </a:p>
                  </a:txBody>
                  <a:tcPr marR="73152" marT="27432" marB="27432" anchor="ctr">
                    <a:solidFill>
                      <a:srgbClr val="FFFFFF"/>
                    </a:solidFill>
                  </a:tcPr>
                </a:tc>
                <a:tc>
                  <a:txBody>
                    <a:bodyPr/>
                    <a:lstStyle/>
                    <a:p>
                      <a:r>
                        <a:rPr sz="1250" b="0" i="0">
                          <a:solidFill>
                            <a:srgbClr val="000000"/>
                          </a:solidFill>
                          <a:latin typeface="Helvetica Neue"/>
                        </a:rPr>
                        <a:t>3/5</a:t>
                      </a:r>
                    </a:p>
                  </a:txBody>
                  <a:tcPr marR="73152" marT="27432" marB="27432" anchor="ctr">
                    <a:solidFill>
                      <a:srgbClr val="FFFFFF"/>
                    </a:solidFill>
                  </a:tcPr>
                </a:tc>
                <a:tc>
                  <a:txBody>
                    <a:bodyPr/>
                    <a:lstStyle/>
                    <a:p>
                      <a:pPr algn="r"/>
                      <a:r>
                        <a:rPr sz="1250" b="0" i="0">
                          <a:solidFill>
                            <a:srgbClr val="000000"/>
                          </a:solidFill>
                          <a:latin typeface="Helvetica Neue"/>
                        </a:rPr>
                        <a:t>bebas parameter (bersih)</a:t>
                      </a:r>
                    </a:p>
                  </a:txBody>
                  <a:tcPr marR="73152" marT="27432" marB="27432" anchor="ctr">
                    <a:solidFill>
                      <a:srgbClr val="FFFFFF"/>
                    </a:solidFill>
                  </a:tcPr>
                </a:tc>
                <a:extLst>
                  <a:ext uri="{0D108BD9-81ED-4DB2-BD59-A6C34878D82A}">
                    <a16:rowId xmlns:a16="http://schemas.microsoft.com/office/drawing/2014/main" val="10004"/>
                  </a:ext>
                </a:extLst>
              </a:tr>
              <a:tr h="420624">
                <a:tc>
                  <a:txBody>
                    <a:bodyPr/>
                    <a:lstStyle/>
                    <a:p>
                      <a:r>
                        <a:rPr sz="1250" b="0" i="0">
                          <a:solidFill>
                            <a:srgbClr val="000000"/>
                          </a:solidFill>
                          <a:latin typeface="Helvetica Neue"/>
                        </a:rPr>
                        <a:t>256K  tanpa residual</a:t>
                      </a:r>
                    </a:p>
                  </a:txBody>
                  <a:tcPr marR="73152" marT="27432" marB="27432" anchor="ctr">
                    <a:solidFill>
                      <a:srgbClr val="FFFFFF"/>
                    </a:solidFill>
                  </a:tcPr>
                </a:tc>
                <a:tc>
                  <a:txBody>
                    <a:bodyPr/>
                    <a:lstStyle/>
                    <a:p>
                      <a:r>
                        <a:rPr sz="1250" b="0" i="0">
                          <a:solidFill>
                            <a:srgbClr val="000000"/>
                          </a:solidFill>
                          <a:latin typeface="Helvetica Neue"/>
                        </a:rPr>
                        <a:t>+1,1  ·  −1,6  ·  −2,6  ·  +0,3  ·  +1,3</a:t>
                      </a:r>
                    </a:p>
                  </a:txBody>
                  <a:tcPr marR="73152" marT="27432" marB="27432" anchor="ctr">
                    <a:solidFill>
                      <a:srgbClr val="FFFFFF"/>
                    </a:solidFill>
                  </a:tcPr>
                </a:tc>
                <a:tc>
                  <a:txBody>
                    <a:bodyPr/>
                    <a:lstStyle/>
                    <a:p>
                      <a:r>
                        <a:rPr sz="1250" b="0" i="0">
                          <a:solidFill>
                            <a:srgbClr val="000000"/>
                          </a:solidFill>
                          <a:latin typeface="Helvetica Neue"/>
                        </a:rPr>
                        <a:t>3/5</a:t>
                      </a:r>
                    </a:p>
                  </a:txBody>
                  <a:tcPr marR="73152" marT="27432" marB="27432" anchor="ctr">
                    <a:solidFill>
                      <a:srgbClr val="FFFFFF"/>
                    </a:solidFill>
                  </a:tcPr>
                </a:tc>
                <a:tc>
                  <a:txBody>
                    <a:bodyPr/>
                    <a:lstStyle/>
                    <a:p>
                      <a:pPr algn="r"/>
                      <a:r>
                        <a:rPr sz="1250" b="0" i="0">
                          <a:solidFill>
                            <a:srgbClr val="000000"/>
                          </a:solidFill>
                          <a:latin typeface="Helvetica Neue"/>
                        </a:rPr>
                        <a:t>bebas parameter (bersih)</a:t>
                      </a:r>
                    </a:p>
                  </a:txBody>
                  <a:tcPr marR="73152" marT="27432" marB="27432" anchor="ctr">
                    <a:solidFill>
                      <a:srgbClr val="FFFFFF"/>
                    </a:solidFill>
                  </a:tcPr>
                </a:tc>
                <a:extLst>
                  <a:ext uri="{0D108BD9-81ED-4DB2-BD59-A6C34878D82A}">
                    <a16:rowId xmlns:a16="http://schemas.microsoft.com/office/drawing/2014/main" val="10005"/>
                  </a:ext>
                </a:extLst>
              </a:tr>
              <a:tr h="420624">
                <a:tc>
                  <a:txBody>
                    <a:bodyPr/>
                    <a:lstStyle/>
                    <a:p>
                      <a:r>
                        <a:rPr sz="1250" b="0" i="0">
                          <a:solidFill>
                            <a:srgbClr val="000000"/>
                          </a:solidFill>
                          <a:latin typeface="Helvetica Neue"/>
                        </a:rPr>
                        <a:t>256K  expand 2,5 → 1,0</a:t>
                      </a:r>
                    </a:p>
                  </a:txBody>
                  <a:tcPr marR="73152" marT="27432" marB="27432" anchor="ctr">
                    <a:solidFill>
                      <a:srgbClr val="FFFFFF"/>
                    </a:solidFill>
                  </a:tcPr>
                </a:tc>
                <a:tc>
                  <a:txBody>
                    <a:bodyPr/>
                    <a:lstStyle/>
                    <a:p>
                      <a:r>
                        <a:rPr sz="1250" b="0" i="0">
                          <a:solidFill>
                            <a:srgbClr val="000000"/>
                          </a:solidFill>
                          <a:latin typeface="Helvetica Neue"/>
                        </a:rPr>
                        <a:t>+1,1  ·  −1,3  ·  −1,1  ·  +0,8  ·  +0,3</a:t>
                      </a:r>
                    </a:p>
                  </a:txBody>
                  <a:tcPr marR="73152" marT="27432" marB="27432" anchor="ctr">
                    <a:solidFill>
                      <a:srgbClr val="FFFFFF"/>
                    </a:solidFill>
                  </a:tcPr>
                </a:tc>
                <a:tc>
                  <a:txBody>
                    <a:bodyPr/>
                    <a:lstStyle/>
                    <a:p>
                      <a:r>
                        <a:rPr sz="1250" b="0" i="0">
                          <a:solidFill>
                            <a:srgbClr val="000000"/>
                          </a:solidFill>
                          <a:latin typeface="Helvetica Neue"/>
                        </a:rPr>
                        <a:t>3/5</a:t>
                      </a:r>
                    </a:p>
                  </a:txBody>
                  <a:tcPr marR="73152" marT="27432" marB="27432" anchor="ctr">
                    <a:solidFill>
                      <a:srgbClr val="FFFFFF"/>
                    </a:solidFill>
                  </a:tcPr>
                </a:tc>
                <a:tc>
                  <a:txBody>
                    <a:bodyPr/>
                    <a:lstStyle/>
                    <a:p>
                      <a:pPr algn="r"/>
                      <a:r>
                        <a:rPr sz="1250" b="0" i="0">
                          <a:solidFill>
                            <a:srgbClr val="000000"/>
                          </a:solidFill>
                          <a:latin typeface="Helvetica Neue"/>
                        </a:rPr>
                        <a:t>parameter −191.796</a:t>
                      </a:r>
                    </a:p>
                  </a:txBody>
                  <a:tcPr marR="73152"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02336" y="5074920"/>
            <a:ext cx="11384280" cy="1097280"/>
          </a:xfrm>
          <a:prstGeom prst="rect">
            <a:avLst/>
          </a:prstGeom>
          <a:noFill/>
        </p:spPr>
        <p:txBody>
          <a:bodyPr wrap="square">
            <a:spAutoFit/>
          </a:bodyPr>
          <a:lstStyle/>
          <a:p>
            <a:r>
              <a:rPr sz="1450" b="1" i="0">
                <a:solidFill>
                  <a:srgbClr val="000000"/>
                </a:solidFill>
                <a:latin typeface="Helvetica Neue"/>
              </a:rPr>
              <a:t>Hanya ReLU pada 128K yang konsisten: kalah di seluruh seed.</a:t>
            </a:r>
          </a:p>
          <a:p>
            <a:r>
              <a:rPr sz="1200" b="0" i="0">
                <a:solidFill>
                  <a:srgbClr val="555555"/>
                </a:solidFill>
                <a:latin typeface="Helvetica Neue"/>
              </a:rPr>
              <a:t>Varian expand dan hidden-layer mengubah jumlah parameter, sehingga efeknya rancu antara komponen dan kapasitas mentah — jumlah parameter selalu dilaporkan berdampingan. Aktivasi dan residual bebas parameter, jadi perbandingannya bersih. Residual tidak diablasi pada 128K karena di sana tidak ada koneksi residual yang aktif.</a:t>
            </a:r>
          </a:p>
        </p:txBody>
      </p:sp>
      <p:sp>
        <p:nvSpPr>
          <p:cNvPr id="6"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arsitektur dan efisiensi WasteNet</a:t>
            </a:r>
          </a:p>
        </p:txBody>
      </p:sp>
      <p:sp>
        <p:nvSpPr>
          <p:cNvPr id="3" name="Rectangle 2"/>
          <p:cNvSpPr/>
          <p:nvPr/>
        </p:nvSpPr>
        <p:spPr>
          <a:xfrm>
            <a:off x="402336" y="1234440"/>
            <a:ext cx="5532120" cy="233172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67512" y="1481328"/>
            <a:ext cx="4983480" cy="365760"/>
          </a:xfrm>
          <a:prstGeom prst="rect">
            <a:avLst/>
          </a:prstGeom>
          <a:noFill/>
        </p:spPr>
        <p:txBody>
          <a:bodyPr wrap="square">
            <a:spAutoFit/>
          </a:bodyPr>
          <a:lstStyle/>
          <a:p>
            <a:r>
              <a:rPr sz="1550" b="1" i="0">
                <a:solidFill>
                  <a:srgbClr val="000000"/>
                </a:solidFill>
                <a:latin typeface="Helvetica Neue"/>
              </a:rPr>
              <a:t>Susunan arsitektur</a:t>
            </a:r>
          </a:p>
        </p:txBody>
      </p:sp>
      <p:sp>
        <p:nvSpPr>
          <p:cNvPr id="5" name="TextBox 4"/>
          <p:cNvSpPr txBox="1"/>
          <p:nvPr/>
        </p:nvSpPr>
        <p:spPr>
          <a:xfrm>
            <a:off x="667512" y="1901952"/>
            <a:ext cx="4983480" cy="1554480"/>
          </a:xfrm>
          <a:prstGeom prst="rect">
            <a:avLst/>
          </a:prstGeom>
          <a:noFill/>
        </p:spPr>
        <p:txBody>
          <a:bodyPr wrap="square">
            <a:spAutoFit/>
          </a:bodyPr>
          <a:lstStyle/>
          <a:p>
            <a:r>
              <a:rPr sz="1200" b="0" i="0">
                <a:solidFill>
                  <a:srgbClr val="555555"/>
                </a:solidFill>
                <a:latin typeface="Helvetica Neue"/>
              </a:rPr>
              <a:t>CNN ringan yang disusun dari blok depthwise-separable dan inverted residual, mengadopsi prinsip efisiensi MobileNet dan EfficientNet. Kernel yang dipakai hanya 3×3 untuk konvolusi spasial (stem dan depthwise) serta 1×1 untuk pencampuran antar-kanal (expand dan project). Dua varian: 128K dan 256K.</a:t>
            </a:r>
          </a:p>
        </p:txBody>
      </p:sp>
      <p:sp>
        <p:nvSpPr>
          <p:cNvPr id="6" name="Rectangle 5"/>
          <p:cNvSpPr/>
          <p:nvPr/>
        </p:nvSpPr>
        <p:spPr>
          <a:xfrm>
            <a:off x="6291072" y="1234440"/>
            <a:ext cx="5495544" cy="233172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56248" y="1481328"/>
            <a:ext cx="4983480" cy="365760"/>
          </a:xfrm>
          <a:prstGeom prst="rect">
            <a:avLst/>
          </a:prstGeom>
          <a:noFill/>
        </p:spPr>
        <p:txBody>
          <a:bodyPr wrap="square">
            <a:spAutoFit/>
          </a:bodyPr>
          <a:lstStyle/>
          <a:p>
            <a:r>
              <a:rPr sz="1550" b="1" i="0">
                <a:solidFill>
                  <a:srgbClr val="000000"/>
                </a:solidFill>
                <a:latin typeface="Helvetica Neue"/>
              </a:rPr>
              <a:t>Kejelasan nama</a:t>
            </a:r>
          </a:p>
        </p:txBody>
      </p:sp>
      <p:sp>
        <p:nvSpPr>
          <p:cNvPr id="8" name="TextBox 7"/>
          <p:cNvSpPr txBox="1"/>
          <p:nvPr/>
        </p:nvSpPr>
        <p:spPr>
          <a:xfrm>
            <a:off x="6556248" y="1901952"/>
            <a:ext cx="4983480" cy="1554480"/>
          </a:xfrm>
          <a:prstGeom prst="rect">
            <a:avLst/>
          </a:prstGeom>
          <a:noFill/>
        </p:spPr>
        <p:txBody>
          <a:bodyPr wrap="square">
            <a:spAutoFit/>
          </a:bodyPr>
          <a:lstStyle/>
          <a:p>
            <a:r>
              <a:rPr sz="1200" b="0" i="0">
                <a:solidFill>
                  <a:srgbClr val="555555"/>
                </a:solidFill>
                <a:latin typeface="Helvetica Neue"/>
              </a:rPr>
              <a:t>Nama “WasteNet” juga dipakai White dkk. (2020) untuk model berbasis DenseNet dengan puluhan juta parameter — model yang berbeda, hanya kebetulan senama. Tidak ada publikasi yang memakai penamaan WasteNet-128K/-256K.</a:t>
            </a:r>
          </a:p>
        </p:txBody>
      </p:sp>
      <p:graphicFrame>
        <p:nvGraphicFramePr>
          <p:cNvPr id="9" name="Table 8"/>
          <p:cNvGraphicFramePr>
            <a:graphicFrameLocks noGrp="1"/>
          </p:cNvGraphicFramePr>
          <p:nvPr/>
        </p:nvGraphicFramePr>
        <p:xfrm>
          <a:off x="402336" y="3931920"/>
          <a:ext cx="11384280" cy="1609344"/>
        </p:xfrm>
        <a:graphic>
          <a:graphicData uri="http://schemas.openxmlformats.org/drawingml/2006/table">
            <a:tbl>
              <a:tblPr>
                <a:tableStyleId>{5C22544A-7EE6-4342-B048-85BDC9FD1C3A}</a:tableStyleId>
              </a:tblPr>
              <a:tblGrid>
                <a:gridCol w="37947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02336">
                <a:tc>
                  <a:txBody>
                    <a:bodyPr/>
                    <a:lstStyle/>
                    <a:p>
                      <a:r>
                        <a:rPr sz="1150" b="1" i="0">
                          <a:solidFill>
                            <a:srgbClr val="FFFFFF"/>
                          </a:solidFill>
                          <a:latin typeface="Helvetica Neue"/>
                        </a:rPr>
                        <a:t>Model</a:t>
                      </a:r>
                    </a:p>
                  </a:txBody>
                  <a:tcPr marR="73152" marT="27432" marB="27432" anchor="ctr">
                    <a:solidFill>
                      <a:srgbClr val="000000"/>
                    </a:solidFill>
                  </a:tcPr>
                </a:tc>
                <a:tc>
                  <a:txBody>
                    <a:bodyPr/>
                    <a:lstStyle/>
                    <a:p>
                      <a:r>
                        <a:rPr sz="1150" b="1" i="0">
                          <a:solidFill>
                            <a:srgbClr val="FFFFFF"/>
                          </a:solidFill>
                          <a:latin typeface="Helvetica Neue"/>
                        </a:rPr>
                        <a:t>Parameter</a:t>
                      </a:r>
                    </a:p>
                  </a:txBody>
                  <a:tcPr marR="73152" marT="27432" marB="27432" anchor="ctr">
                    <a:solidFill>
                      <a:srgbClr val="000000"/>
                    </a:solidFill>
                  </a:tcPr>
                </a:tc>
                <a:tc>
                  <a:txBody>
                    <a:bodyPr/>
                    <a:lstStyle/>
                    <a:p>
                      <a:r>
                        <a:rPr sz="1150" b="1" i="0">
                          <a:solidFill>
                            <a:srgbClr val="FFFFFF"/>
                          </a:solidFill>
                          <a:latin typeface="Helvetica Neue"/>
                        </a:rPr>
                        <a:t>MACs @160×160</a:t>
                      </a:r>
                    </a:p>
                  </a:txBody>
                  <a:tcPr marR="73152" marT="27432" marB="27432" anchor="ctr">
                    <a:solidFill>
                      <a:srgbClr val="000000"/>
                    </a:solidFill>
                  </a:tcPr>
                </a:tc>
                <a:tc>
                  <a:txBody>
                    <a:bodyPr/>
                    <a:lstStyle/>
                    <a:p>
                      <a:pPr algn="r"/>
                      <a:r>
                        <a:rPr sz="1150" b="1" i="0">
                          <a:solidFill>
                            <a:srgbClr val="FFFFFF"/>
                          </a:solidFill>
                          <a:latin typeface="Helvetica Neue"/>
                        </a:rPr>
                        <a:t>FLOPs</a:t>
                      </a:r>
                    </a:p>
                  </a:txBody>
                  <a:tcPr marR="73152" marT="27432" marB="27432" anchor="ctr">
                    <a:solidFill>
                      <a:srgbClr val="000000"/>
                    </a:solidFill>
                  </a:tcPr>
                </a:tc>
                <a:tc>
                  <a:txBody>
                    <a:bodyPr/>
                    <a:lstStyle/>
                    <a:p>
                      <a:pPr algn="r"/>
                      <a:r>
                        <a:rPr sz="1150" b="1" i="0">
                          <a:solidFill>
                            <a:srgbClr val="FFFFFF"/>
                          </a:solidFill>
                          <a:latin typeface="Helvetica Neue"/>
                        </a:rPr>
                        <a:t>Akurasi K6</a:t>
                      </a:r>
                    </a:p>
                  </a:txBody>
                  <a:tcPr marR="73152" marT="27432" marB="27432" anchor="ctr">
                    <a:solidFill>
                      <a:srgbClr val="000000"/>
                    </a:solidFill>
                  </a:tcPr>
                </a:tc>
                <a:extLst>
                  <a:ext uri="{0D108BD9-81ED-4DB2-BD59-A6C34878D82A}">
                    <a16:rowId xmlns:a16="http://schemas.microsoft.com/office/drawing/2014/main" val="10000"/>
                  </a:ext>
                </a:extLst>
              </a:tr>
              <a:tr h="402336">
                <a:tc>
                  <a:txBody>
                    <a:bodyPr/>
                    <a:lstStyle/>
                    <a:p>
                      <a:r>
                        <a:rPr sz="1250" b="0" i="0">
                          <a:solidFill>
                            <a:srgbClr val="000000"/>
                          </a:solidFill>
                          <a:latin typeface="Helvetica Neue"/>
                        </a:rPr>
                        <a:t>WasteNet-128K</a:t>
                      </a:r>
                    </a:p>
                  </a:txBody>
                  <a:tcPr marR="73152" marT="27432" marB="27432" anchor="ctr">
                    <a:solidFill>
                      <a:srgbClr val="FFFFFF"/>
                    </a:solidFill>
                  </a:tcPr>
                </a:tc>
                <a:tc>
                  <a:txBody>
                    <a:bodyPr/>
                    <a:lstStyle/>
                    <a:p>
                      <a:r>
                        <a:rPr sz="1250" b="0" i="0">
                          <a:solidFill>
                            <a:srgbClr val="000000"/>
                          </a:solidFill>
                          <a:latin typeface="Helvetica Neue"/>
                        </a:rPr>
                        <a:t>128.086</a:t>
                      </a:r>
                    </a:p>
                  </a:txBody>
                  <a:tcPr marR="73152" marT="27432" marB="27432" anchor="ctr">
                    <a:solidFill>
                      <a:srgbClr val="FFFFFF"/>
                    </a:solidFill>
                  </a:tcPr>
                </a:tc>
                <a:tc>
                  <a:txBody>
                    <a:bodyPr/>
                    <a:lstStyle/>
                    <a:p>
                      <a:r>
                        <a:rPr sz="1250" b="0" i="0">
                          <a:solidFill>
                            <a:srgbClr val="000000"/>
                          </a:solidFill>
                          <a:latin typeface="Helvetica Neue"/>
                        </a:rPr>
                        <a:t>≈ 25,6 juta</a:t>
                      </a:r>
                    </a:p>
                  </a:txBody>
                  <a:tcPr marR="73152" marT="27432" marB="27432" anchor="ctr">
                    <a:solidFill>
                      <a:srgbClr val="FFFFFF"/>
                    </a:solidFill>
                  </a:tcPr>
                </a:tc>
                <a:tc>
                  <a:txBody>
                    <a:bodyPr/>
                    <a:lstStyle/>
                    <a:p>
                      <a:pPr algn="r"/>
                      <a:r>
                        <a:rPr sz="1250" b="0" i="0">
                          <a:solidFill>
                            <a:srgbClr val="000000"/>
                          </a:solidFill>
                          <a:latin typeface="Helvetica Neue"/>
                        </a:rPr>
                        <a:t>≈ 51 juta</a:t>
                      </a:r>
                    </a:p>
                  </a:txBody>
                  <a:tcPr marR="73152" marT="27432" marB="27432" anchor="ctr">
                    <a:solidFill>
                      <a:srgbClr val="FFFFFF"/>
                    </a:solidFill>
                  </a:tcPr>
                </a:tc>
                <a:tc>
                  <a:txBody>
                    <a:bodyPr/>
                    <a:lstStyle/>
                    <a:p>
                      <a:pPr algn="r"/>
                      <a:r>
                        <a:rPr sz="1250" b="0" i="0">
                          <a:solidFill>
                            <a:srgbClr val="000000"/>
                          </a:solidFill>
                          <a:latin typeface="Helvetica Neue"/>
                        </a:rPr>
                        <a:t>0,7652</a:t>
                      </a:r>
                    </a:p>
                  </a:txBody>
                  <a:tcPr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50" b="1" i="0">
                          <a:solidFill>
                            <a:srgbClr val="000000"/>
                          </a:solidFill>
                          <a:latin typeface="Helvetica Neue"/>
                        </a:rPr>
                        <a:t>WasteNet-256K</a:t>
                      </a:r>
                    </a:p>
                  </a:txBody>
                  <a:tcPr marR="73152" marT="27432" marB="27432" anchor="ctr">
                    <a:solidFill>
                      <a:srgbClr val="FFE9E0"/>
                    </a:solidFill>
                  </a:tcPr>
                </a:tc>
                <a:tc>
                  <a:txBody>
                    <a:bodyPr/>
                    <a:lstStyle/>
                    <a:p>
                      <a:r>
                        <a:rPr sz="1250" b="0" i="0">
                          <a:solidFill>
                            <a:srgbClr val="000000"/>
                          </a:solidFill>
                          <a:latin typeface="Helvetica Neue"/>
                        </a:rPr>
                        <a:t>256.002</a:t>
                      </a:r>
                    </a:p>
                  </a:txBody>
                  <a:tcPr marR="73152" marT="27432" marB="27432" anchor="ctr">
                    <a:solidFill>
                      <a:srgbClr val="FFE9E0"/>
                    </a:solidFill>
                  </a:tcPr>
                </a:tc>
                <a:tc>
                  <a:txBody>
                    <a:bodyPr/>
                    <a:lstStyle/>
                    <a:p>
                      <a:r>
                        <a:rPr sz="1250" b="0" i="0">
                          <a:solidFill>
                            <a:srgbClr val="000000"/>
                          </a:solidFill>
                          <a:latin typeface="Helvetica Neue"/>
                        </a:rPr>
                        <a:t>≈ 41,8 juta</a:t>
                      </a:r>
                    </a:p>
                  </a:txBody>
                  <a:tcPr marR="73152" marT="27432" marB="27432" anchor="ctr">
                    <a:solidFill>
                      <a:srgbClr val="FFE9E0"/>
                    </a:solidFill>
                  </a:tcPr>
                </a:tc>
                <a:tc>
                  <a:txBody>
                    <a:bodyPr/>
                    <a:lstStyle/>
                    <a:p>
                      <a:pPr algn="r"/>
                      <a:r>
                        <a:rPr sz="1250" b="0" i="0">
                          <a:solidFill>
                            <a:srgbClr val="000000"/>
                          </a:solidFill>
                          <a:latin typeface="Helvetica Neue"/>
                        </a:rPr>
                        <a:t>≈ 84 juta</a:t>
                      </a:r>
                    </a:p>
                  </a:txBody>
                  <a:tcPr marR="73152" marT="27432" marB="27432" anchor="ctr">
                    <a:solidFill>
                      <a:srgbClr val="FFE9E0"/>
                    </a:solidFill>
                  </a:tcPr>
                </a:tc>
                <a:tc>
                  <a:txBody>
                    <a:bodyPr/>
                    <a:lstStyle/>
                    <a:p>
                      <a:pPr algn="r"/>
                      <a:r>
                        <a:rPr sz="1250" b="0" i="0">
                          <a:solidFill>
                            <a:srgbClr val="000000"/>
                          </a:solidFill>
                          <a:latin typeface="Helvetica Neue"/>
                        </a:rPr>
                        <a:t>0,7873 (R8)</a:t>
                      </a:r>
                    </a:p>
                  </a:txBody>
                  <a:tcPr marR="73152" marT="27432" marB="27432" anchor="ctr">
                    <a:solidFill>
                      <a:srgbClr val="FFE9E0"/>
                    </a:solidFill>
                  </a:tcPr>
                </a:tc>
                <a:extLst>
                  <a:ext uri="{0D108BD9-81ED-4DB2-BD59-A6C34878D82A}">
                    <a16:rowId xmlns:a16="http://schemas.microsoft.com/office/drawing/2014/main" val="10002"/>
                  </a:ext>
                </a:extLst>
              </a:tr>
              <a:tr h="402336">
                <a:tc>
                  <a:txBody>
                    <a:bodyPr/>
                    <a:lstStyle/>
                    <a:p>
                      <a:r>
                        <a:rPr sz="1250" b="0" i="0">
                          <a:solidFill>
                            <a:srgbClr val="000000"/>
                          </a:solidFill>
                          <a:latin typeface="Helvetica Neue"/>
                        </a:rPr>
                        <a:t>Focus-RCNet (Zheng dkk., 2023)</a:t>
                      </a:r>
                    </a:p>
                  </a:txBody>
                  <a:tcPr marR="73152" marT="27432" marB="27432" anchor="ctr">
                    <a:solidFill>
                      <a:srgbClr val="FFFFFF"/>
                    </a:solidFill>
                  </a:tcPr>
                </a:tc>
                <a:tc>
                  <a:txBody>
                    <a:bodyPr/>
                    <a:lstStyle/>
                    <a:p>
                      <a:r>
                        <a:rPr sz="1250" b="0" i="0">
                          <a:solidFill>
                            <a:srgbClr val="000000"/>
                          </a:solidFill>
                          <a:latin typeface="Helvetica Neue"/>
                        </a:rPr>
                        <a:t>525.802</a:t>
                      </a:r>
                    </a:p>
                  </a:txBody>
                  <a:tcPr marR="73152" marT="27432" marB="27432" anchor="ctr">
                    <a:solidFill>
                      <a:srgbClr val="FFFFFF"/>
                    </a:solidFill>
                  </a:tcPr>
                </a:tc>
                <a:tc>
                  <a:txBody>
                    <a:bodyPr/>
                    <a:lstStyle/>
                    <a:p>
                      <a:r>
                        <a:rPr sz="1250" b="0" i="0">
                          <a:solidFill>
                            <a:srgbClr val="000000"/>
                          </a:solidFill>
                          <a:latin typeface="Helvetica Neue"/>
                        </a:rPr>
                        <a:t>—</a:t>
                      </a:r>
                    </a:p>
                  </a:txBody>
                  <a:tcPr marR="73152" marT="27432" marB="27432" anchor="ctr">
                    <a:solidFill>
                      <a:srgbClr val="FFFFFF"/>
                    </a:solidFill>
                  </a:tcPr>
                </a:tc>
                <a:tc>
                  <a:txBody>
                    <a:bodyPr/>
                    <a:lstStyle/>
                    <a:p>
                      <a:pPr algn="r"/>
                      <a:r>
                        <a:rPr sz="1250" b="0" i="0">
                          <a:solidFill>
                            <a:srgbClr val="000000"/>
                          </a:solidFill>
                          <a:latin typeface="Helvetica Neue"/>
                        </a:rPr>
                        <a:t>≈ 419 juta</a:t>
                      </a:r>
                    </a:p>
                  </a:txBody>
                  <a:tcPr marR="73152" marT="27432" marB="27432" anchor="ctr">
                    <a:solidFill>
                      <a:srgbClr val="FFFFFF"/>
                    </a:solidFill>
                  </a:tcPr>
                </a:tc>
                <a:tc>
                  <a:txBody>
                    <a:bodyPr/>
                    <a:lstStyle/>
                    <a:p>
                      <a:pPr algn="r"/>
                      <a:r>
                        <a:rPr sz="1250" b="0" i="0">
                          <a:solidFill>
                            <a:srgbClr val="000000"/>
                          </a:solidFill>
                          <a:latin typeface="Helvetica Neue"/>
                        </a:rPr>
                        <a:t>0,8507 *</a:t>
                      </a:r>
                    </a:p>
                  </a:txBody>
                  <a:tcPr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402336" y="5532120"/>
            <a:ext cx="11384280" cy="914400"/>
          </a:xfrm>
          <a:prstGeom prst="rect">
            <a:avLst/>
          </a:prstGeom>
          <a:noFill/>
        </p:spPr>
        <p:txBody>
          <a:bodyPr wrap="square">
            <a:spAutoFit/>
          </a:bodyPr>
          <a:lstStyle/>
          <a:p>
            <a:r>
              <a:rPr sz="1450" b="1" i="0">
                <a:solidFill>
                  <a:srgbClr val="000000"/>
                </a:solidFill>
                <a:latin typeface="Helvetica Neue"/>
              </a:rPr>
              <a:t>WasteNet-256K ≈ separuh parameter dan ≈5× lebih sedikit FLOPs daripada Focus-RCNet.</a:t>
            </a:r>
          </a:p>
          <a:p>
            <a:r>
              <a:rPr sz="1200" b="0" i="0">
                <a:solidFill>
                  <a:srgbClr val="555555"/>
                </a:solidFill>
                <a:latin typeface="Helvetica Neue"/>
              </a:rPr>
              <a:t>Jumlah parameter = bobot yang dipelajari + bias + parameter γ dan β pada BatchNorm; fungsi aktivasi dan koneksi residual tidak menambah parameter.</a:t>
            </a:r>
          </a:p>
          <a:p>
            <a:r>
              <a:rPr sz="1200" b="0" i="0">
                <a:solidFill>
                  <a:srgbClr val="555555"/>
                </a:solidFill>
                <a:latin typeface="Helvetica Neue"/>
              </a:rPr>
              <a:t>*  Angka Focus-RCNet adalah hasil reimplementasi pada protokol ini; penulis aslinya melaporkan 0,92 dengan protokol dan augmentasi yang berbeda.</a:t>
            </a:r>
          </a:p>
        </p:txBody>
      </p:sp>
      <p:sp>
        <p:nvSpPr>
          <p:cNvPr id="11"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protokol validasi silang berulang</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Menjawab usulan penambahan k-fold cross validation.</a:t>
            </a:r>
          </a:p>
        </p:txBody>
      </p:sp>
      <p:sp>
        <p:nvSpPr>
          <p:cNvPr id="4" name="marker"/>
          <p:cNvSpPr/>
          <p:nvPr/>
        </p:nvSpPr>
        <p:spPr>
          <a:xfrm>
            <a:off x="402336" y="1746504"/>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673352"/>
            <a:ext cx="10881360" cy="365760"/>
          </a:xfrm>
          <a:prstGeom prst="rect">
            <a:avLst/>
          </a:prstGeom>
          <a:noFill/>
        </p:spPr>
        <p:txBody>
          <a:bodyPr wrap="square">
            <a:spAutoFit/>
          </a:bodyPr>
          <a:lstStyle/>
          <a:p>
            <a:r>
              <a:rPr sz="1700" b="1" i="0">
                <a:solidFill>
                  <a:srgbClr val="000000"/>
                </a:solidFill>
                <a:latin typeface="Helvetica Neue"/>
              </a:rPr>
              <a:t>Yang dijalankan</a:t>
            </a:r>
          </a:p>
        </p:txBody>
      </p:sp>
      <p:sp>
        <p:nvSpPr>
          <p:cNvPr id="6" name="TextBox 5"/>
          <p:cNvSpPr txBox="1"/>
          <p:nvPr/>
        </p:nvSpPr>
        <p:spPr>
          <a:xfrm>
            <a:off x="877824" y="2075688"/>
            <a:ext cx="10881360" cy="1005840"/>
          </a:xfrm>
          <a:prstGeom prst="rect">
            <a:avLst/>
          </a:prstGeom>
          <a:noFill/>
        </p:spPr>
        <p:txBody>
          <a:bodyPr wrap="square">
            <a:spAutoFit/>
          </a:bodyPr>
          <a:lstStyle/>
          <a:p>
            <a:r>
              <a:rPr sz="1350" b="0" i="0">
                <a:solidFill>
                  <a:srgbClr val="555555"/>
                </a:solidFill>
                <a:latin typeface="Helvetica Neue"/>
              </a:rPr>
              <a:t>5× hold-out berulang bertingkat 70/15/15 — 1.764 latih / 378 validasi / 379 uji dari 2.521 citra — dengan pemisahan yang BERBEDA pada setiap seed (42, 123, 777, 2026, 3407). Ini adalah repeated / Monte-Carlo cross validation.</a:t>
            </a:r>
          </a:p>
        </p:txBody>
      </p:sp>
      <p:sp>
        <p:nvSpPr>
          <p:cNvPr id="7" name="marker"/>
          <p:cNvSpPr/>
          <p:nvPr/>
        </p:nvSpPr>
        <p:spPr>
          <a:xfrm>
            <a:off x="402336" y="3227832"/>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3154680"/>
            <a:ext cx="10881360" cy="365760"/>
          </a:xfrm>
          <a:prstGeom prst="rect">
            <a:avLst/>
          </a:prstGeom>
          <a:noFill/>
        </p:spPr>
        <p:txBody>
          <a:bodyPr wrap="square">
            <a:spAutoFit/>
          </a:bodyPr>
          <a:lstStyle/>
          <a:p>
            <a:r>
              <a:rPr sz="1700" b="1" i="0">
                <a:solidFill>
                  <a:srgbClr val="000000"/>
                </a:solidFill>
                <a:latin typeface="Helvetica Neue"/>
              </a:rPr>
              <a:t>Mengapa itu memadai</a:t>
            </a:r>
          </a:p>
        </p:txBody>
      </p:sp>
      <p:sp>
        <p:nvSpPr>
          <p:cNvPr id="9" name="TextBox 8"/>
          <p:cNvSpPr txBox="1"/>
          <p:nvPr/>
        </p:nvSpPr>
        <p:spPr>
          <a:xfrm>
            <a:off x="877824" y="3557016"/>
            <a:ext cx="10881360" cy="1005840"/>
          </a:xfrm>
          <a:prstGeom prst="rect">
            <a:avLst/>
          </a:prstGeom>
          <a:noFill/>
        </p:spPr>
        <p:txBody>
          <a:bodyPr wrap="square">
            <a:spAutoFit/>
          </a:bodyPr>
          <a:lstStyle/>
          <a:p>
            <a:r>
              <a:rPr sz="1350" b="0" i="0">
                <a:solidFill>
                  <a:srgbClr val="555555"/>
                </a:solidFill>
                <a:latin typeface="Helvetica Neue"/>
              </a:rPr>
              <a:t>Manfaat inti k-fold adalah estimasi yang tidak bergantung pada satu pemisahan yang kebetulan menguntungkan. Protokol ini sudah memberikan manfaat tersebut, dengan lima partisi independen.</a:t>
            </a:r>
          </a:p>
        </p:txBody>
      </p:sp>
      <p:sp>
        <p:nvSpPr>
          <p:cNvPr id="10" name="marker"/>
          <p:cNvSpPr/>
          <p:nvPr/>
        </p:nvSpPr>
        <p:spPr>
          <a:xfrm>
            <a:off x="402336" y="4709159"/>
            <a:ext cx="265176" cy="265176"/>
          </a:xfrm>
          <a:prstGeom prst="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4636008"/>
            <a:ext cx="10881360" cy="365760"/>
          </a:xfrm>
          <a:prstGeom prst="rect">
            <a:avLst/>
          </a:prstGeom>
          <a:noFill/>
        </p:spPr>
        <p:txBody>
          <a:bodyPr wrap="square">
            <a:spAutoFit/>
          </a:bodyPr>
          <a:lstStyle/>
          <a:p>
            <a:r>
              <a:rPr sz="1700" b="1" i="0">
                <a:solidFill>
                  <a:srgbClr val="000000"/>
                </a:solidFill>
                <a:latin typeface="Helvetica Neue"/>
              </a:rPr>
              <a:t>Dukungan metodologis</a:t>
            </a:r>
          </a:p>
        </p:txBody>
      </p:sp>
      <p:sp>
        <p:nvSpPr>
          <p:cNvPr id="12" name="TextBox 11"/>
          <p:cNvSpPr txBox="1"/>
          <p:nvPr/>
        </p:nvSpPr>
        <p:spPr>
          <a:xfrm>
            <a:off x="877824" y="5038344"/>
            <a:ext cx="10881360" cy="1005840"/>
          </a:xfrm>
          <a:prstGeom prst="rect">
            <a:avLst/>
          </a:prstGeom>
          <a:noFill/>
        </p:spPr>
        <p:txBody>
          <a:bodyPr wrap="square">
            <a:spAutoFit/>
          </a:bodyPr>
          <a:lstStyle/>
          <a:p>
            <a:r>
              <a:rPr sz="1350" b="0" i="0">
                <a:solidFill>
                  <a:srgbClr val="555555"/>
                </a:solidFill>
                <a:latin typeface="Helvetica Neue"/>
              </a:rPr>
              <a:t>Dietterich (1998) — yang disitasi di dalam skripsi — justru memperingatkan bahwa k-fold yang dipadukan paired t-test memiliki Type I error yang meningkat, dan menganjurkan McNemar atau 5×2cv. Penelitian ini memakai keduanya: uji antar-seed dan McNemar per sampel.</a:t>
            </a:r>
          </a:p>
        </p:txBody>
      </p:sp>
      <p:sp>
        <p:nvSpPr>
          <p:cNvPr id="13"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capacity gap pada skema 5 kelas</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Pengulangan analisis yang sama pada ruang label K5 sebagai uji ketahanan.</a:t>
            </a:r>
          </a:p>
        </p:txBody>
      </p:sp>
      <p:pic>
        <p:nvPicPr>
          <p:cNvPr id="4" name="Picture 3" descr="fig_paired_kontras_K5.png"/>
          <p:cNvPicPr>
            <a:picLocks noChangeAspect="1"/>
          </p:cNvPicPr>
          <p:nvPr/>
        </p:nvPicPr>
        <p:blipFill>
          <a:blip r:embed="rId3"/>
          <a:stretch>
            <a:fillRect/>
          </a:stretch>
        </p:blipFill>
        <p:spPr>
          <a:xfrm>
            <a:off x="402336" y="1600200"/>
            <a:ext cx="11384280" cy="3534067"/>
          </a:xfrm>
          <a:prstGeom prst="rect">
            <a:avLst/>
          </a:prstGeom>
        </p:spPr>
      </p:pic>
      <p:sp>
        <p:nvSpPr>
          <p:cNvPr id="5" name="TextBox 4"/>
          <p:cNvSpPr txBox="1"/>
          <p:nvPr/>
        </p:nvSpPr>
        <p:spPr>
          <a:xfrm>
            <a:off x="402336" y="5532120"/>
            <a:ext cx="11384280" cy="822960"/>
          </a:xfrm>
          <a:prstGeom prst="rect">
            <a:avLst/>
          </a:prstGeom>
          <a:noFill/>
        </p:spPr>
        <p:txBody>
          <a:bodyPr wrap="square">
            <a:spAutoFit/>
          </a:bodyPr>
          <a:lstStyle/>
          <a:p>
            <a:r>
              <a:rPr sz="1500" b="1" i="0">
                <a:solidFill>
                  <a:srgbClr val="000000"/>
                </a:solidFill>
                <a:latin typeface="Helvetica Neue"/>
              </a:rPr>
              <a:t>Pola yang sama berulang: hanya asisten menengah yang unggul 5/5 seed.</a:t>
            </a:r>
          </a:p>
          <a:p>
            <a:r>
              <a:rPr sz="1200" b="0" i="0">
                <a:solidFill>
                  <a:srgbClr val="555555"/>
                </a:solidFill>
                <a:latin typeface="Helvetica Neue"/>
              </a:rPr>
              <a:t>Catatan jujur: pada lengan TA-KD 128K terdapat satu seed yang hasilnya identik (garis abu-abu), sehingga komposisinya 1 naik, 3 turun, 1 seri. Self-KD (R9) di K5 berselisih +1,40 pp — sama besar dengan R8 — tetapi hanya 4/5 dan p = 0,378.</a:t>
            </a:r>
          </a:p>
        </p:txBody>
      </p:sp>
      <p:sp>
        <p:nvSpPr>
          <p:cNvPr id="6"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txBox="1"/>
          <p:nvPr/>
        </p:nvSpPr>
        <p:spPr>
          <a:xfrm>
            <a:off x="402336" y="347472"/>
            <a:ext cx="9875520" cy="667512"/>
          </a:xfrm>
          <a:prstGeom prst="rect">
            <a:avLst/>
          </a:prstGeom>
          <a:noFill/>
        </p:spPr>
        <p:txBody>
          <a:bodyPr wrap="square">
            <a:spAutoFit/>
          </a:bodyPr>
          <a:lstStyle/>
          <a:p>
            <a:r>
              <a:rPr sz="2925" b="0" i="0">
                <a:solidFill>
                  <a:srgbClr val="000000"/>
                </a:solidFill>
                <a:latin typeface="Helvetica Neue"/>
              </a:rPr>
              <a:t>Cadangan — penyimpangan dari Mirzadeh dkk.</a:t>
            </a:r>
          </a:p>
        </p:txBody>
      </p:sp>
      <p:sp>
        <p:nvSpPr>
          <p:cNvPr id="3" name="intro"/>
          <p:cNvSpPr txBox="1"/>
          <p:nvPr/>
        </p:nvSpPr>
        <p:spPr>
          <a:xfrm>
            <a:off x="402336" y="1069848"/>
            <a:ext cx="11384280" cy="402336"/>
          </a:xfrm>
          <a:prstGeom prst="rect">
            <a:avLst/>
          </a:prstGeom>
          <a:noFill/>
        </p:spPr>
        <p:txBody>
          <a:bodyPr wrap="square">
            <a:spAutoFit/>
          </a:bodyPr>
          <a:lstStyle/>
          <a:p>
            <a:r>
              <a:rPr sz="1200" b="0" i="0">
                <a:solidFill>
                  <a:srgbClr val="555555"/>
                </a:solidFill>
                <a:latin typeface="Helvetica Neue"/>
              </a:rPr>
              <a:t>Bagaimana asisten dilatih, dan mengapa pilihan itu tidak menentukan hasil.</a:t>
            </a:r>
          </a:p>
        </p:txBody>
      </p:sp>
      <p:sp>
        <p:nvSpPr>
          <p:cNvPr id="4" name="Rectangle 3"/>
          <p:cNvSpPr/>
          <p:nvPr/>
        </p:nvSpPr>
        <p:spPr>
          <a:xfrm>
            <a:off x="402336" y="1417320"/>
            <a:ext cx="5532120" cy="155448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627632"/>
            <a:ext cx="4983480" cy="347472"/>
          </a:xfrm>
          <a:prstGeom prst="rect">
            <a:avLst/>
          </a:prstGeom>
          <a:noFill/>
        </p:spPr>
        <p:txBody>
          <a:bodyPr wrap="square">
            <a:spAutoFit/>
          </a:bodyPr>
          <a:lstStyle/>
          <a:p>
            <a:r>
              <a:rPr sz="1550" b="1" i="0">
                <a:solidFill>
                  <a:srgbClr val="000000"/>
                </a:solidFill>
                <a:latin typeface="Helvetica Neue"/>
              </a:rPr>
              <a:t>Mirzadeh dkk. (2020)</a:t>
            </a:r>
          </a:p>
        </p:txBody>
      </p:sp>
      <p:sp>
        <p:nvSpPr>
          <p:cNvPr id="6" name="TextBox 5"/>
          <p:cNvSpPr txBox="1"/>
          <p:nvPr/>
        </p:nvSpPr>
        <p:spPr>
          <a:xfrm>
            <a:off x="667512" y="2011680"/>
            <a:ext cx="4983480" cy="868680"/>
          </a:xfrm>
          <a:prstGeom prst="rect">
            <a:avLst/>
          </a:prstGeom>
          <a:noFill/>
        </p:spPr>
        <p:txBody>
          <a:bodyPr wrap="square">
            <a:spAutoFit/>
          </a:bodyPr>
          <a:lstStyle/>
          <a:p>
            <a:r>
              <a:rPr sz="1200" b="0" i="0">
                <a:solidFill>
                  <a:srgbClr val="555555"/>
                </a:solidFill>
                <a:latin typeface="Helvetica Neue"/>
              </a:rPr>
              <a:t>Asisten lebih dahulu didistilasi dari guru besar, lalu asisten itu mendistilasi student — rantai bertingkat.</a:t>
            </a:r>
          </a:p>
        </p:txBody>
      </p:sp>
      <p:sp>
        <p:nvSpPr>
          <p:cNvPr id="7" name="Rectangle 6"/>
          <p:cNvSpPr/>
          <p:nvPr/>
        </p:nvSpPr>
        <p:spPr>
          <a:xfrm>
            <a:off x="6291072" y="1417320"/>
            <a:ext cx="5495544" cy="1554480"/>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6248" y="1627632"/>
            <a:ext cx="4983480" cy="347472"/>
          </a:xfrm>
          <a:prstGeom prst="rect">
            <a:avLst/>
          </a:prstGeom>
          <a:noFill/>
        </p:spPr>
        <p:txBody>
          <a:bodyPr wrap="square">
            <a:spAutoFit/>
          </a:bodyPr>
          <a:lstStyle/>
          <a:p>
            <a:r>
              <a:rPr sz="1550" b="1" i="0">
                <a:solidFill>
                  <a:srgbClr val="000000"/>
                </a:solidFill>
                <a:latin typeface="Helvetica Neue"/>
              </a:rPr>
              <a:t>Penelitian ini</a:t>
            </a:r>
          </a:p>
        </p:txBody>
      </p:sp>
      <p:sp>
        <p:nvSpPr>
          <p:cNvPr id="9" name="TextBox 8"/>
          <p:cNvSpPr txBox="1"/>
          <p:nvPr/>
        </p:nvSpPr>
        <p:spPr>
          <a:xfrm>
            <a:off x="6556248" y="2011680"/>
            <a:ext cx="4983480" cy="868680"/>
          </a:xfrm>
          <a:prstGeom prst="rect">
            <a:avLst/>
          </a:prstGeom>
          <a:noFill/>
        </p:spPr>
        <p:txBody>
          <a:bodyPr wrap="square">
            <a:spAutoFit/>
          </a:bodyPr>
          <a:lstStyle/>
          <a:p>
            <a:r>
              <a:rPr sz="1200" b="0" i="0">
                <a:solidFill>
                  <a:srgbClr val="555555"/>
                </a:solidFill>
                <a:latin typeface="Helvetica Neue"/>
              </a:rPr>
              <a:t>Asisten (Focus-RCNet) dilatih dengan cross-entropy, lalu menjadi guru bagi student. Yang diadopsi adalah gagasan intinya: guru berkapasitas menengah sebagai jembatan.</a:t>
            </a:r>
          </a:p>
        </p:txBody>
      </p:sp>
      <p:graphicFrame>
        <p:nvGraphicFramePr>
          <p:cNvPr id="10" name="Table 9"/>
          <p:cNvGraphicFramePr>
            <a:graphicFrameLocks noGrp="1"/>
          </p:cNvGraphicFramePr>
          <p:nvPr/>
        </p:nvGraphicFramePr>
        <p:xfrm>
          <a:off x="402336" y="3200400"/>
          <a:ext cx="11384280" cy="2011680"/>
        </p:xfrm>
        <a:graphic>
          <a:graphicData uri="http://schemas.openxmlformats.org/drawingml/2006/table">
            <a:tbl>
              <a:tblPr>
                <a:tableStyleId>{5C22544A-7EE6-4342-B048-85BDC9FD1C3A}</a:tableStyleId>
              </a:tblPr>
              <a:tblGrid>
                <a:gridCol w="36118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02336">
                <a:tc>
                  <a:txBody>
                    <a:bodyPr/>
                    <a:lstStyle/>
                    <a:p>
                      <a:r>
                        <a:rPr sz="1150" b="1" i="0">
                          <a:solidFill>
                            <a:srgbClr val="FFFFFF"/>
                          </a:solidFill>
                          <a:latin typeface="Helvetica Neue"/>
                        </a:rPr>
                        <a:t>Yang dibandingkan</a:t>
                      </a:r>
                    </a:p>
                  </a:txBody>
                  <a:tcPr marR="73152" marT="27432" marB="27432" anchor="ctr">
                    <a:solidFill>
                      <a:srgbClr val="000000"/>
                    </a:solidFill>
                  </a:tcPr>
                </a:tc>
                <a:tc>
                  <a:txBody>
                    <a:bodyPr/>
                    <a:lstStyle/>
                    <a:p>
                      <a:r>
                        <a:rPr sz="1150" b="1" i="0">
                          <a:solidFill>
                            <a:srgbClr val="FFFFFF"/>
                          </a:solidFill>
                          <a:latin typeface="Helvetica Neue"/>
                        </a:rPr>
                        <a:t>Asisten dilatih CE</a:t>
                      </a:r>
                    </a:p>
                  </a:txBody>
                  <a:tcPr marR="73152" marT="27432" marB="27432" anchor="ctr">
                    <a:solidFill>
                      <a:srgbClr val="000000"/>
                    </a:solidFill>
                  </a:tcPr>
                </a:tc>
                <a:tc>
                  <a:txBody>
                    <a:bodyPr/>
                    <a:lstStyle/>
                    <a:p>
                      <a:r>
                        <a:rPr sz="1150" b="1" i="0">
                          <a:solidFill>
                            <a:srgbClr val="FFFFFF"/>
                          </a:solidFill>
                          <a:latin typeface="Helvetica Neue"/>
                        </a:rPr>
                        <a:t>Asisten terdistilasi</a:t>
                      </a:r>
                    </a:p>
                  </a:txBody>
                  <a:tcPr marR="73152" marT="27432" marB="27432" anchor="ctr">
                    <a:solidFill>
                      <a:srgbClr val="000000"/>
                    </a:solidFill>
                  </a:tcPr>
                </a:tc>
                <a:tc>
                  <a:txBody>
                    <a:bodyPr/>
                    <a:lstStyle/>
                    <a:p>
                      <a:pPr algn="r"/>
                      <a:r>
                        <a:rPr sz="1150" b="1" i="0">
                          <a:solidFill>
                            <a:srgbClr val="FFFFFF"/>
                          </a:solidFill>
                          <a:latin typeface="Helvetica Neue"/>
                        </a:rPr>
                        <a:t>Selisih (paired-t)</a:t>
                      </a:r>
                    </a:p>
                  </a:txBody>
                  <a:tcPr marR="73152" marT="27432" marB="27432" anchor="ctr">
                    <a:solidFill>
                      <a:srgbClr val="000000"/>
                    </a:solidFill>
                  </a:tcPr>
                </a:tc>
                <a:extLst>
                  <a:ext uri="{0D108BD9-81ED-4DB2-BD59-A6C34878D82A}">
                    <a16:rowId xmlns:a16="http://schemas.microsoft.com/office/drawing/2014/main" val="10000"/>
                  </a:ext>
                </a:extLst>
              </a:tr>
              <a:tr h="402336">
                <a:tc>
                  <a:txBody>
                    <a:bodyPr/>
                    <a:lstStyle/>
                    <a:p>
                      <a:r>
                        <a:rPr sz="1250" b="0" i="0">
                          <a:solidFill>
                            <a:srgbClr val="000000"/>
                          </a:solidFill>
                          <a:latin typeface="Helvetica Neue"/>
                        </a:rPr>
                        <a:t>Akurasi asisten — K6</a:t>
                      </a:r>
                    </a:p>
                  </a:txBody>
                  <a:tcPr marR="73152" marT="27432" marB="27432" anchor="ctr">
                    <a:solidFill>
                      <a:srgbClr val="FFFFFF"/>
                    </a:solidFill>
                  </a:tcPr>
                </a:tc>
                <a:tc>
                  <a:txBody>
                    <a:bodyPr/>
                    <a:lstStyle/>
                    <a:p>
                      <a:r>
                        <a:rPr sz="1250" b="0" i="0">
                          <a:solidFill>
                            <a:srgbClr val="000000"/>
                          </a:solidFill>
                          <a:latin typeface="Helvetica Neue"/>
                        </a:rPr>
                        <a:t>0,8507 ± 0,0164</a:t>
                      </a:r>
                    </a:p>
                  </a:txBody>
                  <a:tcPr marR="73152" marT="27432" marB="27432" anchor="ctr">
                    <a:solidFill>
                      <a:srgbClr val="FFFFFF"/>
                    </a:solidFill>
                  </a:tcPr>
                </a:tc>
                <a:tc>
                  <a:txBody>
                    <a:bodyPr/>
                    <a:lstStyle/>
                    <a:p>
                      <a:r>
                        <a:rPr sz="1250" b="0" i="0">
                          <a:solidFill>
                            <a:srgbClr val="000000"/>
                          </a:solidFill>
                          <a:latin typeface="Helvetica Neue"/>
                        </a:rPr>
                        <a:t>0,8554 ± 0,0231</a:t>
                      </a:r>
                    </a:p>
                  </a:txBody>
                  <a:tcPr marR="73152" marT="27432" marB="27432" anchor="ctr">
                    <a:solidFill>
                      <a:srgbClr val="FFFFFF"/>
                    </a:solidFill>
                  </a:tcPr>
                </a:tc>
                <a:tc>
                  <a:txBody>
                    <a:bodyPr/>
                    <a:lstStyle/>
                    <a:p>
                      <a:pPr algn="r"/>
                      <a:r>
                        <a:rPr sz="1250" b="0" i="0">
                          <a:solidFill>
                            <a:srgbClr val="000000"/>
                          </a:solidFill>
                          <a:latin typeface="Helvetica Neue"/>
                        </a:rPr>
                        <a:t>+0,47 pp  (p = 0,62)</a:t>
                      </a:r>
                    </a:p>
                  </a:txBody>
                  <a:tcPr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50" b="0" i="0">
                          <a:solidFill>
                            <a:srgbClr val="000000"/>
                          </a:solidFill>
                          <a:latin typeface="Helvetica Neue"/>
                        </a:rPr>
                        <a:t>Akurasi asisten — K5</a:t>
                      </a:r>
                    </a:p>
                  </a:txBody>
                  <a:tcPr marR="73152" marT="27432" marB="27432" anchor="ctr">
                    <a:solidFill>
                      <a:srgbClr val="FFFFFF"/>
                    </a:solidFill>
                  </a:tcPr>
                </a:tc>
                <a:tc>
                  <a:txBody>
                    <a:bodyPr/>
                    <a:lstStyle/>
                    <a:p>
                      <a:r>
                        <a:rPr sz="1250" b="0" i="0">
                          <a:solidFill>
                            <a:srgbClr val="000000"/>
                          </a:solidFill>
                          <a:latin typeface="Helvetica Neue"/>
                        </a:rPr>
                        <a:t>0,8737 ± 0,0152</a:t>
                      </a:r>
                    </a:p>
                  </a:txBody>
                  <a:tcPr marR="73152" marT="27432" marB="27432" anchor="ctr">
                    <a:solidFill>
                      <a:srgbClr val="FFFFFF"/>
                    </a:solidFill>
                  </a:tcPr>
                </a:tc>
                <a:tc>
                  <a:txBody>
                    <a:bodyPr/>
                    <a:lstStyle/>
                    <a:p>
                      <a:r>
                        <a:rPr sz="1250" b="0" i="0">
                          <a:solidFill>
                            <a:srgbClr val="000000"/>
                          </a:solidFill>
                          <a:latin typeface="Helvetica Neue"/>
                        </a:rPr>
                        <a:t>0,8732 ± 0,0135</a:t>
                      </a:r>
                    </a:p>
                  </a:txBody>
                  <a:tcPr marR="73152" marT="27432" marB="27432" anchor="ctr">
                    <a:solidFill>
                      <a:srgbClr val="FFFFFF"/>
                    </a:solidFill>
                  </a:tcPr>
                </a:tc>
                <a:tc>
                  <a:txBody>
                    <a:bodyPr/>
                    <a:lstStyle/>
                    <a:p>
                      <a:pPr algn="r"/>
                      <a:r>
                        <a:rPr sz="1250" b="0" i="0">
                          <a:solidFill>
                            <a:srgbClr val="000000"/>
                          </a:solidFill>
                          <a:latin typeface="Helvetica Neue"/>
                        </a:rPr>
                        <a:t>−0,06 pp  (p = 0,97)</a:t>
                      </a:r>
                    </a:p>
                  </a:txBody>
                  <a:tcPr marR="73152" marT="27432" marB="27432" anchor="ctr">
                    <a:solidFill>
                      <a:srgbClr val="FFFFFF"/>
                    </a:solidFill>
                  </a:tcPr>
                </a:tc>
                <a:extLst>
                  <a:ext uri="{0D108BD9-81ED-4DB2-BD59-A6C34878D82A}">
                    <a16:rowId xmlns:a16="http://schemas.microsoft.com/office/drawing/2014/main" val="10002"/>
                  </a:ext>
                </a:extLst>
              </a:tr>
              <a:tr h="402336">
                <a:tc>
                  <a:txBody>
                    <a:bodyPr/>
                    <a:lstStyle/>
                    <a:p>
                      <a:r>
                        <a:rPr sz="1250" b="1" i="0">
                          <a:solidFill>
                            <a:srgbClr val="000000"/>
                          </a:solidFill>
                          <a:latin typeface="Helvetica Neue"/>
                        </a:rPr>
                        <a:t>Student 256K / R8 — K6</a:t>
                      </a:r>
                    </a:p>
                  </a:txBody>
                  <a:tcPr marR="73152" marT="27432" marB="27432" anchor="ctr">
                    <a:solidFill>
                      <a:srgbClr val="FFE9E0"/>
                    </a:solidFill>
                  </a:tcPr>
                </a:tc>
                <a:tc>
                  <a:txBody>
                    <a:bodyPr/>
                    <a:lstStyle/>
                    <a:p>
                      <a:r>
                        <a:rPr sz="1250" b="0" i="0">
                          <a:solidFill>
                            <a:srgbClr val="000000"/>
                          </a:solidFill>
                          <a:latin typeface="Helvetica Neue"/>
                        </a:rPr>
                        <a:t>0,7873 ± 0,0089</a:t>
                      </a:r>
                    </a:p>
                  </a:txBody>
                  <a:tcPr marR="73152" marT="27432" marB="27432" anchor="ctr">
                    <a:solidFill>
                      <a:srgbClr val="FFE9E0"/>
                    </a:solidFill>
                  </a:tcPr>
                </a:tc>
                <a:tc>
                  <a:txBody>
                    <a:bodyPr/>
                    <a:lstStyle/>
                    <a:p>
                      <a:r>
                        <a:rPr sz="1250" b="0" i="0">
                          <a:solidFill>
                            <a:srgbClr val="000000"/>
                          </a:solidFill>
                          <a:latin typeface="Helvetica Neue"/>
                        </a:rPr>
                        <a:t>0,7884</a:t>
                      </a:r>
                    </a:p>
                  </a:txBody>
                  <a:tcPr marR="73152" marT="27432" marB="27432" anchor="ctr">
                    <a:solidFill>
                      <a:srgbClr val="FFE9E0"/>
                    </a:solidFill>
                  </a:tcPr>
                </a:tc>
                <a:tc>
                  <a:txBody>
                    <a:bodyPr/>
                    <a:lstStyle/>
                    <a:p>
                      <a:pPr algn="r"/>
                      <a:r>
                        <a:rPr sz="1250" b="0" i="0">
                          <a:solidFill>
                            <a:srgbClr val="000000"/>
                          </a:solidFill>
                          <a:latin typeface="Helvetica Neue"/>
                        </a:rPr>
                        <a:t>+0,11 pp  (p = 0,83)</a:t>
                      </a:r>
                    </a:p>
                  </a:txBody>
                  <a:tcPr marR="73152" marT="27432" marB="27432" anchor="ctr">
                    <a:solidFill>
                      <a:srgbClr val="FFE9E0"/>
                    </a:solidFill>
                  </a:tcPr>
                </a:tc>
                <a:extLst>
                  <a:ext uri="{0D108BD9-81ED-4DB2-BD59-A6C34878D82A}">
                    <a16:rowId xmlns:a16="http://schemas.microsoft.com/office/drawing/2014/main" val="10003"/>
                  </a:ext>
                </a:extLst>
              </a:tr>
              <a:tr h="402336">
                <a:tc>
                  <a:txBody>
                    <a:bodyPr/>
                    <a:lstStyle/>
                    <a:p>
                      <a:r>
                        <a:rPr sz="1250" b="0" i="0">
                          <a:solidFill>
                            <a:srgbClr val="000000"/>
                          </a:solidFill>
                          <a:latin typeface="Helvetica Neue"/>
                        </a:rPr>
                        <a:t>Student 128K / R5 — K6</a:t>
                      </a:r>
                    </a:p>
                  </a:txBody>
                  <a:tcPr marR="73152" marT="27432" marB="27432" anchor="ctr">
                    <a:solidFill>
                      <a:srgbClr val="FFFFFF"/>
                    </a:solidFill>
                  </a:tcPr>
                </a:tc>
                <a:tc>
                  <a:txBody>
                    <a:bodyPr/>
                    <a:lstStyle/>
                    <a:p>
                      <a:r>
                        <a:rPr sz="1250" b="0" i="0">
                          <a:solidFill>
                            <a:srgbClr val="000000"/>
                          </a:solidFill>
                          <a:latin typeface="Helvetica Neue"/>
                        </a:rPr>
                        <a:t>0,7578 ± 0,0322</a:t>
                      </a:r>
                    </a:p>
                  </a:txBody>
                  <a:tcPr marR="73152" marT="27432" marB="27432" anchor="ctr">
                    <a:solidFill>
                      <a:srgbClr val="FFFFFF"/>
                    </a:solidFill>
                  </a:tcPr>
                </a:tc>
                <a:tc>
                  <a:txBody>
                    <a:bodyPr/>
                    <a:lstStyle/>
                    <a:p>
                      <a:r>
                        <a:rPr sz="1250" b="0" i="0">
                          <a:solidFill>
                            <a:srgbClr val="000000"/>
                          </a:solidFill>
                          <a:latin typeface="Helvetica Neue"/>
                        </a:rPr>
                        <a:t>0,7763</a:t>
                      </a:r>
                    </a:p>
                  </a:txBody>
                  <a:tcPr marR="73152" marT="27432" marB="27432" anchor="ctr">
                    <a:solidFill>
                      <a:srgbClr val="FFFFFF"/>
                    </a:solidFill>
                  </a:tcPr>
                </a:tc>
                <a:tc>
                  <a:txBody>
                    <a:bodyPr/>
                    <a:lstStyle/>
                    <a:p>
                      <a:pPr algn="r"/>
                      <a:r>
                        <a:rPr sz="1250" b="0" i="0">
                          <a:solidFill>
                            <a:srgbClr val="000000"/>
                          </a:solidFill>
                          <a:latin typeface="Helvetica Neue"/>
                        </a:rPr>
                        <a:t>+1,85 pp  (p = 0,07)</a:t>
                      </a:r>
                    </a:p>
                  </a:txBody>
                  <a:tcPr marR="73152"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402336" y="5349240"/>
            <a:ext cx="11384280" cy="1097280"/>
          </a:xfrm>
          <a:prstGeom prst="rect">
            <a:avLst/>
          </a:prstGeom>
          <a:noFill/>
        </p:spPr>
        <p:txBody>
          <a:bodyPr wrap="square">
            <a:spAutoFit/>
          </a:bodyPr>
          <a:lstStyle/>
          <a:p>
            <a:r>
              <a:rPr sz="1450" b="1" i="0">
                <a:solidFill>
                  <a:srgbClr val="000000"/>
                </a:solidFill>
                <a:latin typeface="Helvetica Neue"/>
              </a:rPr>
              <a:t>Pilihan ini tidak menciptakan kemenangan R8: pada lengan 256K selisihnya hanya 0,11 poin persen, p = 0,83.</a:t>
            </a:r>
          </a:p>
          <a:p>
            <a:r>
              <a:rPr sz="1200" b="0" i="0">
                <a:solidFill>
                  <a:srgbClr val="555555"/>
                </a:solidFill>
                <a:latin typeface="Helvetica Neue"/>
              </a:rPr>
              <a:t>Varian dua tahap (R2.2) juga tidak signifikan, p = 0,77 di kedua skema label. Pada student 128K rantai penuh memang sedikit lebih tinggi, tetapi belum signifikan (4/5 seed, p = 0,07) dan lengan itu justru lengan yang keterbatasan hyperparameter-nya sudah saya akui.</a:t>
            </a:r>
          </a:p>
        </p:txBody>
      </p:sp>
      <p:sp>
        <p:nvSpPr>
          <p:cNvPr id="12" name="tag"/>
          <p:cNvSpPr>
            <a:spLocks noGrp="1"/>
          </p:cNvSpPr>
          <p:nvPr/>
        </p:nvSpPr>
        <p:spPr>
          <a:xfrm>
            <a:off x="10450000" y="360000"/>
            <a:ext cx="1340000" cy="360000"/>
          </a:xfrm>
          <a:prstGeom prst="roundRect">
            <a:avLst>
              <a:gd name="adj" fmla="val 25000"/>
            </a:avLst>
          </a:prstGeom>
          <a:solidFill>
            <a:srgbClr val="FF6B35"/>
          </a:solidFill>
          <a:ln w="0">
            <a:noFill/>
          </a:ln>
        </p:spPr>
        <p:txBody>
          <a:bodyPr wrap="square" anchor="ctr">
            <a:normAutofit/>
          </a:bodyPr>
          <a:lstStyle/>
          <a:p>
            <a:pPr algn="ctr"/>
            <a:r>
              <a:rPr sz="1050" b="1">
                <a:solidFill>
                  <a:srgbClr val="FFFFFF"/>
                </a:solidFill>
                <a:latin typeface="Helvetica Neue"/>
                <a:ea typeface="Helvetica Neue"/>
                <a:cs typeface="Helvetica Neue"/>
              </a:rPr>
              <a:t>CADANGAN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5333</Words>
  <Application>Microsoft Office PowerPoint</Application>
  <DocSecurity>0</DocSecurity>
  <PresentationFormat>Layar Lebar</PresentationFormat>
  <Paragraphs>592</Paragraphs>
  <Slides>24</Slides>
  <Notes>24</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24</vt:i4>
      </vt:variant>
    </vt:vector>
  </HeadingPairs>
  <TitlesOfParts>
    <vt:vector size="28" baseType="lpstr">
      <vt:lpstr>Arial</vt:lpstr>
      <vt:lpstr>Calibri</vt:lpstr>
      <vt:lpstr>Helvetica Neue</vt:lpstr>
      <vt:lpstr>ChatGPT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Hamza Pratama</cp:lastModifiedBy>
  <cp:revision>1</cp:revision>
  <dcterms:created xsi:type="dcterms:W3CDTF">2026-07-01T06:15:18Z</dcterms:created>
  <dcterms:modified xsi:type="dcterms:W3CDTF">2026-08-12T01:55:35Z</dcterms:modified>
</cp:coreProperties>
</file>